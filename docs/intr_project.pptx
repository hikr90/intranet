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72" r:id="rId24"/>
  </p:sldIdLst>
  <p:sldSz cx="12192000" cy="6858000"/>
  <p:notesSz cx="6858000" cy="9144000"/>
  <p:embeddedFontLst>
    <p:embeddedFont>
      <p:font typeface="G마켓 산스 Bold" panose="02000000000000000000" pitchFamily="50" charset="-127"/>
      <p:bold r:id="rId26"/>
    </p:embeddedFont>
    <p:embeddedFont>
      <p:font typeface="G마켓 산스 Light" panose="02000000000000000000" pitchFamily="50" charset="-127"/>
      <p:regular r:id="rId27"/>
    </p:embeddedFont>
    <p:embeddedFont>
      <p:font typeface="G마켓 산스 Medium" panose="02000000000000000000" pitchFamily="50" charset="-127"/>
      <p:regular r:id="rId28"/>
    </p:embeddedFont>
    <p:embeddedFont>
      <p:font typeface="Noto Sans KR" panose="020B0200000000000000" pitchFamily="50" charset="-127"/>
      <p:regular r:id="rId29"/>
      <p:bold r:id="rId30"/>
    </p:embeddedFont>
    <p:embeddedFont>
      <p:font typeface="Noto Sans KR Light" panose="020B0200000000000000" pitchFamily="50" charset="-127"/>
      <p:regular r:id="rId31"/>
    </p:embeddedFont>
    <p:embeddedFont>
      <p:font typeface="Noto Sans KR Medium" panose="020B0200000000000000" pitchFamily="50" charset="-127"/>
      <p:regular r:id="rId32"/>
    </p:embeddedFont>
  </p:embeddedFontLst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>
        <p:guide orient="horz" pos="213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282583" name="Group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/>
                <a:ea typeface="Noto Sans KR"/>
                <a:cs typeface="Arial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593129872" name="Group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/>
                <a:ea typeface="Noto Sans KR"/>
                <a:cs typeface="Arial"/>
              </a:defRPr>
            </a:lvl1pPr>
          </a:lstStyle>
          <a:p>
            <a:pPr>
              <a:defRPr/>
            </a:pPr>
            <a:fld id="{D2A48B96-639E-45A3-A0BA-2464DFDB1FAA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465723569" name="Group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/>
                <a:ea typeface="Noto Sans KR"/>
                <a:cs typeface="Arial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876886492" name="Group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/>
                <a:ea typeface="Noto Sans KR"/>
                <a:cs typeface="Arial"/>
              </a:defRPr>
            </a:lvl1pPr>
          </a:lstStyle>
          <a:p>
            <a:pPr>
              <a:defRPr/>
            </a:pPr>
            <a:fld id="{A6837353-30EB-4A48-80EB-173D804AEFBD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>
      <a:defRPr sz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>
      <a:defRPr sz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>
      <a:defRPr sz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>
      <a:defRPr sz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50312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99706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805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34FA3C-863D-C653-B974-3B152134D40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59027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41335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964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78D6A-FD38-FC88-5AC4-2C3B5FF1EDE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788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21801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300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6A405D-482D-8153-5C35-79259CA1EC3D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72691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32691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808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C978B3-00F9-8B4B-F68D-05E7AC0D4C1D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8702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42010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282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A9E73C-00BA-F8A8-0995-C78F68FEF3C5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0791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961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517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6188A9-F94D-8F9D-B350-FE595B41CC98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9908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47207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498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2E309E-908D-9254-1DA2-58252B756C4E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17443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9462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3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0884-8EFD-6E5E-565C-32CA6772E02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87513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07288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7935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748D99-228E-F364-8130-3BB4F2784A0F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8336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382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703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8C8A68-8C7F-9A82-40E1-A03753149138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46508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86887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633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FF0315-00DB-D382-226A-EDDA4B1AB89B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201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31268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556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B99A25-CFFF-FEFC-C11A-24F5AD559CAA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93409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41281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678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9AA71-3C82-318D-3709-B76AA87D59A6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7499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6019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701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5B64D-9081-D980-F045-0F3A4456D7AE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66625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93655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79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A5CAF6-2E1F-F7A3-7986-8020ECF70608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4541-B809-3C7D-26D2-F4B857CA220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74992" name="Slide Image Placeholder 1">
            <a:extLst>
              <a:ext uri="{FF2B5EF4-FFF2-40B4-BE49-F238E27FC236}">
                <a16:creationId xmlns:a16="http://schemas.microsoft.com/office/drawing/2014/main" id="{47649E54-0964-2741-FACD-8F0C92064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6019730" name="Notes Placeholder 2">
            <a:extLst>
              <a:ext uri="{FF2B5EF4-FFF2-40B4-BE49-F238E27FC236}">
                <a16:creationId xmlns:a16="http://schemas.microsoft.com/office/drawing/2014/main" id="{EC61B4A1-A64E-24E5-F0A7-E7AC6AE2B7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701112" name="Slide Number Placeholder 3">
            <a:extLst>
              <a:ext uri="{FF2B5EF4-FFF2-40B4-BE49-F238E27FC236}">
                <a16:creationId xmlns:a16="http://schemas.microsoft.com/office/drawing/2014/main" id="{0E913D1A-B58C-C57E-5CFA-B1F1EC0FB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5B64D-9081-D980-F045-0F3A4456D7AE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976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643F-1993-B616-D520-3F191F330F5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74992" name="Slide Image Placeholder 1">
            <a:extLst>
              <a:ext uri="{FF2B5EF4-FFF2-40B4-BE49-F238E27FC236}">
                <a16:creationId xmlns:a16="http://schemas.microsoft.com/office/drawing/2014/main" id="{04D09379-CA7F-A9A3-3F27-94FDCBB5B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6019730" name="Notes Placeholder 2">
            <a:extLst>
              <a:ext uri="{FF2B5EF4-FFF2-40B4-BE49-F238E27FC236}">
                <a16:creationId xmlns:a16="http://schemas.microsoft.com/office/drawing/2014/main" id="{69A2EE06-0079-0474-F7FF-45AFB361EA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701112" name="Slide Number Placeholder 3">
            <a:extLst>
              <a:ext uri="{FF2B5EF4-FFF2-40B4-BE49-F238E27FC236}">
                <a16:creationId xmlns:a16="http://schemas.microsoft.com/office/drawing/2014/main" id="{DC3B7719-FFD4-D99E-F0CC-617FFFB45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5B64D-9081-D980-F045-0F3A4456D7AE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5744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C16AD-AD5C-E13B-FD35-2ECA281F278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74992" name="Slide Image Placeholder 1">
            <a:extLst>
              <a:ext uri="{FF2B5EF4-FFF2-40B4-BE49-F238E27FC236}">
                <a16:creationId xmlns:a16="http://schemas.microsoft.com/office/drawing/2014/main" id="{1D1E847E-2681-1339-FCEB-2CE3C6E28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6019730" name="Notes Placeholder 2">
            <a:extLst>
              <a:ext uri="{FF2B5EF4-FFF2-40B4-BE49-F238E27FC236}">
                <a16:creationId xmlns:a16="http://schemas.microsoft.com/office/drawing/2014/main" id="{196ED9C7-F464-C8E4-EB2A-D84F50F4BD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701112" name="Slide Number Placeholder 3">
            <a:extLst>
              <a:ext uri="{FF2B5EF4-FFF2-40B4-BE49-F238E27FC236}">
                <a16:creationId xmlns:a16="http://schemas.microsoft.com/office/drawing/2014/main" id="{D6BFDD36-29C8-587E-C427-C31C8733E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5B64D-9081-D980-F045-0F3A4456D7AE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52039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2712A-7147-7A0B-A68F-94AFD4C1666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74992" name="Slide Image Placeholder 1">
            <a:extLst>
              <a:ext uri="{FF2B5EF4-FFF2-40B4-BE49-F238E27FC236}">
                <a16:creationId xmlns:a16="http://schemas.microsoft.com/office/drawing/2014/main" id="{A1E7C433-88BF-F46E-FEC6-A0223FC8D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6019730" name="Notes Placeholder 2">
            <a:extLst>
              <a:ext uri="{FF2B5EF4-FFF2-40B4-BE49-F238E27FC236}">
                <a16:creationId xmlns:a16="http://schemas.microsoft.com/office/drawing/2014/main" id="{6A5AD48C-6392-AF5A-C178-F9E05E101F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701112" name="Slide Number Placeholder 3">
            <a:extLst>
              <a:ext uri="{FF2B5EF4-FFF2-40B4-BE49-F238E27FC236}">
                <a16:creationId xmlns:a16="http://schemas.microsoft.com/office/drawing/2014/main" id="{2D09DA6E-66DC-BE26-1C12-6D147DEAE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5B64D-9081-D980-F045-0F3A4456D7AE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8181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679A-7D39-A8CE-BDE4-39BDB3156E7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74992" name="Slide Image Placeholder 1">
            <a:extLst>
              <a:ext uri="{FF2B5EF4-FFF2-40B4-BE49-F238E27FC236}">
                <a16:creationId xmlns:a16="http://schemas.microsoft.com/office/drawing/2014/main" id="{6210EA85-6A0E-5101-63B0-481BBD309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6019730" name="Notes Placeholder 2">
            <a:extLst>
              <a:ext uri="{FF2B5EF4-FFF2-40B4-BE49-F238E27FC236}">
                <a16:creationId xmlns:a16="http://schemas.microsoft.com/office/drawing/2014/main" id="{6C66FC37-CB07-9C84-5C98-997098671F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701112" name="Slide Number Placeholder 3">
            <a:extLst>
              <a:ext uri="{FF2B5EF4-FFF2-40B4-BE49-F238E27FC236}">
                <a16:creationId xmlns:a16="http://schemas.microsoft.com/office/drawing/2014/main" id="{2EA5E57C-8558-BBCD-48BF-153D03D17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5B64D-9081-D980-F045-0F3A4456D7AE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9171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A9834-6A1A-1ABF-6BAB-A6E71752B67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74992" name="Slide Image Placeholder 1">
            <a:extLst>
              <a:ext uri="{FF2B5EF4-FFF2-40B4-BE49-F238E27FC236}">
                <a16:creationId xmlns:a16="http://schemas.microsoft.com/office/drawing/2014/main" id="{B90BFAC1-F1D5-181D-88DE-2EF7A9F40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6019730" name="Notes Placeholder 2">
            <a:extLst>
              <a:ext uri="{FF2B5EF4-FFF2-40B4-BE49-F238E27FC236}">
                <a16:creationId xmlns:a16="http://schemas.microsoft.com/office/drawing/2014/main" id="{0EB03E00-4BB3-F576-DDC9-A730EAF2F2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701112" name="Slide Number Placeholder 3">
            <a:extLst>
              <a:ext uri="{FF2B5EF4-FFF2-40B4-BE49-F238E27FC236}">
                <a16:creationId xmlns:a16="http://schemas.microsoft.com/office/drawing/2014/main" id="{691BABA0-1E6A-4254-9541-56745588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5B64D-9081-D980-F045-0F3A4456D7AE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77425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7EF9F-4365-F5C0-8303-572584A72C5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74992" name="Slide Image Placeholder 1">
            <a:extLst>
              <a:ext uri="{FF2B5EF4-FFF2-40B4-BE49-F238E27FC236}">
                <a16:creationId xmlns:a16="http://schemas.microsoft.com/office/drawing/2014/main" id="{B63B112F-1321-A3A0-20B9-CF5680510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6019730" name="Notes Placeholder 2">
            <a:extLst>
              <a:ext uri="{FF2B5EF4-FFF2-40B4-BE49-F238E27FC236}">
                <a16:creationId xmlns:a16="http://schemas.microsoft.com/office/drawing/2014/main" id="{3F45DCC6-DE69-0DA7-E31D-3563F08DBB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701112" name="Slide Number Placeholder 3">
            <a:extLst>
              <a:ext uri="{FF2B5EF4-FFF2-40B4-BE49-F238E27FC236}">
                <a16:creationId xmlns:a16="http://schemas.microsoft.com/office/drawing/2014/main" id="{634841D0-083B-9419-A79D-13A1B7EDAA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5B64D-9081-D980-F045-0F3A4456D7AE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21819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20842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32264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162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0850B8-ABC7-6E5D-3A69-FBD19568E5BF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77222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51282909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ko-KR"/>
              <a:t>클릭하여 마스터 부제목 스타일 편집</a:t>
            </a:r>
            <a:endParaRPr lang="en-US"/>
          </a:p>
        </p:txBody>
      </p:sp>
      <p:sp>
        <p:nvSpPr>
          <p:cNvPr id="84556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4413385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292460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제목 및 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4118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7030896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7134108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4878957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0024328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구역 머리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89313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0255115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14226807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5570537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36049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콘텐츠 2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2475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54970111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9086555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3897145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4556080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544701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비교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1256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2423316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15579158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74751405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11110150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2731489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43348707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4159947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제목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6856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025419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31158571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701311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빈 화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5735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109707835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495689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캡션 있는 콘텐츠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26346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451479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77131102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8778210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3969720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8467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캡션 있는 그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7201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842236720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ko-KR"/>
              <a:t>그림을 추가하려면 아이콘을 클릭하십시오</a:t>
            </a:r>
            <a:endParaRPr lang="en-US"/>
          </a:p>
        </p:txBody>
      </p:sp>
      <p:sp>
        <p:nvSpPr>
          <p:cNvPr id="706133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2223565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14337426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616633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제목 및 세로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2005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63589772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5721333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2006952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162927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세로 제목 및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409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7145431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3557348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19870282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089374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15543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7674499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9874411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/>
              </a:defRPr>
            </a:lvl1pPr>
          </a:lstStyle>
          <a:p>
            <a:pPr>
              <a:defRPr/>
            </a:pPr>
            <a:fld id="{760FBDFE-C587-4B4C-A407-44438C67B59E}" type="datetimeFigureOut">
              <a:rPr lang="en-US" altLang="zh-CN"/>
              <a:t>9/10/2026</a:t>
            </a:fld>
            <a:endParaRPr lang="zh-CN"/>
          </a:p>
        </p:txBody>
      </p:sp>
      <p:sp>
        <p:nvSpPr>
          <p:cNvPr id="13364953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7090788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/>
              </a:defRPr>
            </a:lvl1pPr>
          </a:lstStyle>
          <a:p>
            <a:pPr>
              <a:defRPr/>
            </a:pPr>
            <a:fld id="{49AE70B2-8BF9-45C0-BB95-33D1B9D3A854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KR"/>
          <a:ea typeface="Noto Sans KR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Noto Sans KR"/>
          <a:ea typeface="Noto Sans KR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Noto Sans KR"/>
          <a:ea typeface="Noto Sans KR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Noto Sans KR"/>
          <a:ea typeface="Noto Sans KR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Noto Sans KR"/>
          <a:ea typeface="Noto Sans KR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Noto Sans KR"/>
          <a:ea typeface="Noto Sans KR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kr90/intranet/tree/master/doc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1248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7938698" name="Object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73445" y="0"/>
            <a:ext cx="7118555" cy="6874587"/>
          </a:xfrm>
          <a:prstGeom prst="rect">
            <a:avLst/>
          </a:prstGeom>
        </p:spPr>
      </p:pic>
      <p:sp>
        <p:nvSpPr>
          <p:cNvPr id="1281308932" name="Group 13"/>
          <p:cNvSpPr txBox="1"/>
          <p:nvPr/>
        </p:nvSpPr>
        <p:spPr bwMode="auto">
          <a:xfrm>
            <a:off x="452196" y="2462909"/>
            <a:ext cx="5208309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7200" spc="-150">
                <a:ln w="47625">
                  <a:noFill/>
                </a:ln>
                <a:solidFill>
                  <a:srgbClr val="00B0F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PROJECT</a:t>
            </a:r>
            <a:endParaRPr sz="7200" spc="-150">
              <a:ln w="47625">
                <a:noFill/>
              </a:ln>
              <a:solidFill>
                <a:srgbClr val="00B0F0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7200" spc="-150">
                <a:ln w="47625"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INTR</a:t>
            </a:r>
            <a:endParaRPr sz="7200" spc="-150">
              <a:ln w="47625"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533377092" name="더하기 기호 10"/>
          <p:cNvSpPr/>
          <p:nvPr/>
        </p:nvSpPr>
        <p:spPr bwMode="auto">
          <a:xfrm>
            <a:off x="3047385" y="3268601"/>
            <a:ext cx="373303" cy="391174"/>
          </a:xfrm>
          <a:prstGeom prst="mathPlus">
            <a:avLst>
              <a:gd name="adj1" fmla="val 2352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solidFill>
                <a:srgbClr val="FFFF00"/>
              </a:solidFill>
              <a:latin typeface="Noto Sans KR"/>
              <a:ea typeface="Noto Sans KR Medium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047941" name="직사각형 85"/>
          <p:cNvSpPr/>
          <p:nvPr/>
        </p:nvSpPr>
        <p:spPr bwMode="auto">
          <a:xfrm>
            <a:off x="4680" y="1295399"/>
            <a:ext cx="8976980" cy="55625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734528527" name="직사각형 112"/>
          <p:cNvSpPr/>
          <p:nvPr/>
        </p:nvSpPr>
        <p:spPr bwMode="auto">
          <a:xfrm>
            <a:off x="-1172" y="3820458"/>
            <a:ext cx="8982833" cy="30375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461269408" name="Object 13"/>
          <p:cNvPicPr>
            <a:picLocks noChangeAspect="1"/>
          </p:cNvPicPr>
          <p:nvPr/>
        </p:nvPicPr>
        <p:blipFill rotWithShape="1">
          <a:blip r:embed="rId3"/>
          <a:srcRect l="13680" t="297" r="8700" b="3718"/>
          <a:stretch/>
        </p:blipFill>
        <p:spPr bwMode="auto">
          <a:xfrm>
            <a:off x="8976980" y="-2"/>
            <a:ext cx="3237822" cy="6857999"/>
          </a:xfrm>
          <a:prstGeom prst="rect">
            <a:avLst/>
          </a:prstGeom>
        </p:spPr>
      </p:pic>
      <p:sp>
        <p:nvSpPr>
          <p:cNvPr id="823562527" name="TextBox 103"/>
          <p:cNvSpPr txBox="1"/>
          <p:nvPr/>
        </p:nvSpPr>
        <p:spPr bwMode="auto">
          <a:xfrm>
            <a:off x="365114" y="112007"/>
            <a:ext cx="3202812" cy="1097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600">
                <a:solidFill>
                  <a:srgbClr val="012481"/>
                </a:solidFill>
                <a:latin typeface="Noto Sans KR Black"/>
                <a:ea typeface="Noto Sans KR Black"/>
                <a:cs typeface="KoPubWorld돋움체 Bold"/>
              </a:defRPr>
            </a:lvl1pPr>
          </a:lstStyle>
          <a:p>
            <a:pPr>
              <a:defRPr/>
            </a:pPr>
            <a:r>
              <a:rPr lang="en-US"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INDEX</a:t>
            </a:r>
            <a:endParaRPr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cxnSp>
        <p:nvCxnSpPr>
          <p:cNvPr id="875125535" name="직선 연결선 105"/>
          <p:cNvCxnSpPr/>
          <p:nvPr/>
        </p:nvCxnSpPr>
        <p:spPr bwMode="auto">
          <a:xfrm>
            <a:off x="-5854" y="1930325"/>
            <a:ext cx="258847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157397" name="직선 연결선 107"/>
          <p:cNvCxnSpPr/>
          <p:nvPr/>
        </p:nvCxnSpPr>
        <p:spPr bwMode="auto">
          <a:xfrm>
            <a:off x="4680" y="4357643"/>
            <a:ext cx="2766470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3972812" name="Group 62"/>
          <p:cNvSpPr/>
          <p:nvPr/>
        </p:nvSpPr>
        <p:spPr bwMode="auto">
          <a:xfrm>
            <a:off x="2863156" y="2038761"/>
            <a:ext cx="291860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프로젝트</a:t>
            </a: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개요</a:t>
            </a:r>
            <a:endParaRPr sz="16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제작</a:t>
            </a: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동기</a:t>
            </a:r>
            <a:endParaRPr sz="16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grpSp>
        <p:nvGrpSpPr>
          <p:cNvPr id="897019003" name="그룹 14"/>
          <p:cNvGrpSpPr/>
          <p:nvPr/>
        </p:nvGrpSpPr>
        <p:grpSpPr bwMode="auto">
          <a:xfrm>
            <a:off x="827432" y="2457829"/>
            <a:ext cx="1119355" cy="996984"/>
            <a:chOff x="827432" y="2341717"/>
            <a:chExt cx="1581329" cy="1408454"/>
          </a:xfrm>
          <a:solidFill>
            <a:schemeClr val="bg2">
              <a:lumMod val="90000"/>
            </a:schemeClr>
          </a:solidFill>
        </p:grpSpPr>
        <p:sp>
          <p:nvSpPr>
            <p:cNvPr id="114" name="Freeform 10"/>
            <p:cNvSpPr/>
            <p:nvPr/>
          </p:nvSpPr>
          <p:spPr bwMode="auto">
            <a:xfrm>
              <a:off x="1212846" y="3054445"/>
              <a:ext cx="647551" cy="562532"/>
            </a:xfrm>
            <a:custGeom>
              <a:avLst/>
              <a:gdLst>
                <a:gd name="T0" fmla="*/ 457 w 457"/>
                <a:gd name="T1" fmla="*/ 106 h 397"/>
                <a:gd name="T2" fmla="*/ 457 w 457"/>
                <a:gd name="T3" fmla="*/ 96 h 397"/>
                <a:gd name="T4" fmla="*/ 455 w 457"/>
                <a:gd name="T5" fmla="*/ 74 h 397"/>
                <a:gd name="T6" fmla="*/ 447 w 457"/>
                <a:gd name="T7" fmla="*/ 56 h 397"/>
                <a:gd name="T8" fmla="*/ 425 w 457"/>
                <a:gd name="T9" fmla="*/ 32 h 397"/>
                <a:gd name="T10" fmla="*/ 385 w 457"/>
                <a:gd name="T11" fmla="*/ 8 h 397"/>
                <a:gd name="T12" fmla="*/ 337 w 457"/>
                <a:gd name="T13" fmla="*/ 0 h 397"/>
                <a:gd name="T14" fmla="*/ 271 w 457"/>
                <a:gd name="T15" fmla="*/ 0 h 397"/>
                <a:gd name="T16" fmla="*/ 269 w 457"/>
                <a:gd name="T17" fmla="*/ 20 h 397"/>
                <a:gd name="T18" fmla="*/ 261 w 457"/>
                <a:gd name="T19" fmla="*/ 38 h 397"/>
                <a:gd name="T20" fmla="*/ 255 w 457"/>
                <a:gd name="T21" fmla="*/ 44 h 397"/>
                <a:gd name="T22" fmla="*/ 267 w 457"/>
                <a:gd name="T23" fmla="*/ 118 h 397"/>
                <a:gd name="T24" fmla="*/ 273 w 457"/>
                <a:gd name="T25" fmla="*/ 178 h 397"/>
                <a:gd name="T26" fmla="*/ 271 w 457"/>
                <a:gd name="T27" fmla="*/ 224 h 397"/>
                <a:gd name="T28" fmla="*/ 265 w 457"/>
                <a:gd name="T29" fmla="*/ 242 h 397"/>
                <a:gd name="T30" fmla="*/ 249 w 457"/>
                <a:gd name="T31" fmla="*/ 274 h 397"/>
                <a:gd name="T32" fmla="*/ 235 w 457"/>
                <a:gd name="T33" fmla="*/ 288 h 397"/>
                <a:gd name="T34" fmla="*/ 227 w 457"/>
                <a:gd name="T35" fmla="*/ 290 h 397"/>
                <a:gd name="T36" fmla="*/ 212 w 457"/>
                <a:gd name="T37" fmla="*/ 282 h 397"/>
                <a:gd name="T38" fmla="*/ 200 w 457"/>
                <a:gd name="T39" fmla="*/ 264 h 397"/>
                <a:gd name="T40" fmla="*/ 186 w 457"/>
                <a:gd name="T41" fmla="*/ 224 h 397"/>
                <a:gd name="T42" fmla="*/ 184 w 457"/>
                <a:gd name="T43" fmla="*/ 204 h 397"/>
                <a:gd name="T44" fmla="*/ 190 w 457"/>
                <a:gd name="T45" fmla="*/ 148 h 397"/>
                <a:gd name="T46" fmla="*/ 204 w 457"/>
                <a:gd name="T47" fmla="*/ 66 h 397"/>
                <a:gd name="T48" fmla="*/ 210 w 457"/>
                <a:gd name="T49" fmla="*/ 44 h 397"/>
                <a:gd name="T50" fmla="*/ 200 w 457"/>
                <a:gd name="T51" fmla="*/ 34 h 397"/>
                <a:gd name="T52" fmla="*/ 192 w 457"/>
                <a:gd name="T53" fmla="*/ 0 h 397"/>
                <a:gd name="T54" fmla="*/ 120 w 457"/>
                <a:gd name="T55" fmla="*/ 0 h 397"/>
                <a:gd name="T56" fmla="*/ 96 w 457"/>
                <a:gd name="T57" fmla="*/ 2 h 397"/>
                <a:gd name="T58" fmla="*/ 52 w 457"/>
                <a:gd name="T59" fmla="*/ 18 h 397"/>
                <a:gd name="T60" fmla="*/ 18 w 457"/>
                <a:gd name="T61" fmla="*/ 48 h 397"/>
                <a:gd name="T62" fmla="*/ 6 w 457"/>
                <a:gd name="T63" fmla="*/ 66 h 397"/>
                <a:gd name="T64" fmla="*/ 0 w 457"/>
                <a:gd name="T65" fmla="*/ 86 h 397"/>
                <a:gd name="T66" fmla="*/ 0 w 457"/>
                <a:gd name="T67" fmla="*/ 108 h 397"/>
                <a:gd name="T68" fmla="*/ 16 w 457"/>
                <a:gd name="T69" fmla="*/ 308 h 397"/>
                <a:gd name="T70" fmla="*/ 60 w 457"/>
                <a:gd name="T71" fmla="*/ 343 h 397"/>
                <a:gd name="T72" fmla="*/ 112 w 457"/>
                <a:gd name="T73" fmla="*/ 371 h 397"/>
                <a:gd name="T74" fmla="*/ 170 w 457"/>
                <a:gd name="T75" fmla="*/ 391 h 397"/>
                <a:gd name="T76" fmla="*/ 229 w 457"/>
                <a:gd name="T77" fmla="*/ 397 h 397"/>
                <a:gd name="T78" fmla="*/ 259 w 457"/>
                <a:gd name="T79" fmla="*/ 395 h 397"/>
                <a:gd name="T80" fmla="*/ 319 w 457"/>
                <a:gd name="T81" fmla="*/ 381 h 397"/>
                <a:gd name="T82" fmla="*/ 375 w 457"/>
                <a:gd name="T83" fmla="*/ 357 h 397"/>
                <a:gd name="T84" fmla="*/ 423 w 457"/>
                <a:gd name="T85" fmla="*/ 325 h 397"/>
                <a:gd name="T86" fmla="*/ 443 w 457"/>
                <a:gd name="T87" fmla="*/ 308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57" h="397" extrusionOk="0">
                  <a:moveTo>
                    <a:pt x="443" y="308"/>
                  </a:moveTo>
                  <a:lnTo>
                    <a:pt x="457" y="106"/>
                  </a:lnTo>
                  <a:lnTo>
                    <a:pt x="457" y="106"/>
                  </a:lnTo>
                  <a:lnTo>
                    <a:pt x="457" y="96"/>
                  </a:lnTo>
                  <a:lnTo>
                    <a:pt x="457" y="84"/>
                  </a:lnTo>
                  <a:lnTo>
                    <a:pt x="455" y="74"/>
                  </a:lnTo>
                  <a:lnTo>
                    <a:pt x="451" y="64"/>
                  </a:lnTo>
                  <a:lnTo>
                    <a:pt x="447" y="56"/>
                  </a:lnTo>
                  <a:lnTo>
                    <a:pt x="441" y="46"/>
                  </a:lnTo>
                  <a:lnTo>
                    <a:pt x="425" y="32"/>
                  </a:lnTo>
                  <a:lnTo>
                    <a:pt x="407" y="18"/>
                  </a:lnTo>
                  <a:lnTo>
                    <a:pt x="385" y="8"/>
                  </a:lnTo>
                  <a:lnTo>
                    <a:pt x="361" y="2"/>
                  </a:lnTo>
                  <a:lnTo>
                    <a:pt x="337" y="0"/>
                  </a:lnTo>
                  <a:lnTo>
                    <a:pt x="271" y="0"/>
                  </a:lnTo>
                  <a:lnTo>
                    <a:pt x="271" y="0"/>
                  </a:lnTo>
                  <a:lnTo>
                    <a:pt x="271" y="8"/>
                  </a:lnTo>
                  <a:lnTo>
                    <a:pt x="269" y="20"/>
                  </a:lnTo>
                  <a:lnTo>
                    <a:pt x="265" y="32"/>
                  </a:lnTo>
                  <a:lnTo>
                    <a:pt x="261" y="38"/>
                  </a:lnTo>
                  <a:lnTo>
                    <a:pt x="255" y="44"/>
                  </a:lnTo>
                  <a:lnTo>
                    <a:pt x="255" y="44"/>
                  </a:lnTo>
                  <a:lnTo>
                    <a:pt x="259" y="66"/>
                  </a:lnTo>
                  <a:lnTo>
                    <a:pt x="267" y="118"/>
                  </a:lnTo>
                  <a:lnTo>
                    <a:pt x="271" y="148"/>
                  </a:lnTo>
                  <a:lnTo>
                    <a:pt x="273" y="178"/>
                  </a:lnTo>
                  <a:lnTo>
                    <a:pt x="275" y="204"/>
                  </a:lnTo>
                  <a:lnTo>
                    <a:pt x="271" y="224"/>
                  </a:lnTo>
                  <a:lnTo>
                    <a:pt x="271" y="224"/>
                  </a:lnTo>
                  <a:lnTo>
                    <a:pt x="265" y="242"/>
                  </a:lnTo>
                  <a:lnTo>
                    <a:pt x="255" y="264"/>
                  </a:lnTo>
                  <a:lnTo>
                    <a:pt x="249" y="274"/>
                  </a:lnTo>
                  <a:lnTo>
                    <a:pt x="241" y="282"/>
                  </a:lnTo>
                  <a:lnTo>
                    <a:pt x="235" y="288"/>
                  </a:lnTo>
                  <a:lnTo>
                    <a:pt x="227" y="290"/>
                  </a:lnTo>
                  <a:lnTo>
                    <a:pt x="227" y="290"/>
                  </a:lnTo>
                  <a:lnTo>
                    <a:pt x="220" y="288"/>
                  </a:lnTo>
                  <a:lnTo>
                    <a:pt x="212" y="282"/>
                  </a:lnTo>
                  <a:lnTo>
                    <a:pt x="206" y="274"/>
                  </a:lnTo>
                  <a:lnTo>
                    <a:pt x="200" y="264"/>
                  </a:lnTo>
                  <a:lnTo>
                    <a:pt x="192" y="242"/>
                  </a:lnTo>
                  <a:lnTo>
                    <a:pt x="186" y="224"/>
                  </a:lnTo>
                  <a:lnTo>
                    <a:pt x="186" y="224"/>
                  </a:lnTo>
                  <a:lnTo>
                    <a:pt x="184" y="204"/>
                  </a:lnTo>
                  <a:lnTo>
                    <a:pt x="186" y="178"/>
                  </a:lnTo>
                  <a:lnTo>
                    <a:pt x="190" y="148"/>
                  </a:lnTo>
                  <a:lnTo>
                    <a:pt x="194" y="118"/>
                  </a:lnTo>
                  <a:lnTo>
                    <a:pt x="204" y="66"/>
                  </a:lnTo>
                  <a:lnTo>
                    <a:pt x="210" y="44"/>
                  </a:lnTo>
                  <a:lnTo>
                    <a:pt x="210" y="44"/>
                  </a:lnTo>
                  <a:lnTo>
                    <a:pt x="206" y="40"/>
                  </a:lnTo>
                  <a:lnTo>
                    <a:pt x="200" y="34"/>
                  </a:lnTo>
                  <a:lnTo>
                    <a:pt x="196" y="20"/>
                  </a:lnTo>
                  <a:lnTo>
                    <a:pt x="192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96" y="2"/>
                  </a:lnTo>
                  <a:lnTo>
                    <a:pt x="72" y="8"/>
                  </a:lnTo>
                  <a:lnTo>
                    <a:pt x="52" y="18"/>
                  </a:lnTo>
                  <a:lnTo>
                    <a:pt x="32" y="32"/>
                  </a:lnTo>
                  <a:lnTo>
                    <a:pt x="18" y="48"/>
                  </a:lnTo>
                  <a:lnTo>
                    <a:pt x="12" y="56"/>
                  </a:lnTo>
                  <a:lnTo>
                    <a:pt x="6" y="66"/>
                  </a:lnTo>
                  <a:lnTo>
                    <a:pt x="2" y="76"/>
                  </a:lnTo>
                  <a:lnTo>
                    <a:pt x="0" y="86"/>
                  </a:lnTo>
                  <a:lnTo>
                    <a:pt x="0" y="96"/>
                  </a:lnTo>
                  <a:lnTo>
                    <a:pt x="0" y="108"/>
                  </a:lnTo>
                  <a:lnTo>
                    <a:pt x="16" y="308"/>
                  </a:lnTo>
                  <a:lnTo>
                    <a:pt x="16" y="308"/>
                  </a:lnTo>
                  <a:lnTo>
                    <a:pt x="36" y="325"/>
                  </a:lnTo>
                  <a:lnTo>
                    <a:pt x="60" y="343"/>
                  </a:lnTo>
                  <a:lnTo>
                    <a:pt x="86" y="359"/>
                  </a:lnTo>
                  <a:lnTo>
                    <a:pt x="112" y="371"/>
                  </a:lnTo>
                  <a:lnTo>
                    <a:pt x="140" y="383"/>
                  </a:lnTo>
                  <a:lnTo>
                    <a:pt x="170" y="391"/>
                  </a:lnTo>
                  <a:lnTo>
                    <a:pt x="200" y="395"/>
                  </a:lnTo>
                  <a:lnTo>
                    <a:pt x="229" y="397"/>
                  </a:lnTo>
                  <a:lnTo>
                    <a:pt x="229" y="397"/>
                  </a:lnTo>
                  <a:lnTo>
                    <a:pt x="259" y="395"/>
                  </a:lnTo>
                  <a:lnTo>
                    <a:pt x="289" y="389"/>
                  </a:lnTo>
                  <a:lnTo>
                    <a:pt x="319" y="381"/>
                  </a:lnTo>
                  <a:lnTo>
                    <a:pt x="347" y="369"/>
                  </a:lnTo>
                  <a:lnTo>
                    <a:pt x="375" y="357"/>
                  </a:lnTo>
                  <a:lnTo>
                    <a:pt x="401" y="341"/>
                  </a:lnTo>
                  <a:lnTo>
                    <a:pt x="423" y="325"/>
                  </a:lnTo>
                  <a:lnTo>
                    <a:pt x="443" y="308"/>
                  </a:lnTo>
                  <a:lnTo>
                    <a:pt x="443" y="3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>
                <a:solidFill>
                  <a:srgbClr val="0070C0"/>
                </a:solidFill>
                <a:latin typeface="G마켓 산스 Bold" panose="02000000000000000000" pitchFamily="50" charset="-127"/>
                <a:ea typeface="Noto Sans KR Light"/>
                <a:cs typeface="KoPubWorld돋움체 Light"/>
              </a:endParaRPr>
            </a:p>
          </p:txBody>
        </p:sp>
        <p:sp>
          <p:nvSpPr>
            <p:cNvPr id="115" name="Freeform 11"/>
            <p:cNvSpPr/>
            <p:nvPr/>
          </p:nvSpPr>
          <p:spPr bwMode="auto">
            <a:xfrm>
              <a:off x="1365878" y="2653447"/>
              <a:ext cx="344320" cy="344320"/>
            </a:xfrm>
            <a:custGeom>
              <a:avLst/>
              <a:gdLst>
                <a:gd name="T0" fmla="*/ 121 w 243"/>
                <a:gd name="T1" fmla="*/ 243 h 243"/>
                <a:gd name="T2" fmla="*/ 121 w 243"/>
                <a:gd name="T3" fmla="*/ 243 h 243"/>
                <a:gd name="T4" fmla="*/ 133 w 243"/>
                <a:gd name="T5" fmla="*/ 243 h 243"/>
                <a:gd name="T6" fmla="*/ 145 w 243"/>
                <a:gd name="T7" fmla="*/ 241 h 243"/>
                <a:gd name="T8" fmla="*/ 157 w 243"/>
                <a:gd name="T9" fmla="*/ 239 h 243"/>
                <a:gd name="T10" fmla="*/ 167 w 243"/>
                <a:gd name="T11" fmla="*/ 233 h 243"/>
                <a:gd name="T12" fmla="*/ 189 w 243"/>
                <a:gd name="T13" fmla="*/ 223 h 243"/>
                <a:gd name="T14" fmla="*/ 207 w 243"/>
                <a:gd name="T15" fmla="*/ 207 h 243"/>
                <a:gd name="T16" fmla="*/ 221 w 243"/>
                <a:gd name="T17" fmla="*/ 189 h 243"/>
                <a:gd name="T18" fmla="*/ 233 w 243"/>
                <a:gd name="T19" fmla="*/ 169 h 243"/>
                <a:gd name="T20" fmla="*/ 237 w 243"/>
                <a:gd name="T21" fmla="*/ 157 h 243"/>
                <a:gd name="T22" fmla="*/ 239 w 243"/>
                <a:gd name="T23" fmla="*/ 145 h 243"/>
                <a:gd name="T24" fmla="*/ 241 w 243"/>
                <a:gd name="T25" fmla="*/ 134 h 243"/>
                <a:gd name="T26" fmla="*/ 243 w 243"/>
                <a:gd name="T27" fmla="*/ 122 h 243"/>
                <a:gd name="T28" fmla="*/ 243 w 243"/>
                <a:gd name="T29" fmla="*/ 122 h 243"/>
                <a:gd name="T30" fmla="*/ 241 w 243"/>
                <a:gd name="T31" fmla="*/ 110 h 243"/>
                <a:gd name="T32" fmla="*/ 239 w 243"/>
                <a:gd name="T33" fmla="*/ 98 h 243"/>
                <a:gd name="T34" fmla="*/ 237 w 243"/>
                <a:gd name="T35" fmla="*/ 86 h 243"/>
                <a:gd name="T36" fmla="*/ 233 w 243"/>
                <a:gd name="T37" fmla="*/ 74 h 243"/>
                <a:gd name="T38" fmla="*/ 221 w 243"/>
                <a:gd name="T39" fmla="*/ 54 h 243"/>
                <a:gd name="T40" fmla="*/ 207 w 243"/>
                <a:gd name="T41" fmla="*/ 36 h 243"/>
                <a:gd name="T42" fmla="*/ 189 w 243"/>
                <a:gd name="T43" fmla="*/ 22 h 243"/>
                <a:gd name="T44" fmla="*/ 167 w 243"/>
                <a:gd name="T45" fmla="*/ 10 h 243"/>
                <a:gd name="T46" fmla="*/ 157 w 243"/>
                <a:gd name="T47" fmla="*/ 6 h 243"/>
                <a:gd name="T48" fmla="*/ 145 w 243"/>
                <a:gd name="T49" fmla="*/ 2 h 243"/>
                <a:gd name="T50" fmla="*/ 133 w 243"/>
                <a:gd name="T51" fmla="*/ 0 h 243"/>
                <a:gd name="T52" fmla="*/ 121 w 243"/>
                <a:gd name="T53" fmla="*/ 0 h 243"/>
                <a:gd name="T54" fmla="*/ 121 w 243"/>
                <a:gd name="T55" fmla="*/ 0 h 243"/>
                <a:gd name="T56" fmla="*/ 108 w 243"/>
                <a:gd name="T57" fmla="*/ 0 h 243"/>
                <a:gd name="T58" fmla="*/ 96 w 243"/>
                <a:gd name="T59" fmla="*/ 2 h 243"/>
                <a:gd name="T60" fmla="*/ 84 w 243"/>
                <a:gd name="T61" fmla="*/ 6 h 243"/>
                <a:gd name="T62" fmla="*/ 74 w 243"/>
                <a:gd name="T63" fmla="*/ 10 h 243"/>
                <a:gd name="T64" fmla="*/ 52 w 243"/>
                <a:gd name="T65" fmla="*/ 22 h 243"/>
                <a:gd name="T66" fmla="*/ 34 w 243"/>
                <a:gd name="T67" fmla="*/ 36 h 243"/>
                <a:gd name="T68" fmla="*/ 20 w 243"/>
                <a:gd name="T69" fmla="*/ 54 h 243"/>
                <a:gd name="T70" fmla="*/ 8 w 243"/>
                <a:gd name="T71" fmla="*/ 74 h 243"/>
                <a:gd name="T72" fmla="*/ 4 w 243"/>
                <a:gd name="T73" fmla="*/ 86 h 243"/>
                <a:gd name="T74" fmla="*/ 2 w 243"/>
                <a:gd name="T75" fmla="*/ 98 h 243"/>
                <a:gd name="T76" fmla="*/ 0 w 243"/>
                <a:gd name="T77" fmla="*/ 110 h 243"/>
                <a:gd name="T78" fmla="*/ 0 w 243"/>
                <a:gd name="T79" fmla="*/ 122 h 243"/>
                <a:gd name="T80" fmla="*/ 0 w 243"/>
                <a:gd name="T81" fmla="*/ 122 h 243"/>
                <a:gd name="T82" fmla="*/ 0 w 243"/>
                <a:gd name="T83" fmla="*/ 134 h 243"/>
                <a:gd name="T84" fmla="*/ 2 w 243"/>
                <a:gd name="T85" fmla="*/ 145 h 243"/>
                <a:gd name="T86" fmla="*/ 4 w 243"/>
                <a:gd name="T87" fmla="*/ 157 h 243"/>
                <a:gd name="T88" fmla="*/ 8 w 243"/>
                <a:gd name="T89" fmla="*/ 169 h 243"/>
                <a:gd name="T90" fmla="*/ 20 w 243"/>
                <a:gd name="T91" fmla="*/ 189 h 243"/>
                <a:gd name="T92" fmla="*/ 34 w 243"/>
                <a:gd name="T93" fmla="*/ 207 h 243"/>
                <a:gd name="T94" fmla="*/ 52 w 243"/>
                <a:gd name="T95" fmla="*/ 223 h 243"/>
                <a:gd name="T96" fmla="*/ 74 w 243"/>
                <a:gd name="T97" fmla="*/ 233 h 243"/>
                <a:gd name="T98" fmla="*/ 84 w 243"/>
                <a:gd name="T99" fmla="*/ 239 h 243"/>
                <a:gd name="T100" fmla="*/ 96 w 243"/>
                <a:gd name="T101" fmla="*/ 241 h 243"/>
                <a:gd name="T102" fmla="*/ 108 w 243"/>
                <a:gd name="T103" fmla="*/ 243 h 243"/>
                <a:gd name="T104" fmla="*/ 121 w 243"/>
                <a:gd name="T105" fmla="*/ 243 h 243"/>
                <a:gd name="T106" fmla="*/ 121 w 243"/>
                <a:gd name="T107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43" h="243" extrusionOk="0">
                  <a:moveTo>
                    <a:pt x="121" y="243"/>
                  </a:moveTo>
                  <a:lnTo>
                    <a:pt x="121" y="243"/>
                  </a:lnTo>
                  <a:lnTo>
                    <a:pt x="133" y="243"/>
                  </a:lnTo>
                  <a:lnTo>
                    <a:pt x="145" y="241"/>
                  </a:lnTo>
                  <a:lnTo>
                    <a:pt x="157" y="239"/>
                  </a:lnTo>
                  <a:lnTo>
                    <a:pt x="167" y="233"/>
                  </a:lnTo>
                  <a:lnTo>
                    <a:pt x="189" y="223"/>
                  </a:lnTo>
                  <a:lnTo>
                    <a:pt x="207" y="207"/>
                  </a:lnTo>
                  <a:lnTo>
                    <a:pt x="221" y="189"/>
                  </a:lnTo>
                  <a:lnTo>
                    <a:pt x="233" y="169"/>
                  </a:lnTo>
                  <a:lnTo>
                    <a:pt x="237" y="157"/>
                  </a:lnTo>
                  <a:lnTo>
                    <a:pt x="239" y="145"/>
                  </a:lnTo>
                  <a:lnTo>
                    <a:pt x="241" y="134"/>
                  </a:lnTo>
                  <a:lnTo>
                    <a:pt x="243" y="122"/>
                  </a:lnTo>
                  <a:lnTo>
                    <a:pt x="243" y="122"/>
                  </a:lnTo>
                  <a:lnTo>
                    <a:pt x="241" y="110"/>
                  </a:lnTo>
                  <a:lnTo>
                    <a:pt x="239" y="98"/>
                  </a:lnTo>
                  <a:lnTo>
                    <a:pt x="237" y="86"/>
                  </a:lnTo>
                  <a:lnTo>
                    <a:pt x="233" y="74"/>
                  </a:lnTo>
                  <a:lnTo>
                    <a:pt x="221" y="54"/>
                  </a:lnTo>
                  <a:lnTo>
                    <a:pt x="207" y="36"/>
                  </a:lnTo>
                  <a:lnTo>
                    <a:pt x="189" y="22"/>
                  </a:lnTo>
                  <a:lnTo>
                    <a:pt x="167" y="10"/>
                  </a:lnTo>
                  <a:lnTo>
                    <a:pt x="157" y="6"/>
                  </a:lnTo>
                  <a:lnTo>
                    <a:pt x="145" y="2"/>
                  </a:lnTo>
                  <a:lnTo>
                    <a:pt x="133" y="0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08" y="0"/>
                  </a:lnTo>
                  <a:lnTo>
                    <a:pt x="96" y="2"/>
                  </a:lnTo>
                  <a:lnTo>
                    <a:pt x="84" y="6"/>
                  </a:lnTo>
                  <a:lnTo>
                    <a:pt x="74" y="10"/>
                  </a:lnTo>
                  <a:lnTo>
                    <a:pt x="52" y="22"/>
                  </a:lnTo>
                  <a:lnTo>
                    <a:pt x="34" y="36"/>
                  </a:lnTo>
                  <a:lnTo>
                    <a:pt x="20" y="54"/>
                  </a:lnTo>
                  <a:lnTo>
                    <a:pt x="8" y="74"/>
                  </a:lnTo>
                  <a:lnTo>
                    <a:pt x="4" y="86"/>
                  </a:lnTo>
                  <a:lnTo>
                    <a:pt x="2" y="98"/>
                  </a:lnTo>
                  <a:lnTo>
                    <a:pt x="0" y="110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0" y="134"/>
                  </a:lnTo>
                  <a:lnTo>
                    <a:pt x="2" y="145"/>
                  </a:lnTo>
                  <a:lnTo>
                    <a:pt x="4" y="157"/>
                  </a:lnTo>
                  <a:lnTo>
                    <a:pt x="8" y="169"/>
                  </a:lnTo>
                  <a:lnTo>
                    <a:pt x="20" y="189"/>
                  </a:lnTo>
                  <a:lnTo>
                    <a:pt x="34" y="207"/>
                  </a:lnTo>
                  <a:lnTo>
                    <a:pt x="52" y="223"/>
                  </a:lnTo>
                  <a:lnTo>
                    <a:pt x="74" y="233"/>
                  </a:lnTo>
                  <a:lnTo>
                    <a:pt x="84" y="239"/>
                  </a:lnTo>
                  <a:lnTo>
                    <a:pt x="96" y="241"/>
                  </a:lnTo>
                  <a:lnTo>
                    <a:pt x="108" y="243"/>
                  </a:lnTo>
                  <a:lnTo>
                    <a:pt x="121" y="243"/>
                  </a:lnTo>
                  <a:lnTo>
                    <a:pt x="121" y="24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>
                <a:solidFill>
                  <a:srgbClr val="0070C0"/>
                </a:solidFill>
                <a:latin typeface="G마켓 산스 Bold" panose="02000000000000000000" pitchFamily="50" charset="-127"/>
                <a:ea typeface="Noto Sans KR Light"/>
                <a:cs typeface="KoPubWorld돋움체 Light"/>
              </a:endParaRPr>
            </a:p>
          </p:txBody>
        </p:sp>
        <p:sp>
          <p:nvSpPr>
            <p:cNvPr id="116" name="Freeform 12"/>
            <p:cNvSpPr/>
            <p:nvPr/>
          </p:nvSpPr>
          <p:spPr bwMode="auto">
            <a:xfrm>
              <a:off x="827432" y="2341717"/>
              <a:ext cx="1581329" cy="1408454"/>
            </a:xfrm>
            <a:custGeom>
              <a:avLst/>
              <a:gdLst>
                <a:gd name="T0" fmla="*/ 935 w 1116"/>
                <a:gd name="T1" fmla="*/ 282 h 994"/>
                <a:gd name="T2" fmla="*/ 923 w 1116"/>
                <a:gd name="T3" fmla="*/ 276 h 994"/>
                <a:gd name="T4" fmla="*/ 735 w 1116"/>
                <a:gd name="T5" fmla="*/ 457 h 994"/>
                <a:gd name="T6" fmla="*/ 731 w 1116"/>
                <a:gd name="T7" fmla="*/ 471 h 994"/>
                <a:gd name="T8" fmla="*/ 739 w 1116"/>
                <a:gd name="T9" fmla="*/ 483 h 994"/>
                <a:gd name="T10" fmla="*/ 815 w 1116"/>
                <a:gd name="T11" fmla="*/ 485 h 994"/>
                <a:gd name="T12" fmla="*/ 855 w 1116"/>
                <a:gd name="T13" fmla="*/ 491 h 994"/>
                <a:gd name="T14" fmla="*/ 857 w 1116"/>
                <a:gd name="T15" fmla="*/ 531 h 994"/>
                <a:gd name="T16" fmla="*/ 835 w 1116"/>
                <a:gd name="T17" fmla="*/ 623 h 994"/>
                <a:gd name="T18" fmla="*/ 773 w 1116"/>
                <a:gd name="T19" fmla="*/ 729 h 994"/>
                <a:gd name="T20" fmla="*/ 695 w 1116"/>
                <a:gd name="T21" fmla="*/ 801 h 994"/>
                <a:gd name="T22" fmla="*/ 563 w 1116"/>
                <a:gd name="T23" fmla="*/ 856 h 994"/>
                <a:gd name="T24" fmla="*/ 456 w 1116"/>
                <a:gd name="T25" fmla="*/ 862 h 994"/>
                <a:gd name="T26" fmla="*/ 324 w 1116"/>
                <a:gd name="T27" fmla="*/ 822 h 994"/>
                <a:gd name="T28" fmla="*/ 240 w 1116"/>
                <a:gd name="T29" fmla="*/ 761 h 994"/>
                <a:gd name="T30" fmla="*/ 160 w 1116"/>
                <a:gd name="T31" fmla="*/ 641 h 994"/>
                <a:gd name="T32" fmla="*/ 132 w 1116"/>
                <a:gd name="T33" fmla="*/ 503 h 994"/>
                <a:gd name="T34" fmla="*/ 148 w 1116"/>
                <a:gd name="T35" fmla="*/ 395 h 994"/>
                <a:gd name="T36" fmla="*/ 214 w 1116"/>
                <a:gd name="T37" fmla="*/ 270 h 994"/>
                <a:gd name="T38" fmla="*/ 296 w 1116"/>
                <a:gd name="T39" fmla="*/ 196 h 994"/>
                <a:gd name="T40" fmla="*/ 434 w 1116"/>
                <a:gd name="T41" fmla="*/ 140 h 994"/>
                <a:gd name="T42" fmla="*/ 539 w 1116"/>
                <a:gd name="T43" fmla="*/ 132 h 994"/>
                <a:gd name="T44" fmla="*/ 627 w 1116"/>
                <a:gd name="T45" fmla="*/ 152 h 994"/>
                <a:gd name="T46" fmla="*/ 661 w 1116"/>
                <a:gd name="T47" fmla="*/ 154 h 994"/>
                <a:gd name="T48" fmla="*/ 695 w 1116"/>
                <a:gd name="T49" fmla="*/ 136 h 994"/>
                <a:gd name="T50" fmla="*/ 713 w 1116"/>
                <a:gd name="T51" fmla="*/ 98 h 994"/>
                <a:gd name="T52" fmla="*/ 701 w 1116"/>
                <a:gd name="T53" fmla="*/ 50 h 994"/>
                <a:gd name="T54" fmla="*/ 671 w 1116"/>
                <a:gd name="T55" fmla="*/ 28 h 994"/>
                <a:gd name="T56" fmla="*/ 509 w 1116"/>
                <a:gd name="T57" fmla="*/ 0 h 994"/>
                <a:gd name="T58" fmla="*/ 434 w 1116"/>
                <a:gd name="T59" fmla="*/ 6 h 994"/>
                <a:gd name="T60" fmla="*/ 336 w 1116"/>
                <a:gd name="T61" fmla="*/ 30 h 994"/>
                <a:gd name="T62" fmla="*/ 244 w 1116"/>
                <a:gd name="T63" fmla="*/ 74 h 994"/>
                <a:gd name="T64" fmla="*/ 162 w 1116"/>
                <a:gd name="T65" fmla="*/ 134 h 994"/>
                <a:gd name="T66" fmla="*/ 110 w 1116"/>
                <a:gd name="T67" fmla="*/ 188 h 994"/>
                <a:gd name="T68" fmla="*/ 56 w 1116"/>
                <a:gd name="T69" fmla="*/ 272 h 994"/>
                <a:gd name="T70" fmla="*/ 10 w 1116"/>
                <a:gd name="T71" fmla="*/ 407 h 994"/>
                <a:gd name="T72" fmla="*/ 10 w 1116"/>
                <a:gd name="T73" fmla="*/ 597 h 994"/>
                <a:gd name="T74" fmla="*/ 58 w 1116"/>
                <a:gd name="T75" fmla="*/ 733 h 994"/>
                <a:gd name="T76" fmla="*/ 114 w 1116"/>
                <a:gd name="T77" fmla="*/ 817 h 994"/>
                <a:gd name="T78" fmla="*/ 184 w 1116"/>
                <a:gd name="T79" fmla="*/ 886 h 994"/>
                <a:gd name="T80" fmla="*/ 350 w 1116"/>
                <a:gd name="T81" fmla="*/ 974 h 994"/>
                <a:gd name="T82" fmla="*/ 490 w 1116"/>
                <a:gd name="T83" fmla="*/ 994 h 994"/>
                <a:gd name="T84" fmla="*/ 545 w 1116"/>
                <a:gd name="T85" fmla="*/ 992 h 994"/>
                <a:gd name="T86" fmla="*/ 729 w 1116"/>
                <a:gd name="T87" fmla="*/ 934 h 994"/>
                <a:gd name="T88" fmla="*/ 845 w 1116"/>
                <a:gd name="T89" fmla="*/ 844 h 994"/>
                <a:gd name="T90" fmla="*/ 929 w 1116"/>
                <a:gd name="T91" fmla="*/ 733 h 994"/>
                <a:gd name="T92" fmla="*/ 967 w 1116"/>
                <a:gd name="T93" fmla="*/ 647 h 994"/>
                <a:gd name="T94" fmla="*/ 989 w 1116"/>
                <a:gd name="T95" fmla="*/ 523 h 994"/>
                <a:gd name="T96" fmla="*/ 995 w 1116"/>
                <a:gd name="T97" fmla="*/ 487 h 994"/>
                <a:gd name="T98" fmla="*/ 1098 w 1116"/>
                <a:gd name="T99" fmla="*/ 483 h 994"/>
                <a:gd name="T100" fmla="*/ 1108 w 1116"/>
                <a:gd name="T101" fmla="*/ 481 h 994"/>
                <a:gd name="T102" fmla="*/ 1116 w 1116"/>
                <a:gd name="T103" fmla="*/ 467 h 994"/>
                <a:gd name="T104" fmla="*/ 1110 w 1116"/>
                <a:gd name="T105" fmla="*/ 455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16" h="994" extrusionOk="0">
                  <a:moveTo>
                    <a:pt x="1110" y="455"/>
                  </a:moveTo>
                  <a:lnTo>
                    <a:pt x="951" y="298"/>
                  </a:lnTo>
                  <a:lnTo>
                    <a:pt x="935" y="282"/>
                  </a:lnTo>
                  <a:lnTo>
                    <a:pt x="935" y="282"/>
                  </a:lnTo>
                  <a:lnTo>
                    <a:pt x="929" y="278"/>
                  </a:lnTo>
                  <a:lnTo>
                    <a:pt x="923" y="276"/>
                  </a:lnTo>
                  <a:lnTo>
                    <a:pt x="923" y="276"/>
                  </a:lnTo>
                  <a:lnTo>
                    <a:pt x="923" y="276"/>
                  </a:lnTo>
                  <a:lnTo>
                    <a:pt x="915" y="278"/>
                  </a:lnTo>
                  <a:lnTo>
                    <a:pt x="911" y="282"/>
                  </a:lnTo>
                  <a:lnTo>
                    <a:pt x="815" y="377"/>
                  </a:lnTo>
                  <a:lnTo>
                    <a:pt x="735" y="457"/>
                  </a:lnTo>
                  <a:lnTo>
                    <a:pt x="735" y="457"/>
                  </a:lnTo>
                  <a:lnTo>
                    <a:pt x="733" y="461"/>
                  </a:lnTo>
                  <a:lnTo>
                    <a:pt x="731" y="465"/>
                  </a:lnTo>
                  <a:lnTo>
                    <a:pt x="731" y="471"/>
                  </a:lnTo>
                  <a:lnTo>
                    <a:pt x="733" y="475"/>
                  </a:lnTo>
                  <a:lnTo>
                    <a:pt x="733" y="475"/>
                  </a:lnTo>
                  <a:lnTo>
                    <a:pt x="735" y="479"/>
                  </a:lnTo>
                  <a:lnTo>
                    <a:pt x="739" y="483"/>
                  </a:lnTo>
                  <a:lnTo>
                    <a:pt x="743" y="485"/>
                  </a:lnTo>
                  <a:lnTo>
                    <a:pt x="747" y="485"/>
                  </a:lnTo>
                  <a:lnTo>
                    <a:pt x="747" y="485"/>
                  </a:lnTo>
                  <a:lnTo>
                    <a:pt x="815" y="485"/>
                  </a:lnTo>
                  <a:lnTo>
                    <a:pt x="841" y="485"/>
                  </a:lnTo>
                  <a:lnTo>
                    <a:pt x="841" y="485"/>
                  </a:lnTo>
                  <a:lnTo>
                    <a:pt x="849" y="487"/>
                  </a:lnTo>
                  <a:lnTo>
                    <a:pt x="855" y="491"/>
                  </a:lnTo>
                  <a:lnTo>
                    <a:pt x="855" y="491"/>
                  </a:lnTo>
                  <a:lnTo>
                    <a:pt x="859" y="497"/>
                  </a:lnTo>
                  <a:lnTo>
                    <a:pt x="859" y="503"/>
                  </a:lnTo>
                  <a:lnTo>
                    <a:pt x="857" y="531"/>
                  </a:lnTo>
                  <a:lnTo>
                    <a:pt x="857" y="531"/>
                  </a:lnTo>
                  <a:lnTo>
                    <a:pt x="851" y="563"/>
                  </a:lnTo>
                  <a:lnTo>
                    <a:pt x="845" y="593"/>
                  </a:lnTo>
                  <a:lnTo>
                    <a:pt x="835" y="623"/>
                  </a:lnTo>
                  <a:lnTo>
                    <a:pt x="823" y="651"/>
                  </a:lnTo>
                  <a:lnTo>
                    <a:pt x="809" y="679"/>
                  </a:lnTo>
                  <a:lnTo>
                    <a:pt x="791" y="705"/>
                  </a:lnTo>
                  <a:lnTo>
                    <a:pt x="773" y="729"/>
                  </a:lnTo>
                  <a:lnTo>
                    <a:pt x="753" y="753"/>
                  </a:lnTo>
                  <a:lnTo>
                    <a:pt x="753" y="753"/>
                  </a:lnTo>
                  <a:lnTo>
                    <a:pt x="725" y="779"/>
                  </a:lnTo>
                  <a:lnTo>
                    <a:pt x="695" y="801"/>
                  </a:lnTo>
                  <a:lnTo>
                    <a:pt x="663" y="819"/>
                  </a:lnTo>
                  <a:lnTo>
                    <a:pt x="631" y="834"/>
                  </a:lnTo>
                  <a:lnTo>
                    <a:pt x="597" y="846"/>
                  </a:lnTo>
                  <a:lnTo>
                    <a:pt x="563" y="856"/>
                  </a:lnTo>
                  <a:lnTo>
                    <a:pt x="527" y="862"/>
                  </a:lnTo>
                  <a:lnTo>
                    <a:pt x="492" y="864"/>
                  </a:lnTo>
                  <a:lnTo>
                    <a:pt x="492" y="864"/>
                  </a:lnTo>
                  <a:lnTo>
                    <a:pt x="456" y="862"/>
                  </a:lnTo>
                  <a:lnTo>
                    <a:pt x="422" y="856"/>
                  </a:lnTo>
                  <a:lnTo>
                    <a:pt x="388" y="848"/>
                  </a:lnTo>
                  <a:lnTo>
                    <a:pt x="356" y="836"/>
                  </a:lnTo>
                  <a:lnTo>
                    <a:pt x="324" y="822"/>
                  </a:lnTo>
                  <a:lnTo>
                    <a:pt x="296" y="805"/>
                  </a:lnTo>
                  <a:lnTo>
                    <a:pt x="266" y="783"/>
                  </a:lnTo>
                  <a:lnTo>
                    <a:pt x="240" y="761"/>
                  </a:lnTo>
                  <a:lnTo>
                    <a:pt x="240" y="761"/>
                  </a:lnTo>
                  <a:lnTo>
                    <a:pt x="216" y="733"/>
                  </a:lnTo>
                  <a:lnTo>
                    <a:pt x="194" y="705"/>
                  </a:lnTo>
                  <a:lnTo>
                    <a:pt x="176" y="675"/>
                  </a:lnTo>
                  <a:lnTo>
                    <a:pt x="160" y="641"/>
                  </a:lnTo>
                  <a:lnTo>
                    <a:pt x="148" y="609"/>
                  </a:lnTo>
                  <a:lnTo>
                    <a:pt x="140" y="573"/>
                  </a:lnTo>
                  <a:lnTo>
                    <a:pt x="134" y="539"/>
                  </a:lnTo>
                  <a:lnTo>
                    <a:pt x="132" y="503"/>
                  </a:lnTo>
                  <a:lnTo>
                    <a:pt x="132" y="503"/>
                  </a:lnTo>
                  <a:lnTo>
                    <a:pt x="134" y="465"/>
                  </a:lnTo>
                  <a:lnTo>
                    <a:pt x="140" y="431"/>
                  </a:lnTo>
                  <a:lnTo>
                    <a:pt x="148" y="395"/>
                  </a:lnTo>
                  <a:lnTo>
                    <a:pt x="160" y="361"/>
                  </a:lnTo>
                  <a:lnTo>
                    <a:pt x="174" y="330"/>
                  </a:lnTo>
                  <a:lnTo>
                    <a:pt x="192" y="300"/>
                  </a:lnTo>
                  <a:lnTo>
                    <a:pt x="214" y="270"/>
                  </a:lnTo>
                  <a:lnTo>
                    <a:pt x="238" y="244"/>
                  </a:lnTo>
                  <a:lnTo>
                    <a:pt x="238" y="244"/>
                  </a:lnTo>
                  <a:lnTo>
                    <a:pt x="266" y="218"/>
                  </a:lnTo>
                  <a:lnTo>
                    <a:pt x="296" y="196"/>
                  </a:lnTo>
                  <a:lnTo>
                    <a:pt x="328" y="176"/>
                  </a:lnTo>
                  <a:lnTo>
                    <a:pt x="362" y="160"/>
                  </a:lnTo>
                  <a:lnTo>
                    <a:pt x="398" y="148"/>
                  </a:lnTo>
                  <a:lnTo>
                    <a:pt x="434" y="140"/>
                  </a:lnTo>
                  <a:lnTo>
                    <a:pt x="470" y="134"/>
                  </a:lnTo>
                  <a:lnTo>
                    <a:pt x="507" y="132"/>
                  </a:lnTo>
                  <a:lnTo>
                    <a:pt x="507" y="132"/>
                  </a:lnTo>
                  <a:lnTo>
                    <a:pt x="539" y="132"/>
                  </a:lnTo>
                  <a:lnTo>
                    <a:pt x="569" y="136"/>
                  </a:lnTo>
                  <a:lnTo>
                    <a:pt x="597" y="142"/>
                  </a:lnTo>
                  <a:lnTo>
                    <a:pt x="627" y="152"/>
                  </a:lnTo>
                  <a:lnTo>
                    <a:pt x="627" y="152"/>
                  </a:lnTo>
                  <a:lnTo>
                    <a:pt x="637" y="154"/>
                  </a:lnTo>
                  <a:lnTo>
                    <a:pt x="649" y="156"/>
                  </a:lnTo>
                  <a:lnTo>
                    <a:pt x="649" y="156"/>
                  </a:lnTo>
                  <a:lnTo>
                    <a:pt x="661" y="154"/>
                  </a:lnTo>
                  <a:lnTo>
                    <a:pt x="673" y="150"/>
                  </a:lnTo>
                  <a:lnTo>
                    <a:pt x="685" y="144"/>
                  </a:lnTo>
                  <a:lnTo>
                    <a:pt x="695" y="136"/>
                  </a:lnTo>
                  <a:lnTo>
                    <a:pt x="695" y="136"/>
                  </a:lnTo>
                  <a:lnTo>
                    <a:pt x="705" y="124"/>
                  </a:lnTo>
                  <a:lnTo>
                    <a:pt x="711" y="112"/>
                  </a:lnTo>
                  <a:lnTo>
                    <a:pt x="711" y="112"/>
                  </a:lnTo>
                  <a:lnTo>
                    <a:pt x="713" y="98"/>
                  </a:lnTo>
                  <a:lnTo>
                    <a:pt x="715" y="86"/>
                  </a:lnTo>
                  <a:lnTo>
                    <a:pt x="713" y="74"/>
                  </a:lnTo>
                  <a:lnTo>
                    <a:pt x="709" y="62"/>
                  </a:lnTo>
                  <a:lnTo>
                    <a:pt x="701" y="50"/>
                  </a:lnTo>
                  <a:lnTo>
                    <a:pt x="693" y="40"/>
                  </a:lnTo>
                  <a:lnTo>
                    <a:pt x="683" y="34"/>
                  </a:lnTo>
                  <a:lnTo>
                    <a:pt x="671" y="28"/>
                  </a:lnTo>
                  <a:lnTo>
                    <a:pt x="671" y="28"/>
                  </a:lnTo>
                  <a:lnTo>
                    <a:pt x="631" y="16"/>
                  </a:lnTo>
                  <a:lnTo>
                    <a:pt x="591" y="6"/>
                  </a:lnTo>
                  <a:lnTo>
                    <a:pt x="551" y="2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484" y="0"/>
                  </a:lnTo>
                  <a:lnTo>
                    <a:pt x="458" y="2"/>
                  </a:lnTo>
                  <a:lnTo>
                    <a:pt x="434" y="6"/>
                  </a:lnTo>
                  <a:lnTo>
                    <a:pt x="408" y="10"/>
                  </a:lnTo>
                  <a:lnTo>
                    <a:pt x="384" y="16"/>
                  </a:lnTo>
                  <a:lnTo>
                    <a:pt x="360" y="22"/>
                  </a:lnTo>
                  <a:lnTo>
                    <a:pt x="336" y="30"/>
                  </a:lnTo>
                  <a:lnTo>
                    <a:pt x="312" y="40"/>
                  </a:lnTo>
                  <a:lnTo>
                    <a:pt x="288" y="50"/>
                  </a:lnTo>
                  <a:lnTo>
                    <a:pt x="266" y="60"/>
                  </a:lnTo>
                  <a:lnTo>
                    <a:pt x="244" y="74"/>
                  </a:lnTo>
                  <a:lnTo>
                    <a:pt x="222" y="86"/>
                  </a:lnTo>
                  <a:lnTo>
                    <a:pt x="202" y="102"/>
                  </a:lnTo>
                  <a:lnTo>
                    <a:pt x="182" y="116"/>
                  </a:lnTo>
                  <a:lnTo>
                    <a:pt x="162" y="134"/>
                  </a:lnTo>
                  <a:lnTo>
                    <a:pt x="144" y="150"/>
                  </a:lnTo>
                  <a:lnTo>
                    <a:pt x="144" y="150"/>
                  </a:lnTo>
                  <a:lnTo>
                    <a:pt x="126" y="170"/>
                  </a:lnTo>
                  <a:lnTo>
                    <a:pt x="110" y="188"/>
                  </a:lnTo>
                  <a:lnTo>
                    <a:pt x="96" y="208"/>
                  </a:lnTo>
                  <a:lnTo>
                    <a:pt x="82" y="230"/>
                  </a:lnTo>
                  <a:lnTo>
                    <a:pt x="68" y="250"/>
                  </a:lnTo>
                  <a:lnTo>
                    <a:pt x="56" y="272"/>
                  </a:lnTo>
                  <a:lnTo>
                    <a:pt x="46" y="294"/>
                  </a:lnTo>
                  <a:lnTo>
                    <a:pt x="36" y="316"/>
                  </a:lnTo>
                  <a:lnTo>
                    <a:pt x="20" y="361"/>
                  </a:lnTo>
                  <a:lnTo>
                    <a:pt x="10" y="407"/>
                  </a:lnTo>
                  <a:lnTo>
                    <a:pt x="2" y="455"/>
                  </a:lnTo>
                  <a:lnTo>
                    <a:pt x="0" y="503"/>
                  </a:lnTo>
                  <a:lnTo>
                    <a:pt x="2" y="551"/>
                  </a:lnTo>
                  <a:lnTo>
                    <a:pt x="10" y="597"/>
                  </a:lnTo>
                  <a:lnTo>
                    <a:pt x="22" y="645"/>
                  </a:lnTo>
                  <a:lnTo>
                    <a:pt x="38" y="689"/>
                  </a:lnTo>
                  <a:lnTo>
                    <a:pt x="48" y="713"/>
                  </a:lnTo>
                  <a:lnTo>
                    <a:pt x="58" y="733"/>
                  </a:lnTo>
                  <a:lnTo>
                    <a:pt x="70" y="755"/>
                  </a:lnTo>
                  <a:lnTo>
                    <a:pt x="84" y="777"/>
                  </a:lnTo>
                  <a:lnTo>
                    <a:pt x="98" y="797"/>
                  </a:lnTo>
                  <a:lnTo>
                    <a:pt x="114" y="817"/>
                  </a:lnTo>
                  <a:lnTo>
                    <a:pt x="130" y="834"/>
                  </a:lnTo>
                  <a:lnTo>
                    <a:pt x="148" y="852"/>
                  </a:lnTo>
                  <a:lnTo>
                    <a:pt x="148" y="852"/>
                  </a:lnTo>
                  <a:lnTo>
                    <a:pt x="184" y="886"/>
                  </a:lnTo>
                  <a:lnTo>
                    <a:pt x="222" y="914"/>
                  </a:lnTo>
                  <a:lnTo>
                    <a:pt x="262" y="938"/>
                  </a:lnTo>
                  <a:lnTo>
                    <a:pt x="306" y="958"/>
                  </a:lnTo>
                  <a:lnTo>
                    <a:pt x="350" y="974"/>
                  </a:lnTo>
                  <a:lnTo>
                    <a:pt x="396" y="986"/>
                  </a:lnTo>
                  <a:lnTo>
                    <a:pt x="442" y="992"/>
                  </a:lnTo>
                  <a:lnTo>
                    <a:pt x="490" y="994"/>
                  </a:lnTo>
                  <a:lnTo>
                    <a:pt x="490" y="994"/>
                  </a:lnTo>
                  <a:lnTo>
                    <a:pt x="497" y="994"/>
                  </a:lnTo>
                  <a:lnTo>
                    <a:pt x="497" y="994"/>
                  </a:lnTo>
                  <a:lnTo>
                    <a:pt x="521" y="994"/>
                  </a:lnTo>
                  <a:lnTo>
                    <a:pt x="545" y="992"/>
                  </a:lnTo>
                  <a:lnTo>
                    <a:pt x="593" y="984"/>
                  </a:lnTo>
                  <a:lnTo>
                    <a:pt x="641" y="972"/>
                  </a:lnTo>
                  <a:lnTo>
                    <a:pt x="685" y="954"/>
                  </a:lnTo>
                  <a:lnTo>
                    <a:pt x="729" y="934"/>
                  </a:lnTo>
                  <a:lnTo>
                    <a:pt x="771" y="908"/>
                  </a:lnTo>
                  <a:lnTo>
                    <a:pt x="809" y="878"/>
                  </a:lnTo>
                  <a:lnTo>
                    <a:pt x="845" y="844"/>
                  </a:lnTo>
                  <a:lnTo>
                    <a:pt x="845" y="844"/>
                  </a:lnTo>
                  <a:lnTo>
                    <a:pt x="869" y="821"/>
                  </a:lnTo>
                  <a:lnTo>
                    <a:pt x="891" y="793"/>
                  </a:lnTo>
                  <a:lnTo>
                    <a:pt x="911" y="763"/>
                  </a:lnTo>
                  <a:lnTo>
                    <a:pt x="929" y="733"/>
                  </a:lnTo>
                  <a:lnTo>
                    <a:pt x="929" y="733"/>
                  </a:lnTo>
                  <a:lnTo>
                    <a:pt x="943" y="705"/>
                  </a:lnTo>
                  <a:lnTo>
                    <a:pt x="957" y="677"/>
                  </a:lnTo>
                  <a:lnTo>
                    <a:pt x="967" y="647"/>
                  </a:lnTo>
                  <a:lnTo>
                    <a:pt x="975" y="617"/>
                  </a:lnTo>
                  <a:lnTo>
                    <a:pt x="975" y="617"/>
                  </a:lnTo>
                  <a:lnTo>
                    <a:pt x="985" y="569"/>
                  </a:lnTo>
                  <a:lnTo>
                    <a:pt x="989" y="523"/>
                  </a:lnTo>
                  <a:lnTo>
                    <a:pt x="991" y="499"/>
                  </a:lnTo>
                  <a:lnTo>
                    <a:pt x="991" y="499"/>
                  </a:lnTo>
                  <a:lnTo>
                    <a:pt x="993" y="493"/>
                  </a:lnTo>
                  <a:lnTo>
                    <a:pt x="995" y="487"/>
                  </a:lnTo>
                  <a:lnTo>
                    <a:pt x="1000" y="485"/>
                  </a:lnTo>
                  <a:lnTo>
                    <a:pt x="1006" y="483"/>
                  </a:lnTo>
                  <a:lnTo>
                    <a:pt x="1030" y="483"/>
                  </a:lnTo>
                  <a:lnTo>
                    <a:pt x="1098" y="483"/>
                  </a:lnTo>
                  <a:lnTo>
                    <a:pt x="1098" y="483"/>
                  </a:lnTo>
                  <a:lnTo>
                    <a:pt x="1098" y="483"/>
                  </a:lnTo>
                  <a:lnTo>
                    <a:pt x="1104" y="483"/>
                  </a:lnTo>
                  <a:lnTo>
                    <a:pt x="1108" y="481"/>
                  </a:lnTo>
                  <a:lnTo>
                    <a:pt x="1112" y="477"/>
                  </a:lnTo>
                  <a:lnTo>
                    <a:pt x="1114" y="473"/>
                  </a:lnTo>
                  <a:lnTo>
                    <a:pt x="1114" y="473"/>
                  </a:lnTo>
                  <a:lnTo>
                    <a:pt x="1116" y="467"/>
                  </a:lnTo>
                  <a:lnTo>
                    <a:pt x="1114" y="463"/>
                  </a:lnTo>
                  <a:lnTo>
                    <a:pt x="1114" y="459"/>
                  </a:lnTo>
                  <a:lnTo>
                    <a:pt x="1110" y="455"/>
                  </a:lnTo>
                  <a:lnTo>
                    <a:pt x="1110" y="4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>
                <a:solidFill>
                  <a:srgbClr val="0070C0"/>
                </a:solidFill>
                <a:latin typeface="G마켓 산스 Bold" panose="02000000000000000000" pitchFamily="50" charset="-127"/>
                <a:ea typeface="Noto Sans KR Light"/>
                <a:cs typeface="KoPubWorld돋움체 Light"/>
              </a:endParaRPr>
            </a:p>
          </p:txBody>
        </p:sp>
      </p:grpSp>
      <p:sp>
        <p:nvSpPr>
          <p:cNvPr id="1080252502" name="Freeform 133"/>
          <p:cNvSpPr>
            <a:spLocks noChangeArrowheads="1"/>
          </p:cNvSpPr>
          <p:nvPr/>
        </p:nvSpPr>
        <p:spPr bwMode="auto">
          <a:xfrm>
            <a:off x="642633" y="4912791"/>
            <a:ext cx="1178506" cy="1128654"/>
          </a:xfrm>
          <a:custGeom>
            <a:avLst/>
            <a:gdLst>
              <a:gd name="T0" fmla="*/ 425 w 497"/>
              <a:gd name="T1" fmla="*/ 160 h 480"/>
              <a:gd name="T2" fmla="*/ 425 w 497"/>
              <a:gd name="T3" fmla="*/ 160 h 480"/>
              <a:gd name="T4" fmla="*/ 372 w 497"/>
              <a:gd name="T5" fmla="*/ 18 h 480"/>
              <a:gd name="T6" fmla="*/ 346 w 497"/>
              <a:gd name="T7" fmla="*/ 9 h 480"/>
              <a:gd name="T8" fmla="*/ 9 w 497"/>
              <a:gd name="T9" fmla="*/ 134 h 480"/>
              <a:gd name="T10" fmla="*/ 0 w 497"/>
              <a:gd name="T11" fmla="*/ 160 h 480"/>
              <a:gd name="T12" fmla="*/ 53 w 497"/>
              <a:gd name="T13" fmla="*/ 302 h 480"/>
              <a:gd name="T14" fmla="*/ 53 w 497"/>
              <a:gd name="T15" fmla="*/ 222 h 480"/>
              <a:gd name="T16" fmla="*/ 115 w 497"/>
              <a:gd name="T17" fmla="*/ 160 h 480"/>
              <a:gd name="T18" fmla="*/ 203 w 497"/>
              <a:gd name="T19" fmla="*/ 160 h 480"/>
              <a:gd name="T20" fmla="*/ 309 w 497"/>
              <a:gd name="T21" fmla="*/ 89 h 480"/>
              <a:gd name="T22" fmla="*/ 372 w 497"/>
              <a:gd name="T23" fmla="*/ 160 h 480"/>
              <a:gd name="T24" fmla="*/ 425 w 497"/>
              <a:gd name="T25" fmla="*/ 160 h 480"/>
              <a:gd name="T26" fmla="*/ 478 w 497"/>
              <a:gd name="T27" fmla="*/ 204 h 480"/>
              <a:gd name="T28" fmla="*/ 478 w 497"/>
              <a:gd name="T29" fmla="*/ 204 h 480"/>
              <a:gd name="T30" fmla="*/ 115 w 497"/>
              <a:gd name="T31" fmla="*/ 204 h 480"/>
              <a:gd name="T32" fmla="*/ 97 w 497"/>
              <a:gd name="T33" fmla="*/ 222 h 480"/>
              <a:gd name="T34" fmla="*/ 97 w 497"/>
              <a:gd name="T35" fmla="*/ 462 h 480"/>
              <a:gd name="T36" fmla="*/ 115 w 497"/>
              <a:gd name="T37" fmla="*/ 479 h 480"/>
              <a:gd name="T38" fmla="*/ 478 w 497"/>
              <a:gd name="T39" fmla="*/ 479 h 480"/>
              <a:gd name="T40" fmla="*/ 496 w 497"/>
              <a:gd name="T41" fmla="*/ 462 h 480"/>
              <a:gd name="T42" fmla="*/ 496 w 497"/>
              <a:gd name="T43" fmla="*/ 222 h 480"/>
              <a:gd name="T44" fmla="*/ 478 w 497"/>
              <a:gd name="T45" fmla="*/ 204 h 480"/>
              <a:gd name="T46" fmla="*/ 452 w 497"/>
              <a:gd name="T47" fmla="*/ 426 h 480"/>
              <a:gd name="T48" fmla="*/ 452 w 497"/>
              <a:gd name="T49" fmla="*/ 426 h 480"/>
              <a:gd name="T50" fmla="*/ 150 w 497"/>
              <a:gd name="T51" fmla="*/ 426 h 480"/>
              <a:gd name="T52" fmla="*/ 150 w 497"/>
              <a:gd name="T53" fmla="*/ 391 h 480"/>
              <a:gd name="T54" fmla="*/ 195 w 497"/>
              <a:gd name="T55" fmla="*/ 275 h 480"/>
              <a:gd name="T56" fmla="*/ 265 w 497"/>
              <a:gd name="T57" fmla="*/ 364 h 480"/>
              <a:gd name="T58" fmla="*/ 328 w 497"/>
              <a:gd name="T59" fmla="*/ 302 h 480"/>
              <a:gd name="T60" fmla="*/ 416 w 497"/>
              <a:gd name="T61" fmla="*/ 266 h 480"/>
              <a:gd name="T62" fmla="*/ 452 w 497"/>
              <a:gd name="T63" fmla="*/ 347 h 480"/>
              <a:gd name="T64" fmla="*/ 452 w 497"/>
              <a:gd name="T65" fmla="*/ 426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97" h="480" extrusionOk="0">
                <a:moveTo>
                  <a:pt x="425" y="160"/>
                </a:moveTo>
                <a:lnTo>
                  <a:pt x="425" y="160"/>
                </a:lnTo>
                <a:cubicBezTo>
                  <a:pt x="372" y="18"/>
                  <a:pt x="372" y="18"/>
                  <a:pt x="372" y="18"/>
                </a:cubicBezTo>
                <a:cubicBezTo>
                  <a:pt x="372" y="9"/>
                  <a:pt x="354" y="0"/>
                  <a:pt x="346" y="9"/>
                </a:cubicBezTo>
                <a:cubicBezTo>
                  <a:pt x="9" y="134"/>
                  <a:pt x="9" y="134"/>
                  <a:pt x="9" y="134"/>
                </a:cubicBezTo>
                <a:cubicBezTo>
                  <a:pt x="0" y="134"/>
                  <a:pt x="0" y="143"/>
                  <a:pt x="0" y="160"/>
                </a:cubicBezTo>
                <a:cubicBezTo>
                  <a:pt x="53" y="302"/>
                  <a:pt x="53" y="302"/>
                  <a:pt x="53" y="302"/>
                </a:cubicBezTo>
                <a:cubicBezTo>
                  <a:pt x="53" y="222"/>
                  <a:pt x="53" y="222"/>
                  <a:pt x="53" y="222"/>
                </a:cubicBezTo>
                <a:cubicBezTo>
                  <a:pt x="53" y="187"/>
                  <a:pt x="80" y="160"/>
                  <a:pt x="115" y="160"/>
                </a:cubicBezTo>
                <a:cubicBezTo>
                  <a:pt x="203" y="160"/>
                  <a:pt x="203" y="160"/>
                  <a:pt x="203" y="160"/>
                </a:cubicBezTo>
                <a:cubicBezTo>
                  <a:pt x="309" y="89"/>
                  <a:pt x="309" y="89"/>
                  <a:pt x="309" y="89"/>
                </a:cubicBezTo>
                <a:cubicBezTo>
                  <a:pt x="372" y="160"/>
                  <a:pt x="372" y="160"/>
                  <a:pt x="372" y="160"/>
                </a:cubicBezTo>
                <a:lnTo>
                  <a:pt x="425" y="160"/>
                </a:lnTo>
                <a:close/>
                <a:moveTo>
                  <a:pt x="478" y="204"/>
                </a:moveTo>
                <a:lnTo>
                  <a:pt x="478" y="204"/>
                </a:lnTo>
                <a:cubicBezTo>
                  <a:pt x="115" y="204"/>
                  <a:pt x="115" y="204"/>
                  <a:pt x="115" y="204"/>
                </a:cubicBezTo>
                <a:cubicBezTo>
                  <a:pt x="106" y="204"/>
                  <a:pt x="97" y="213"/>
                  <a:pt x="97" y="222"/>
                </a:cubicBezTo>
                <a:cubicBezTo>
                  <a:pt x="97" y="462"/>
                  <a:pt x="97" y="462"/>
                  <a:pt x="97" y="462"/>
                </a:cubicBezTo>
                <a:cubicBezTo>
                  <a:pt x="97" y="470"/>
                  <a:pt x="106" y="479"/>
                  <a:pt x="115" y="479"/>
                </a:cubicBezTo>
                <a:cubicBezTo>
                  <a:pt x="478" y="479"/>
                  <a:pt x="478" y="479"/>
                  <a:pt x="478" y="479"/>
                </a:cubicBezTo>
                <a:cubicBezTo>
                  <a:pt x="487" y="479"/>
                  <a:pt x="496" y="470"/>
                  <a:pt x="496" y="46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13"/>
                  <a:pt x="487" y="204"/>
                  <a:pt x="478" y="204"/>
                </a:cubicBezTo>
                <a:close/>
                <a:moveTo>
                  <a:pt x="452" y="426"/>
                </a:moveTo>
                <a:lnTo>
                  <a:pt x="452" y="426"/>
                </a:lnTo>
                <a:cubicBezTo>
                  <a:pt x="150" y="426"/>
                  <a:pt x="150" y="426"/>
                  <a:pt x="150" y="426"/>
                </a:cubicBezTo>
                <a:cubicBezTo>
                  <a:pt x="150" y="391"/>
                  <a:pt x="150" y="391"/>
                  <a:pt x="150" y="391"/>
                </a:cubicBezTo>
                <a:cubicBezTo>
                  <a:pt x="195" y="275"/>
                  <a:pt x="195" y="275"/>
                  <a:pt x="195" y="275"/>
                </a:cubicBezTo>
                <a:cubicBezTo>
                  <a:pt x="265" y="364"/>
                  <a:pt x="265" y="364"/>
                  <a:pt x="265" y="364"/>
                </a:cubicBezTo>
                <a:cubicBezTo>
                  <a:pt x="328" y="302"/>
                  <a:pt x="328" y="302"/>
                  <a:pt x="328" y="302"/>
                </a:cubicBezTo>
                <a:cubicBezTo>
                  <a:pt x="416" y="266"/>
                  <a:pt x="416" y="266"/>
                  <a:pt x="416" y="266"/>
                </a:cubicBezTo>
                <a:cubicBezTo>
                  <a:pt x="452" y="347"/>
                  <a:pt x="452" y="347"/>
                  <a:pt x="452" y="347"/>
                </a:cubicBezTo>
                <a:lnTo>
                  <a:pt x="452" y="42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lIns="68589" tIns="34295" rIns="68589" bIns="34295" anchor="ctr"/>
          <a:lstStyle/>
          <a:p>
            <a:pPr>
              <a:defRPr/>
            </a:pPr>
            <a:endParaRPr lang="en-US" sz="2700">
              <a:latin typeface="G마켓 산스 Bold" panose="02000000000000000000" pitchFamily="50" charset="-127"/>
              <a:ea typeface="G마켓 산스 Bold" panose="02000000000000000000" pitchFamily="50" charset="-127"/>
              <a:cs typeface="KoPubWorld돋움체 Light"/>
            </a:endParaRPr>
          </a:p>
        </p:txBody>
      </p:sp>
      <p:cxnSp>
        <p:nvCxnSpPr>
          <p:cNvPr id="614615153" name="직선 연결선 105"/>
          <p:cNvCxnSpPr/>
          <p:nvPr/>
        </p:nvCxnSpPr>
        <p:spPr bwMode="auto">
          <a:xfrm>
            <a:off x="6384207" y="2979711"/>
            <a:ext cx="25884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1118431" name="Group 62"/>
          <p:cNvSpPr/>
          <p:nvPr/>
        </p:nvSpPr>
        <p:spPr bwMode="auto">
          <a:xfrm>
            <a:off x="6459242" y="3088576"/>
            <a:ext cx="2604133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프로젝트</a:t>
            </a: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구조</a:t>
            </a:r>
            <a:endParaRPr sz="16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RBAC </a:t>
            </a: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권한</a:t>
            </a: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관리</a:t>
            </a:r>
            <a:endParaRPr sz="16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전자결재</a:t>
            </a:r>
            <a:endParaRPr sz="16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공통</a:t>
            </a: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</a:t>
            </a:r>
            <a:endParaRPr sz="16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854491852" name="Group 62"/>
          <p:cNvSpPr/>
          <p:nvPr/>
        </p:nvSpPr>
        <p:spPr bwMode="auto">
          <a:xfrm>
            <a:off x="2863155" y="4546848"/>
            <a:ext cx="2955322" cy="79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개발</a:t>
            </a: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환경</a:t>
            </a:r>
            <a:endParaRPr sz="16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ERD</a:t>
            </a:r>
          </a:p>
        </p:txBody>
      </p:sp>
      <p:sp>
        <p:nvSpPr>
          <p:cNvPr id="204474284" name="Group 62"/>
          <p:cNvSpPr/>
          <p:nvPr/>
        </p:nvSpPr>
        <p:spPr bwMode="auto">
          <a:xfrm>
            <a:off x="6459242" y="5935306"/>
            <a:ext cx="25512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주요</a:t>
            </a:r>
            <a:r>
              <a:rPr sz="16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sz="160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화면</a:t>
            </a:r>
            <a:endParaRPr sz="16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28563231" name="직선 연결선 105"/>
          <p:cNvCxnSpPr/>
          <p:nvPr/>
        </p:nvCxnSpPr>
        <p:spPr bwMode="auto">
          <a:xfrm>
            <a:off x="6384206" y="5846401"/>
            <a:ext cx="25884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6553098" name="TextBox 103"/>
          <p:cNvSpPr txBox="1"/>
          <p:nvPr/>
        </p:nvSpPr>
        <p:spPr bwMode="auto">
          <a:xfrm>
            <a:off x="-34384" y="1503242"/>
            <a:ext cx="1210658" cy="427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600">
                <a:solidFill>
                  <a:srgbClr val="012481"/>
                </a:solidFill>
                <a:latin typeface="Noto Sans KR Black"/>
                <a:ea typeface="Noto Sans KR Black"/>
                <a:cs typeface="KoPubWorld돋움체 Bold"/>
              </a:defRPr>
            </a:lvl1pPr>
          </a:lstStyle>
          <a:p>
            <a:pPr>
              <a:defRPr/>
            </a:pPr>
            <a:r>
              <a:rPr lang="ko-KR" sz="2200"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01. 개요</a:t>
            </a:r>
            <a:endParaRPr sz="2200"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346750847" name="TextBox 103"/>
          <p:cNvSpPr txBox="1"/>
          <p:nvPr/>
        </p:nvSpPr>
        <p:spPr bwMode="auto">
          <a:xfrm>
            <a:off x="6384205" y="2552628"/>
            <a:ext cx="18966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600">
                <a:solidFill>
                  <a:srgbClr val="012481"/>
                </a:solidFill>
                <a:latin typeface="Noto Sans KR Black"/>
                <a:ea typeface="Noto Sans KR Black"/>
                <a:cs typeface="KoPubWorld돋움체 Bold"/>
              </a:defRPr>
            </a:lvl1pPr>
          </a:lstStyle>
          <a:p>
            <a:pPr>
              <a:defRPr/>
            </a:pPr>
            <a:r>
              <a:rPr lang="ko-KR" sz="2200"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03. </a:t>
            </a:r>
            <a:r>
              <a:rPr lang="ko-KR" altLang="en-US" sz="2200"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핵심</a:t>
            </a:r>
            <a:r>
              <a:rPr lang="ko-KR" sz="2200"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기능</a:t>
            </a:r>
            <a:endParaRPr sz="2200"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090903190" name="TextBox 103"/>
          <p:cNvSpPr txBox="1"/>
          <p:nvPr/>
        </p:nvSpPr>
        <p:spPr bwMode="auto">
          <a:xfrm>
            <a:off x="-10146" y="3930921"/>
            <a:ext cx="2227109" cy="427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600">
                <a:solidFill>
                  <a:srgbClr val="012481"/>
                </a:solidFill>
                <a:latin typeface="Noto Sans KR Black"/>
                <a:ea typeface="Noto Sans KR Black"/>
                <a:cs typeface="KoPubWorld돋움체 Bold"/>
              </a:defRPr>
            </a:lvl1pPr>
          </a:lstStyle>
          <a:p>
            <a:pPr>
              <a:defRPr/>
            </a:pPr>
            <a:r>
              <a:rPr lang="ko-KR" sz="2200"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02. 환경 및 설계</a:t>
            </a:r>
            <a:endParaRPr sz="2200"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678616575" name="TextBox 103"/>
          <p:cNvSpPr txBox="1"/>
          <p:nvPr/>
        </p:nvSpPr>
        <p:spPr bwMode="auto">
          <a:xfrm>
            <a:off x="6384205" y="5419320"/>
            <a:ext cx="1885964" cy="427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600">
                <a:solidFill>
                  <a:srgbClr val="012481"/>
                </a:solidFill>
                <a:latin typeface="Noto Sans KR Black"/>
                <a:ea typeface="Noto Sans KR Black"/>
                <a:cs typeface="KoPubWorld돋움체 Bold"/>
              </a:defRPr>
            </a:lvl1pPr>
          </a:lstStyle>
          <a:p>
            <a:pPr>
              <a:defRPr/>
            </a:pPr>
            <a:r>
              <a:rPr lang="ko-KR" sz="2200"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04. 주요 화면</a:t>
            </a:r>
            <a:endParaRPr sz="2200"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7479249" name="Object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73445" y="0"/>
            <a:ext cx="7118555" cy="6874587"/>
          </a:xfrm>
          <a:prstGeom prst="rect">
            <a:avLst/>
          </a:prstGeom>
        </p:spPr>
      </p:pic>
      <p:sp>
        <p:nvSpPr>
          <p:cNvPr id="1144111827" name="Group 13"/>
          <p:cNvSpPr txBox="1"/>
          <p:nvPr/>
        </p:nvSpPr>
        <p:spPr bwMode="auto">
          <a:xfrm>
            <a:off x="452196" y="2462908"/>
            <a:ext cx="5220548" cy="178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ko-KR" sz="6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01. 개요</a:t>
            </a:r>
            <a:endParaRPr sz="6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endParaRPr sz="1200">
              <a:solidFill>
                <a:schemeClr val="bg1">
                  <a:lumMod val="6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>
                <a:solidFill>
                  <a:schemeClr val="bg1">
                    <a:lumMod val="6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PROJECT</a:t>
            </a:r>
            <a:endParaRPr sz="7200" spc="-150">
              <a:ln w="47625">
                <a:noFill/>
              </a:ln>
              <a:solidFill>
                <a:schemeClr val="bg1">
                  <a:lumMod val="6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2800" spc="-150">
                <a:ln w="47625"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INTR</a:t>
            </a:r>
            <a:endParaRPr sz="7200" spc="-150">
              <a:ln w="47625"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cxnSp>
        <p:nvCxnSpPr>
          <p:cNvPr id="553178121" name="직선 연결선 4"/>
          <p:cNvCxnSpPr/>
          <p:nvPr/>
        </p:nvCxnSpPr>
        <p:spPr bwMode="auto">
          <a:xfrm>
            <a:off x="589644" y="3240019"/>
            <a:ext cx="4339771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0024628" name="직선 연결선 5"/>
          <p:cNvCxnSpPr/>
          <p:nvPr/>
        </p:nvCxnSpPr>
        <p:spPr bwMode="auto">
          <a:xfrm>
            <a:off x="576363" y="3267451"/>
            <a:ext cx="1701800" cy="0"/>
          </a:xfrm>
          <a:prstGeom prst="line">
            <a:avLst/>
          </a:prstGeom>
          <a:ln w="38100">
            <a:solidFill>
              <a:srgbClr val="012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5462" name="직사각형 5"/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875230770" name="직사각형 2"/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1268319367" name="직선 연결선 3"/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7917393" name="TextBox 73"/>
          <p:cNvSpPr txBox="1"/>
          <p:nvPr/>
        </p:nvSpPr>
        <p:spPr bwMode="auto">
          <a:xfrm>
            <a:off x="749808" y="339582"/>
            <a:ext cx="32912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프로젝트 개요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797917395" name="TextBox 1797917394"/>
          <p:cNvSpPr txBox="1"/>
          <p:nvPr/>
        </p:nvSpPr>
        <p:spPr>
          <a:xfrm>
            <a:off x="896112" y="210592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실무 경험을 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녹여내어</a:t>
            </a:r>
            <a:r>
              <a:rPr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구조와 공통화를 정리한 사내 업무</a:t>
            </a:r>
            <a:r>
              <a:rPr 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지원 </a:t>
            </a:r>
            <a:r>
              <a:rPr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웹 애플리케이션</a:t>
            </a:r>
          </a:p>
        </p:txBody>
      </p:sp>
      <p:sp>
        <p:nvSpPr>
          <p:cNvPr id="1797917397" name="Rounded Rectangle 1797917396"/>
          <p:cNvSpPr/>
          <p:nvPr/>
        </p:nvSpPr>
        <p:spPr>
          <a:xfrm>
            <a:off x="896112" y="3059503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EC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97917398" name="TextBox 1797917397"/>
          <p:cNvSpPr txBox="1"/>
          <p:nvPr/>
        </p:nvSpPr>
        <p:spPr>
          <a:xfrm>
            <a:off x="1097280" y="3288103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권한 기반 메뉴</a:t>
            </a:r>
          </a:p>
        </p:txBody>
      </p:sp>
      <p:sp>
        <p:nvSpPr>
          <p:cNvPr id="1797917399" name="TextBox 1797917398"/>
          <p:cNvSpPr txBox="1"/>
          <p:nvPr/>
        </p:nvSpPr>
        <p:spPr>
          <a:xfrm>
            <a:off x="1097280" y="3727015"/>
            <a:ext cx="2834640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사용자–권한–메뉴 매핑으로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노출 메뉴를 동적 구성</a:t>
            </a:r>
          </a:p>
        </p:txBody>
      </p:sp>
      <p:sp>
        <p:nvSpPr>
          <p:cNvPr id="1797917400" name="Rounded Rectangle 1797917399"/>
          <p:cNvSpPr/>
          <p:nvPr/>
        </p:nvSpPr>
        <p:spPr>
          <a:xfrm>
            <a:off x="4553712" y="3059503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EC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97917401" name="TextBox 1797917400"/>
          <p:cNvSpPr txBox="1"/>
          <p:nvPr/>
        </p:nvSpPr>
        <p:spPr>
          <a:xfrm>
            <a:off x="4754880" y="3288103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전자결재</a:t>
            </a:r>
          </a:p>
        </p:txBody>
      </p:sp>
      <p:sp>
        <p:nvSpPr>
          <p:cNvPr id="1797917402" name="TextBox 1797917401"/>
          <p:cNvSpPr txBox="1"/>
          <p:nvPr/>
        </p:nvSpPr>
        <p:spPr>
          <a:xfrm>
            <a:off x="4754880" y="3727015"/>
            <a:ext cx="2834640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템플릿과 결재선을 기반으로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업무 유형별 결재 처리</a:t>
            </a:r>
          </a:p>
        </p:txBody>
      </p:sp>
      <p:sp>
        <p:nvSpPr>
          <p:cNvPr id="1797917403" name="Rounded Rectangle 1797917402"/>
          <p:cNvSpPr/>
          <p:nvPr/>
        </p:nvSpPr>
        <p:spPr>
          <a:xfrm>
            <a:off x="8211312" y="3059503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EC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97917404" name="TextBox 1797917403"/>
          <p:cNvSpPr txBox="1"/>
          <p:nvPr/>
        </p:nvSpPr>
        <p:spPr>
          <a:xfrm>
            <a:off x="8412480" y="3288103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공통화</a:t>
            </a:r>
          </a:p>
        </p:txBody>
      </p:sp>
      <p:sp>
        <p:nvSpPr>
          <p:cNvPr id="1797917405" name="TextBox 1797917404"/>
          <p:cNvSpPr txBox="1"/>
          <p:nvPr/>
        </p:nvSpPr>
        <p:spPr>
          <a:xfrm>
            <a:off x="8412480" y="3727015"/>
            <a:ext cx="2834640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유효성 검증·AJAX 팝업 등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반복 UI 로직 공통화</a:t>
            </a:r>
          </a:p>
        </p:txBody>
      </p:sp>
      <p:grpSp>
        <p:nvGrpSpPr>
          <p:cNvPr id="9" name="그룹 22">
            <a:extLst>
              <a:ext uri="{FF2B5EF4-FFF2-40B4-BE49-F238E27FC236}">
                <a16:creationId xmlns:a16="http://schemas.microsoft.com/office/drawing/2014/main" id="{A0ED0BA7-B29D-FE9E-F6C9-986B4F7023C7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10" name="Straight Connector 24">
              <a:extLst>
                <a:ext uri="{FF2B5EF4-FFF2-40B4-BE49-F238E27FC236}">
                  <a16:creationId xmlns:a16="http://schemas.microsoft.com/office/drawing/2014/main" id="{67700795-3256-001C-B323-75A6B78F3FE8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Group 65">
              <a:extLst>
                <a:ext uri="{FF2B5EF4-FFF2-40B4-BE49-F238E27FC236}">
                  <a16:creationId xmlns:a16="http://schemas.microsoft.com/office/drawing/2014/main" id="{F8A031E6-2223-3DD6-CCD2-DA1405AE062F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프로젝트 개요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4E0BD67-A70B-2EF4-26B6-CF3A85DF1BAA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13" name="Rectangle 21">
                <a:extLst>
                  <a:ext uri="{FF2B5EF4-FFF2-40B4-BE49-F238E27FC236}">
                    <a16:creationId xmlns:a16="http://schemas.microsoft.com/office/drawing/2014/main" id="{5B72F9FC-1111-66E2-F354-C0709C54DFE6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4" name="Rectangle 22">
                <a:extLst>
                  <a:ext uri="{FF2B5EF4-FFF2-40B4-BE49-F238E27FC236}">
                    <a16:creationId xmlns:a16="http://schemas.microsoft.com/office/drawing/2014/main" id="{7B72A2BF-6681-D6E5-C34E-FD951B5C79E5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5" name="Rectangle 23">
                <a:extLst>
                  <a:ext uri="{FF2B5EF4-FFF2-40B4-BE49-F238E27FC236}">
                    <a16:creationId xmlns:a16="http://schemas.microsoft.com/office/drawing/2014/main" id="{F60B478F-A516-ACE1-6B30-579F47347609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B48D08F-3089-05F7-F68C-DBDB1EB5A393}"/>
              </a:ext>
            </a:extLst>
          </p:cNvPr>
          <p:cNvSpPr txBox="1"/>
          <p:nvPr/>
        </p:nvSpPr>
        <p:spPr>
          <a:xfrm>
            <a:off x="896111" y="5135781"/>
            <a:ext cx="96288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참고 사항  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단순 기능 외에 중복되는 코드가 최소화되도록 공통 모듈이나 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DB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에서 사용되는 것에 초점을 맞췄습니다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054986" name="직사각형 5"/>
          <p:cNvSpPr/>
          <p:nvPr/>
        </p:nvSpPr>
        <p:spPr bwMode="auto">
          <a:xfrm>
            <a:off x="0" y="0"/>
            <a:ext cx="495705" cy="6857998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237061973" name="직사각형 2"/>
          <p:cNvSpPr/>
          <p:nvPr/>
        </p:nvSpPr>
        <p:spPr bwMode="auto">
          <a:xfrm>
            <a:off x="749808" y="339584"/>
            <a:ext cx="11046723" cy="681503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1893927265" name="직선 연결선 3"/>
          <p:cNvCxnSpPr/>
          <p:nvPr/>
        </p:nvCxnSpPr>
        <p:spPr bwMode="auto">
          <a:xfrm>
            <a:off x="749808" y="339584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445084" name="TextBox 73"/>
          <p:cNvSpPr txBox="1"/>
          <p:nvPr/>
        </p:nvSpPr>
        <p:spPr bwMode="auto">
          <a:xfrm>
            <a:off x="749808" y="339582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제작 동기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2103853845" name="TextBox 2103853844"/>
          <p:cNvSpPr txBox="1"/>
          <p:nvPr/>
        </p:nvSpPr>
        <p:spPr>
          <a:xfrm>
            <a:off x="914400" y="288036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시작점</a:t>
            </a:r>
          </a:p>
        </p:txBody>
      </p:sp>
      <p:sp>
        <p:nvSpPr>
          <p:cNvPr id="2103853846" name="TextBox 2103853845"/>
          <p:cNvSpPr txBox="1"/>
          <p:nvPr/>
        </p:nvSpPr>
        <p:spPr>
          <a:xfrm>
            <a:off x="960120" y="3291840"/>
            <a:ext cx="489204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취업 전 제작했던 프로젝트를 실무 이후 다시 개선</a:t>
            </a:r>
          </a:p>
        </p:txBody>
      </p:sp>
      <p:sp>
        <p:nvSpPr>
          <p:cNvPr id="2103853847" name="TextBox 2103853846"/>
          <p:cNvSpPr txBox="1"/>
          <p:nvPr/>
        </p:nvSpPr>
        <p:spPr>
          <a:xfrm>
            <a:off x="960120" y="3767328"/>
            <a:ext cx="489204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실무에서 경험한 업무 기능과 개발 방식을 직접 재구현</a:t>
            </a:r>
          </a:p>
        </p:txBody>
      </p:sp>
      <p:sp>
        <p:nvSpPr>
          <p:cNvPr id="2103853848" name="TextBox 2103853847"/>
          <p:cNvSpPr txBox="1"/>
          <p:nvPr/>
        </p:nvSpPr>
        <p:spPr>
          <a:xfrm>
            <a:off x="960120" y="4242816"/>
            <a:ext cx="489204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별도 기한보다 지속적인 개선과 복습에 목적</a:t>
            </a:r>
          </a:p>
        </p:txBody>
      </p:sp>
      <p:sp>
        <p:nvSpPr>
          <p:cNvPr id="2103853849" name="TextBox 2103853848"/>
          <p:cNvSpPr txBox="1"/>
          <p:nvPr/>
        </p:nvSpPr>
        <p:spPr>
          <a:xfrm>
            <a:off x="6217920" y="288036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개선 방향</a:t>
            </a:r>
          </a:p>
        </p:txBody>
      </p:sp>
      <p:sp>
        <p:nvSpPr>
          <p:cNvPr id="2103853850" name="TextBox 2103853849"/>
          <p:cNvSpPr txBox="1"/>
          <p:nvPr/>
        </p:nvSpPr>
        <p:spPr>
          <a:xfrm>
            <a:off x="6263640" y="3291840"/>
            <a:ext cx="489204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단순 CRUD 중심에서 권한·결재 구조를 분리</a:t>
            </a:r>
          </a:p>
        </p:txBody>
      </p:sp>
      <p:sp>
        <p:nvSpPr>
          <p:cNvPr id="2103853851" name="TextBox 2103853850"/>
          <p:cNvSpPr txBox="1"/>
          <p:nvPr/>
        </p:nvSpPr>
        <p:spPr>
          <a:xfrm>
            <a:off x="6263640" y="3767328"/>
            <a:ext cx="489204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반복되는 입력 검증과 팝업 호출을 공통 함수로 정리</a:t>
            </a:r>
          </a:p>
        </p:txBody>
      </p:sp>
      <p:sp>
        <p:nvSpPr>
          <p:cNvPr id="2103853852" name="TextBox 2103853851"/>
          <p:cNvSpPr txBox="1"/>
          <p:nvPr/>
        </p:nvSpPr>
        <p:spPr>
          <a:xfrm>
            <a:off x="6263640" y="4242816"/>
            <a:ext cx="489204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DB 구조와 요청 흐름을 직접 추적할 수 있도록 코드 정리</a:t>
            </a:r>
          </a:p>
        </p:txBody>
      </p:sp>
      <p:sp>
        <p:nvSpPr>
          <p:cNvPr id="2103853853" name="Rounded Rectangle 2103853852"/>
          <p:cNvSpPr/>
          <p:nvPr/>
        </p:nvSpPr>
        <p:spPr>
          <a:xfrm>
            <a:off x="914400" y="5349240"/>
            <a:ext cx="1014984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5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커리어 초기에 만든 결과물을 현재의 실무 관점으로 다시 바라보고 개선했다는 점에 의미를 두었습니다.</a:t>
            </a:r>
          </a:p>
        </p:txBody>
      </p:sp>
      <p:grpSp>
        <p:nvGrpSpPr>
          <p:cNvPr id="2" name="그룹 22">
            <a:extLst>
              <a:ext uri="{FF2B5EF4-FFF2-40B4-BE49-F238E27FC236}">
                <a16:creationId xmlns:a16="http://schemas.microsoft.com/office/drawing/2014/main" id="{81AEB4CB-1631-F7BB-50F4-5E2F04DF8C72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3" name="Straight Connector 24">
              <a:extLst>
                <a:ext uri="{FF2B5EF4-FFF2-40B4-BE49-F238E27FC236}">
                  <a16:creationId xmlns:a16="http://schemas.microsoft.com/office/drawing/2014/main" id="{D2075D2B-917D-E675-B73C-22870B2F1800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Group 65">
              <a:extLst>
                <a:ext uri="{FF2B5EF4-FFF2-40B4-BE49-F238E27FC236}">
                  <a16:creationId xmlns:a16="http://schemas.microsoft.com/office/drawing/2014/main" id="{F8CED50C-F1CC-44E4-AF26-97FA56BA2D93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제작 동기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CB80BF6-B15F-08A3-3711-3BAB26AA1241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6" name="Rectangle 21">
                <a:extLst>
                  <a:ext uri="{FF2B5EF4-FFF2-40B4-BE49-F238E27FC236}">
                    <a16:creationId xmlns:a16="http://schemas.microsoft.com/office/drawing/2014/main" id="{128B0573-3EA1-B874-4ECD-CCB6940BFE6B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7" name="Rectangle 22">
                <a:extLst>
                  <a:ext uri="{FF2B5EF4-FFF2-40B4-BE49-F238E27FC236}">
                    <a16:creationId xmlns:a16="http://schemas.microsoft.com/office/drawing/2014/main" id="{6CCF4AAE-56EA-92CE-22FA-8274DC4A40F2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8" name="Rectangle 23">
                <a:extLst>
                  <a:ext uri="{FF2B5EF4-FFF2-40B4-BE49-F238E27FC236}">
                    <a16:creationId xmlns:a16="http://schemas.microsoft.com/office/drawing/2014/main" id="{338E2B0F-3042-EB2E-816D-E1C34A3289A7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6604A27-81D5-A244-7AD6-9DD6F7A4119A}"/>
              </a:ext>
            </a:extLst>
          </p:cNvPr>
          <p:cNvSpPr txBox="1"/>
          <p:nvPr/>
        </p:nvSpPr>
        <p:spPr bwMode="auto">
          <a:xfrm>
            <a:off x="896112" y="210592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팀 프로젝트를 실무 경험 이후 다시 설계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·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개선한 장기 개인 리팩터링 프로젝트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3259970" name="Object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73445" y="0"/>
            <a:ext cx="7118555" cy="6874587"/>
          </a:xfrm>
          <a:prstGeom prst="rect">
            <a:avLst/>
          </a:prstGeom>
        </p:spPr>
      </p:pic>
      <p:sp>
        <p:nvSpPr>
          <p:cNvPr id="1564375363" name="Group 13"/>
          <p:cNvSpPr txBox="1"/>
          <p:nvPr/>
        </p:nvSpPr>
        <p:spPr bwMode="auto">
          <a:xfrm>
            <a:off x="452194" y="2462907"/>
            <a:ext cx="5967286" cy="178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ko-KR" sz="6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02. 환경 및 설계</a:t>
            </a:r>
            <a:endParaRPr sz="6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endParaRPr sz="1200">
              <a:solidFill>
                <a:schemeClr val="bg1">
                  <a:lumMod val="6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>
                <a:solidFill>
                  <a:schemeClr val="bg1">
                    <a:lumMod val="6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PROJECT</a:t>
            </a:r>
            <a:endParaRPr sz="7200" spc="-150">
              <a:ln w="47625">
                <a:noFill/>
              </a:ln>
              <a:solidFill>
                <a:schemeClr val="bg1">
                  <a:lumMod val="6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2800" spc="-150">
                <a:ln w="47625"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INTR</a:t>
            </a:r>
            <a:endParaRPr sz="7200" spc="-150">
              <a:ln w="47625"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cxnSp>
        <p:nvCxnSpPr>
          <p:cNvPr id="1233989414" name="직선 연결선 4"/>
          <p:cNvCxnSpPr/>
          <p:nvPr/>
        </p:nvCxnSpPr>
        <p:spPr bwMode="auto">
          <a:xfrm>
            <a:off x="589644" y="3240019"/>
            <a:ext cx="4339771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8580584" name="직선 연결선 5"/>
          <p:cNvCxnSpPr/>
          <p:nvPr/>
        </p:nvCxnSpPr>
        <p:spPr bwMode="auto">
          <a:xfrm>
            <a:off x="576363" y="3267451"/>
            <a:ext cx="1701800" cy="0"/>
          </a:xfrm>
          <a:prstGeom prst="line">
            <a:avLst/>
          </a:prstGeom>
          <a:ln w="38100">
            <a:solidFill>
              <a:srgbClr val="012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86074" name="직사각형 5"/>
          <p:cNvSpPr/>
          <p:nvPr/>
        </p:nvSpPr>
        <p:spPr bwMode="auto">
          <a:xfrm>
            <a:off x="0" y="0"/>
            <a:ext cx="495705" cy="6857998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593818612" name="직사각형 2"/>
          <p:cNvSpPr/>
          <p:nvPr/>
        </p:nvSpPr>
        <p:spPr bwMode="auto">
          <a:xfrm>
            <a:off x="749808" y="339584"/>
            <a:ext cx="11046723" cy="681503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598467405" name="직선 연결선 3"/>
          <p:cNvCxnSpPr/>
          <p:nvPr/>
        </p:nvCxnSpPr>
        <p:spPr bwMode="auto">
          <a:xfrm>
            <a:off x="749808" y="339584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0973234" name="TextBox 73"/>
          <p:cNvSpPr txBox="1"/>
          <p:nvPr/>
        </p:nvSpPr>
        <p:spPr bwMode="auto">
          <a:xfrm>
            <a:off x="749808" y="339584"/>
            <a:ext cx="2390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개발 환경</a:t>
            </a:r>
          </a:p>
        </p:txBody>
      </p:sp>
      <p:graphicFrame>
        <p:nvGraphicFramePr>
          <p:cNvPr id="999891129" name="표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2477295"/>
              </p:ext>
            </p:extLst>
          </p:nvPr>
        </p:nvGraphicFramePr>
        <p:xfrm>
          <a:off x="872476" y="2112291"/>
          <a:ext cx="10924052" cy="3564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sz="1000" b="1" spc="-148">
                          <a:solidFill>
                            <a:schemeClr val="bg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구분</a:t>
                      </a:r>
                      <a:endParaRPr sz="1000" b="1" spc="-148">
                        <a:solidFill>
                          <a:schemeClr val="bg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28575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sz="1000" b="1" spc="-148">
                          <a:solidFill>
                            <a:schemeClr val="bg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기술 / 도구</a:t>
                      </a:r>
                      <a:endParaRPr sz="1000" b="1" spc="-148">
                        <a:solidFill>
                          <a:schemeClr val="bg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28575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sz="10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Language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Java 8, HTML5, CSS3, JavaScript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Framework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Spring MVC 3.1.1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View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JSP, JSTL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Data Access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MyBatis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Database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Oracle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Server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Apache Tomcat 9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Editor / Library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CKEditor 4, PDF.js, FullCalendar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Build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Maven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Version Control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Git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sz="10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Tool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Eclipse</a:t>
                      </a:r>
                      <a:r>
                        <a:rPr lang="ko-KR"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, </a:t>
                      </a: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DBeaver</a:t>
                      </a:r>
                      <a:r>
                        <a:rPr lang="ko-KR"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,</a:t>
                      </a:r>
                      <a:r>
                        <a:rPr sz="1000" b="0" i="0" u="none">
                          <a:solidFill>
                            <a:srgbClr val="000000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rPr>
                        <a:t> Git</a:t>
                      </a:r>
                      <a:endParaRPr sz="10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G마켓 산스 TTF Light"/>
                      </a:endParaRPr>
                    </a:p>
                  </a:txBody>
                  <a:tcPr anchor="ctr">
                    <a:lnL w="9522" algn="ctr">
                      <a:solidFill>
                        <a:schemeClr val="bg1">
                          <a:lumMod val="85000"/>
                        </a:schemeClr>
                      </a:solidFill>
                    </a:lnL>
                    <a:lnR w="9522" algn="ctr">
                      <a:solidFill>
                        <a:schemeClr val="bg1">
                          <a:lumMod val="85000"/>
                        </a:schemeClr>
                      </a:solidFill>
                    </a:lnR>
                    <a:lnT w="9522" algn="ctr">
                      <a:solidFill>
                        <a:schemeClr val="bg1">
                          <a:lumMod val="85000"/>
                        </a:schemeClr>
                      </a:solidFill>
                    </a:lnT>
                    <a:lnB w="9522" algn="ctr">
                      <a:solidFill>
                        <a:schemeClr val="bg1">
                          <a:lumMod val="8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" name="그룹 22">
            <a:extLst>
              <a:ext uri="{FF2B5EF4-FFF2-40B4-BE49-F238E27FC236}">
                <a16:creationId xmlns:a16="http://schemas.microsoft.com/office/drawing/2014/main" id="{873ECEBA-4161-DBA9-2C95-86FBAAA7B9D8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3" name="Straight Connector 24">
              <a:extLst>
                <a:ext uri="{FF2B5EF4-FFF2-40B4-BE49-F238E27FC236}">
                  <a16:creationId xmlns:a16="http://schemas.microsoft.com/office/drawing/2014/main" id="{AE5028A1-E96C-5DC1-DDC2-93119B5FA8E7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Group 65">
              <a:extLst>
                <a:ext uri="{FF2B5EF4-FFF2-40B4-BE49-F238E27FC236}">
                  <a16:creationId xmlns:a16="http://schemas.microsoft.com/office/drawing/2014/main" id="{7FB59218-C082-921A-11F3-74CAADB9E7C6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개발 환경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456049D-4A21-00AB-6B24-18A7F1FA7CF8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6" name="Rectangle 21">
                <a:extLst>
                  <a:ext uri="{FF2B5EF4-FFF2-40B4-BE49-F238E27FC236}">
                    <a16:creationId xmlns:a16="http://schemas.microsoft.com/office/drawing/2014/main" id="{EDB34879-0191-8CCF-208D-440CBB5D07FF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KoPubWorld돋움체 Light"/>
                </a:endParaRPr>
              </a:p>
            </p:txBody>
          </p:sp>
          <p:sp>
            <p:nvSpPr>
              <p:cNvPr id="7" name="Rectangle 22">
                <a:extLst>
                  <a:ext uri="{FF2B5EF4-FFF2-40B4-BE49-F238E27FC236}">
                    <a16:creationId xmlns:a16="http://schemas.microsoft.com/office/drawing/2014/main" id="{20462A3D-B794-F96E-7EEE-98F214267A69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KoPubWorld돋움체 Light"/>
                </a:endParaRPr>
              </a:p>
            </p:txBody>
          </p:sp>
          <p:sp>
            <p:nvSpPr>
              <p:cNvPr id="8" name="Rectangle 23">
                <a:extLst>
                  <a:ext uri="{FF2B5EF4-FFF2-40B4-BE49-F238E27FC236}">
                    <a16:creationId xmlns:a16="http://schemas.microsoft.com/office/drawing/2014/main" id="{4B5C43CC-9C5A-92F0-4305-C177E837AB9A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KoPubWorld돋움체 Ligh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91202" name="직사각형 5"/>
          <p:cNvSpPr/>
          <p:nvPr/>
        </p:nvSpPr>
        <p:spPr bwMode="auto">
          <a:xfrm>
            <a:off x="0" y="0"/>
            <a:ext cx="495705" cy="6857998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1189726483" name="직사각형 2"/>
          <p:cNvSpPr/>
          <p:nvPr/>
        </p:nvSpPr>
        <p:spPr bwMode="auto">
          <a:xfrm>
            <a:off x="749808" y="339584"/>
            <a:ext cx="11046723" cy="681503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2102211565" name="직선 연결선 3"/>
          <p:cNvCxnSpPr/>
          <p:nvPr/>
        </p:nvCxnSpPr>
        <p:spPr bwMode="auto">
          <a:xfrm>
            <a:off x="749808" y="339584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7263599" name="TextBox 73"/>
          <p:cNvSpPr txBox="1"/>
          <p:nvPr/>
        </p:nvSpPr>
        <p:spPr bwMode="auto">
          <a:xfrm>
            <a:off x="749808" y="260677"/>
            <a:ext cx="1405000" cy="85921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ctr" anchorCtr="0" forceAA="0" compatLnSpc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ERD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9EB5FA4C-7035-678E-1066-F2D195BDD841}"/>
              </a:ext>
            </a:extLst>
          </p:cNvPr>
          <p:cNvSpPr/>
          <p:nvPr/>
        </p:nvSpPr>
        <p:spPr>
          <a:xfrm>
            <a:off x="884874" y="1914144"/>
            <a:ext cx="6448987" cy="3992134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8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D30A40-A1F7-460D-AF0F-C08DD78D24FE}"/>
              </a:ext>
            </a:extLst>
          </p:cNvPr>
          <p:cNvSpPr txBox="1"/>
          <p:nvPr/>
        </p:nvSpPr>
        <p:spPr>
          <a:xfrm>
            <a:off x="970005" y="2039484"/>
            <a:ext cx="704597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3769"/>
                </a:solidFill>
                <a:latin typeface="Malgun Gothic"/>
              </a:defRPr>
            </a:pPr>
            <a: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사용자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9AE75-5C18-F2B7-13B1-CA3DBA5DC1C6}"/>
              </a:ext>
            </a:extLst>
          </p:cNvPr>
          <p:cNvSpPr txBox="1"/>
          <p:nvPr/>
        </p:nvSpPr>
        <p:spPr>
          <a:xfrm>
            <a:off x="2883806" y="2039484"/>
            <a:ext cx="174465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3769"/>
                </a:solidFill>
                <a:latin typeface="Malgun Gothic"/>
              </a:defRPr>
            </a:pPr>
            <a: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권한 관리 (RBAC)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BFFBA1-44AC-1137-3233-6D1199F40A33}"/>
              </a:ext>
            </a:extLst>
          </p:cNvPr>
          <p:cNvSpPr txBox="1"/>
          <p:nvPr/>
        </p:nvSpPr>
        <p:spPr>
          <a:xfrm>
            <a:off x="4897318" y="2039484"/>
            <a:ext cx="55777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3769"/>
                </a:solidFill>
                <a:latin typeface="Malgun Gothic"/>
              </a:defRPr>
            </a:pPr>
            <a: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메뉴</a:t>
            </a:r>
          </a:p>
        </p:txBody>
      </p:sp>
      <p:sp>
        <p:nvSpPr>
          <p:cNvPr id="1189726500" name="TextBox 1189726499">
            <a:extLst>
              <a:ext uri="{FF2B5EF4-FFF2-40B4-BE49-F238E27FC236}">
                <a16:creationId xmlns:a16="http://schemas.microsoft.com/office/drawing/2014/main" id="{2B867787-0F31-14FA-E1DE-64EA71A4742A}"/>
              </a:ext>
            </a:extLst>
          </p:cNvPr>
          <p:cNvSpPr txBox="1"/>
          <p:nvPr/>
        </p:nvSpPr>
        <p:spPr bwMode="auto">
          <a:xfrm>
            <a:off x="914399" y="6189007"/>
            <a:ext cx="1088213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참고 사항  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</a:t>
            </a:r>
            <a:r>
              <a:rPr lang="ko-KR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전체 테이블 및 컬럼 정의는 </a:t>
            </a:r>
            <a:r>
              <a:rPr lang="ko-KR" altLang="ko-KR" sz="1300" b="1">
                <a:solidFill>
                  <a:srgbClr val="123769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hlinkClick r:id="rId3"/>
              </a:rPr>
              <a:t>GitHub 테이블 설계서</a:t>
            </a:r>
            <a:r>
              <a:rPr lang="ko-KR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참고해 주세요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  <a:endParaRPr sz="1400">
              <a:solidFill>
                <a:srgbClr val="5A5A5A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grpSp>
        <p:nvGrpSpPr>
          <p:cNvPr id="2" name="그룹 22">
            <a:extLst>
              <a:ext uri="{FF2B5EF4-FFF2-40B4-BE49-F238E27FC236}">
                <a16:creationId xmlns:a16="http://schemas.microsoft.com/office/drawing/2014/main" id="{E766A322-B25B-C0D3-32ED-D3243E3BCEDB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3" name="Straight Connector 24">
              <a:extLst>
                <a:ext uri="{FF2B5EF4-FFF2-40B4-BE49-F238E27FC236}">
                  <a16:creationId xmlns:a16="http://schemas.microsoft.com/office/drawing/2014/main" id="{7ACC7FCD-7A63-9C2C-7AA5-6A356CFE13E5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Group 65">
              <a:extLst>
                <a:ext uri="{FF2B5EF4-FFF2-40B4-BE49-F238E27FC236}">
                  <a16:creationId xmlns:a16="http://schemas.microsoft.com/office/drawing/2014/main" id="{A19188D5-F178-A632-F370-8AD14C00E39B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주요 </a:t>
              </a:r>
              <a:r>
                <a:rPr lang="en-US" altLang="ko-KR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 </a:t>
              </a: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설계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3126798-3E16-F39D-5576-E9CB5A3A5ACD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6" name="Rectangle 21">
                <a:extLst>
                  <a:ext uri="{FF2B5EF4-FFF2-40B4-BE49-F238E27FC236}">
                    <a16:creationId xmlns:a16="http://schemas.microsoft.com/office/drawing/2014/main" id="{57128F0C-9C6C-F55B-DA8F-10AAF5A9CF67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KoPubWorld돋움체 Light"/>
                </a:endParaRPr>
              </a:p>
            </p:txBody>
          </p:sp>
          <p:sp>
            <p:nvSpPr>
              <p:cNvPr id="7" name="Rectangle 22">
                <a:extLst>
                  <a:ext uri="{FF2B5EF4-FFF2-40B4-BE49-F238E27FC236}">
                    <a16:creationId xmlns:a16="http://schemas.microsoft.com/office/drawing/2014/main" id="{C7BE4D6E-3E88-47F9-D89C-22AD03784321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KoPubWorld돋움체 Light"/>
                </a:endParaRPr>
              </a:p>
            </p:txBody>
          </p:sp>
          <p:sp>
            <p:nvSpPr>
              <p:cNvPr id="8" name="Rectangle 23">
                <a:extLst>
                  <a:ext uri="{FF2B5EF4-FFF2-40B4-BE49-F238E27FC236}">
                    <a16:creationId xmlns:a16="http://schemas.microsoft.com/office/drawing/2014/main" id="{76E65431-8C98-4A4B-4654-7A7A61702A66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KoPubWorld돋움체 Light"/>
                </a:endParaRPr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40FB54E-75AC-EF9B-4DED-E66EA363BC0D}"/>
              </a:ext>
            </a:extLst>
          </p:cNvPr>
          <p:cNvGrpSpPr/>
          <p:nvPr/>
        </p:nvGrpSpPr>
        <p:grpSpPr>
          <a:xfrm>
            <a:off x="985210" y="2373913"/>
            <a:ext cx="1874519" cy="1649841"/>
            <a:chOff x="1171828" y="2541869"/>
            <a:chExt cx="1874519" cy="1649841"/>
          </a:xfrm>
        </p:grpSpPr>
        <p:grpSp>
          <p:nvGrpSpPr>
            <p:cNvPr id="1189726501" name="그룹 1189726500">
              <a:extLst>
                <a:ext uri="{FF2B5EF4-FFF2-40B4-BE49-F238E27FC236}">
                  <a16:creationId xmlns:a16="http://schemas.microsoft.com/office/drawing/2014/main" id="{DDC70745-DD0D-8250-9373-3FE200E52DE7}"/>
                </a:ext>
              </a:extLst>
            </p:cNvPr>
            <p:cNvGrpSpPr/>
            <p:nvPr/>
          </p:nvGrpSpPr>
          <p:grpSpPr>
            <a:xfrm>
              <a:off x="1171828" y="2541869"/>
              <a:ext cx="1874519" cy="1628865"/>
              <a:chOff x="914399" y="1606085"/>
              <a:chExt cx="1874519" cy="1628865"/>
            </a:xfrm>
          </p:grpSpPr>
          <p:sp>
            <p:nvSpPr>
              <p:cNvPr id="35" name="Rectangle 28">
                <a:extLst>
                  <a:ext uri="{FF2B5EF4-FFF2-40B4-BE49-F238E27FC236}">
                    <a16:creationId xmlns:a16="http://schemas.microsoft.com/office/drawing/2014/main" id="{255A0865-343A-BEB0-CD6E-481B4F9DF412}"/>
                  </a:ext>
                </a:extLst>
              </p:cNvPr>
              <p:cNvSpPr/>
              <p:nvPr/>
            </p:nvSpPr>
            <p:spPr>
              <a:xfrm>
                <a:off x="914400" y="1606085"/>
                <a:ext cx="1874518" cy="1628865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36" name="Rectangle 29">
                <a:extLst>
                  <a:ext uri="{FF2B5EF4-FFF2-40B4-BE49-F238E27FC236}">
                    <a16:creationId xmlns:a16="http://schemas.microsoft.com/office/drawing/2014/main" id="{55CEFAA9-429B-07BB-2E34-EE08EECD378B}"/>
                  </a:ext>
                </a:extLst>
              </p:cNvPr>
              <p:cNvSpPr/>
              <p:nvPr/>
            </p:nvSpPr>
            <p:spPr>
              <a:xfrm>
                <a:off x="914399" y="1606085"/>
                <a:ext cx="1874518" cy="256032"/>
              </a:xfrm>
              <a:prstGeom prst="rect">
                <a:avLst/>
              </a:prstGeom>
              <a:solidFill>
                <a:srgbClr val="D3E8F7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7A55442-698B-2476-159E-B709ED466139}"/>
                  </a:ext>
                </a:extLst>
              </p:cNvPr>
              <p:cNvSpPr txBox="1"/>
              <p:nvPr/>
            </p:nvSpPr>
            <p:spPr>
              <a:xfrm>
                <a:off x="978408" y="1615228"/>
                <a:ext cx="1655064" cy="2377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950" b="1">
                    <a:solidFill>
                      <a:srgbClr val="123769"/>
                    </a:solidFill>
                    <a:latin typeface="Arial"/>
                  </a:defRPr>
                </a:pP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▦  EMP_INFO</a:t>
                </a:r>
              </a:p>
            </p:txBody>
          </p:sp>
        </p:grpSp>
        <p:graphicFrame>
          <p:nvGraphicFramePr>
            <p:cNvPr id="10" name="표 16">
              <a:extLst>
                <a:ext uri="{FF2B5EF4-FFF2-40B4-BE49-F238E27FC236}">
                  <a16:creationId xmlns:a16="http://schemas.microsoft.com/office/drawing/2014/main" id="{E9659031-F8C8-F393-E831-11ED1FE81E4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08586628"/>
                </p:ext>
              </p:extLst>
            </p:nvPr>
          </p:nvGraphicFramePr>
          <p:xfrm>
            <a:off x="1335433" y="2902987"/>
            <a:ext cx="1453776" cy="990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7206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170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EMP_IDX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FK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ORG_CD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0244464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FK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RANK_CD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9497572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EMP_NM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904955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EMP_ID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9473486"/>
                    </a:ext>
                  </a:extLst>
                </a:tr>
              </a:tbl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D2F72F-1F2A-D1F5-B29D-2E4D9BF4730D}"/>
                </a:ext>
              </a:extLst>
            </p:cNvPr>
            <p:cNvSpPr txBox="1"/>
            <p:nvPr/>
          </p:nvSpPr>
          <p:spPr>
            <a:xfrm>
              <a:off x="1879441" y="3883933"/>
              <a:ext cx="36576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400" b="1">
                  <a:solidFill>
                    <a:srgbClr val="232D3C"/>
                  </a:solidFill>
                  <a:latin typeface="Malgun Gothic"/>
                </a:defRPr>
              </a:pPr>
              <a:r>
                <a:rPr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⋮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13B838A-A7AD-2546-708F-D8FCA0C04B2F}"/>
              </a:ext>
            </a:extLst>
          </p:cNvPr>
          <p:cNvGrpSpPr/>
          <p:nvPr/>
        </p:nvGrpSpPr>
        <p:grpSpPr>
          <a:xfrm>
            <a:off x="984192" y="4298716"/>
            <a:ext cx="1874519" cy="1440000"/>
            <a:chOff x="3178377" y="2448559"/>
            <a:chExt cx="1874519" cy="1440000"/>
          </a:xfrm>
        </p:grpSpPr>
        <p:grpSp>
          <p:nvGrpSpPr>
            <p:cNvPr id="1189726502" name="그룹 1189726501">
              <a:extLst>
                <a:ext uri="{FF2B5EF4-FFF2-40B4-BE49-F238E27FC236}">
                  <a16:creationId xmlns:a16="http://schemas.microsoft.com/office/drawing/2014/main" id="{B59A73DC-D89B-971E-07D3-A84B1FDEBDAE}"/>
                </a:ext>
              </a:extLst>
            </p:cNvPr>
            <p:cNvGrpSpPr/>
            <p:nvPr/>
          </p:nvGrpSpPr>
          <p:grpSpPr>
            <a:xfrm>
              <a:off x="3178377" y="2448559"/>
              <a:ext cx="1874519" cy="1440000"/>
              <a:chOff x="914399" y="1606085"/>
              <a:chExt cx="1874519" cy="1440000"/>
            </a:xfrm>
          </p:grpSpPr>
          <p:sp>
            <p:nvSpPr>
              <p:cNvPr id="1189726503" name="Rectangle 28">
                <a:extLst>
                  <a:ext uri="{FF2B5EF4-FFF2-40B4-BE49-F238E27FC236}">
                    <a16:creationId xmlns:a16="http://schemas.microsoft.com/office/drawing/2014/main" id="{DF9D7890-100E-A05E-EC8C-F452A5E2BECB}"/>
                  </a:ext>
                </a:extLst>
              </p:cNvPr>
              <p:cNvSpPr/>
              <p:nvPr/>
            </p:nvSpPr>
            <p:spPr>
              <a:xfrm>
                <a:off x="914400" y="1606085"/>
                <a:ext cx="1874518" cy="1440000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189726504" name="Rectangle 29">
                <a:extLst>
                  <a:ext uri="{FF2B5EF4-FFF2-40B4-BE49-F238E27FC236}">
                    <a16:creationId xmlns:a16="http://schemas.microsoft.com/office/drawing/2014/main" id="{5486FBA4-F417-4717-247E-6D256B640AFF}"/>
                  </a:ext>
                </a:extLst>
              </p:cNvPr>
              <p:cNvSpPr/>
              <p:nvPr/>
            </p:nvSpPr>
            <p:spPr>
              <a:xfrm>
                <a:off x="914399" y="1606085"/>
                <a:ext cx="1874518" cy="256032"/>
              </a:xfrm>
              <a:prstGeom prst="rect">
                <a:avLst/>
              </a:prstGeom>
              <a:solidFill>
                <a:srgbClr val="D3E8F7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189726505" name="TextBox 1189726504">
                <a:extLst>
                  <a:ext uri="{FF2B5EF4-FFF2-40B4-BE49-F238E27FC236}">
                    <a16:creationId xmlns:a16="http://schemas.microsoft.com/office/drawing/2014/main" id="{067B41E2-A4D6-6657-C207-C0508FFB0BF7}"/>
                  </a:ext>
                </a:extLst>
              </p:cNvPr>
              <p:cNvSpPr txBox="1"/>
              <p:nvPr/>
            </p:nvSpPr>
            <p:spPr>
              <a:xfrm>
                <a:off x="978408" y="1615228"/>
                <a:ext cx="1655064" cy="2377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950" b="1">
                    <a:solidFill>
                      <a:srgbClr val="123769"/>
                    </a:solidFill>
                    <a:latin typeface="Arial"/>
                  </a:defRPr>
                </a:pP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▦  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EMP_ROLE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aphicFrame>
          <p:nvGraphicFramePr>
            <p:cNvPr id="23" name="표 16">
              <a:extLst>
                <a:ext uri="{FF2B5EF4-FFF2-40B4-BE49-F238E27FC236}">
                  <a16:creationId xmlns:a16="http://schemas.microsoft.com/office/drawing/2014/main" id="{F374B222-3F36-CD81-BC7D-134160CF849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41941251"/>
                </p:ext>
              </p:extLst>
            </p:nvPr>
          </p:nvGraphicFramePr>
          <p:xfrm>
            <a:off x="3333303" y="2802688"/>
            <a:ext cx="1453776" cy="990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7206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170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ROLE_CD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EMP_IDX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0244464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USE_YN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9497572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DISP_ORDER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904955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REMARK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9473486"/>
                    </a:ext>
                  </a:extLst>
                </a:tr>
              </a:tbl>
            </a:graphicData>
          </a:graphic>
        </p:graphicFrame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7447773-8A42-1B5D-8BC4-761F57B24D43}"/>
              </a:ext>
            </a:extLst>
          </p:cNvPr>
          <p:cNvGrpSpPr/>
          <p:nvPr/>
        </p:nvGrpSpPr>
        <p:grpSpPr>
          <a:xfrm>
            <a:off x="5012964" y="2373913"/>
            <a:ext cx="1874519" cy="1649841"/>
            <a:chOff x="1171828" y="2541869"/>
            <a:chExt cx="1874519" cy="1649841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C595734-562F-9EEF-1DB2-0D3F4118C11F}"/>
                </a:ext>
              </a:extLst>
            </p:cNvPr>
            <p:cNvGrpSpPr/>
            <p:nvPr/>
          </p:nvGrpSpPr>
          <p:grpSpPr>
            <a:xfrm>
              <a:off x="1171828" y="2541869"/>
              <a:ext cx="1874519" cy="1628865"/>
              <a:chOff x="914399" y="1606085"/>
              <a:chExt cx="1874519" cy="1628865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459AA4A-C842-85BA-4CD9-AE4D31D9928B}"/>
                  </a:ext>
                </a:extLst>
              </p:cNvPr>
              <p:cNvSpPr/>
              <p:nvPr/>
            </p:nvSpPr>
            <p:spPr>
              <a:xfrm>
                <a:off x="914400" y="1606085"/>
                <a:ext cx="1874518" cy="1628865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76D4730-CA84-B5F0-7C64-DF1AC063FB69}"/>
                  </a:ext>
                </a:extLst>
              </p:cNvPr>
              <p:cNvSpPr/>
              <p:nvPr/>
            </p:nvSpPr>
            <p:spPr>
              <a:xfrm>
                <a:off x="914399" y="1606085"/>
                <a:ext cx="1874518" cy="256032"/>
              </a:xfrm>
              <a:prstGeom prst="rect">
                <a:avLst/>
              </a:prstGeom>
              <a:solidFill>
                <a:srgbClr val="D3E8F7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269115A-896E-FCD2-5928-2E92CBA5A308}"/>
                  </a:ext>
                </a:extLst>
              </p:cNvPr>
              <p:cNvSpPr txBox="1"/>
              <p:nvPr/>
            </p:nvSpPr>
            <p:spPr>
              <a:xfrm>
                <a:off x="978408" y="1615228"/>
                <a:ext cx="1655064" cy="2377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950" b="1">
                    <a:solidFill>
                      <a:srgbClr val="123769"/>
                    </a:solidFill>
                    <a:latin typeface="Arial"/>
                  </a:defRPr>
                </a:pP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▦  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MENU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aphicFrame>
          <p:nvGraphicFramePr>
            <p:cNvPr id="27" name="표 16">
              <a:extLst>
                <a:ext uri="{FF2B5EF4-FFF2-40B4-BE49-F238E27FC236}">
                  <a16:creationId xmlns:a16="http://schemas.microsoft.com/office/drawing/2014/main" id="{103A57B7-4975-4EF1-C05C-6A1FDD2078A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04378300"/>
                </p:ext>
              </p:extLst>
            </p:nvPr>
          </p:nvGraphicFramePr>
          <p:xfrm>
            <a:off x="1335433" y="2902987"/>
            <a:ext cx="1555468" cy="990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980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15737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MENU_CD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MENUTYPE_CD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0244464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MENU_NM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9497572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UPPER_MENU_CD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904955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MAPPING_ID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9473486"/>
                    </a:ext>
                  </a:extLst>
                </a:tr>
              </a:tbl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C7C5EA6-443C-0E1F-0CB5-E39ACDEA2BA6}"/>
                </a:ext>
              </a:extLst>
            </p:cNvPr>
            <p:cNvSpPr txBox="1"/>
            <p:nvPr/>
          </p:nvSpPr>
          <p:spPr>
            <a:xfrm>
              <a:off x="1879441" y="3883933"/>
              <a:ext cx="36576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400" b="1">
                  <a:solidFill>
                    <a:srgbClr val="232D3C"/>
                  </a:solidFill>
                  <a:latin typeface="Malgun Gothic"/>
                </a:defRPr>
              </a:pPr>
              <a:r>
                <a:rPr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⋮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CB2A427-DD60-5E3E-C3BA-3E7877E1E178}"/>
              </a:ext>
            </a:extLst>
          </p:cNvPr>
          <p:cNvGrpSpPr/>
          <p:nvPr/>
        </p:nvGrpSpPr>
        <p:grpSpPr>
          <a:xfrm>
            <a:off x="5021277" y="4298716"/>
            <a:ext cx="1874519" cy="1440000"/>
            <a:chOff x="3178377" y="2448559"/>
            <a:chExt cx="1874519" cy="144000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BF3482A-AB56-E956-188A-95EBC5E094F6}"/>
                </a:ext>
              </a:extLst>
            </p:cNvPr>
            <p:cNvGrpSpPr/>
            <p:nvPr/>
          </p:nvGrpSpPr>
          <p:grpSpPr>
            <a:xfrm>
              <a:off x="3178377" y="2448559"/>
              <a:ext cx="1874519" cy="1440000"/>
              <a:chOff x="914399" y="1606085"/>
              <a:chExt cx="1874519" cy="1440000"/>
            </a:xfrm>
          </p:grpSpPr>
          <p:sp>
            <p:nvSpPr>
              <p:cNvPr id="38" name="Rectangle 28">
                <a:extLst>
                  <a:ext uri="{FF2B5EF4-FFF2-40B4-BE49-F238E27FC236}">
                    <a16:creationId xmlns:a16="http://schemas.microsoft.com/office/drawing/2014/main" id="{7BB4A835-0678-28D6-A150-D79A36D7CD34}"/>
                  </a:ext>
                </a:extLst>
              </p:cNvPr>
              <p:cNvSpPr/>
              <p:nvPr/>
            </p:nvSpPr>
            <p:spPr>
              <a:xfrm>
                <a:off x="914400" y="1606085"/>
                <a:ext cx="1874518" cy="1440000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39" name="Rectangle 29">
                <a:extLst>
                  <a:ext uri="{FF2B5EF4-FFF2-40B4-BE49-F238E27FC236}">
                    <a16:creationId xmlns:a16="http://schemas.microsoft.com/office/drawing/2014/main" id="{F12CED4A-C93A-294D-D885-CF1E567AD402}"/>
                  </a:ext>
                </a:extLst>
              </p:cNvPr>
              <p:cNvSpPr/>
              <p:nvPr/>
            </p:nvSpPr>
            <p:spPr>
              <a:xfrm>
                <a:off x="914399" y="1606085"/>
                <a:ext cx="1874518" cy="256032"/>
              </a:xfrm>
              <a:prstGeom prst="rect">
                <a:avLst/>
              </a:prstGeom>
              <a:solidFill>
                <a:srgbClr val="D3E8F7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8214583-491E-E82C-2073-DA1B2BFADF1B}"/>
                  </a:ext>
                </a:extLst>
              </p:cNvPr>
              <p:cNvSpPr txBox="1"/>
              <p:nvPr/>
            </p:nvSpPr>
            <p:spPr>
              <a:xfrm>
                <a:off x="978408" y="1615228"/>
                <a:ext cx="1655064" cy="2377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950" b="1">
                    <a:solidFill>
                      <a:srgbClr val="123769"/>
                    </a:solidFill>
                    <a:latin typeface="Arial"/>
                  </a:defRPr>
                </a:pP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▦  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MENU_ROLE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aphicFrame>
          <p:nvGraphicFramePr>
            <p:cNvPr id="34" name="표 16">
              <a:extLst>
                <a:ext uri="{FF2B5EF4-FFF2-40B4-BE49-F238E27FC236}">
                  <a16:creationId xmlns:a16="http://schemas.microsoft.com/office/drawing/2014/main" id="{864A1730-1254-8349-29E6-285C5783119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81729046"/>
                </p:ext>
              </p:extLst>
            </p:nvPr>
          </p:nvGraphicFramePr>
          <p:xfrm>
            <a:off x="3333303" y="2802688"/>
            <a:ext cx="1453776" cy="990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7206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170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ROLE_CD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MENU_CD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0244464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USE_YN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9497572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DISP_ORDER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904955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REMARK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9473486"/>
                    </a:ext>
                  </a:extLst>
                </a:tr>
              </a:tbl>
            </a:graphicData>
          </a:graphic>
        </p:graphicFrame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A9BB126-A226-FA2F-1D32-DCEDF156C83B}"/>
              </a:ext>
            </a:extLst>
          </p:cNvPr>
          <p:cNvGrpSpPr/>
          <p:nvPr/>
        </p:nvGrpSpPr>
        <p:grpSpPr>
          <a:xfrm>
            <a:off x="3004381" y="2373913"/>
            <a:ext cx="1874519" cy="1451636"/>
            <a:chOff x="1171828" y="2541869"/>
            <a:chExt cx="1874519" cy="1451636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3D6E4B14-5948-CC5A-E405-FFA7076CEB0E}"/>
                </a:ext>
              </a:extLst>
            </p:cNvPr>
            <p:cNvGrpSpPr/>
            <p:nvPr/>
          </p:nvGrpSpPr>
          <p:grpSpPr>
            <a:xfrm>
              <a:off x="1171828" y="2541869"/>
              <a:ext cx="1874519" cy="1451636"/>
              <a:chOff x="914399" y="1606085"/>
              <a:chExt cx="1874519" cy="1451636"/>
            </a:xfrm>
          </p:grpSpPr>
          <p:sp>
            <p:nvSpPr>
              <p:cNvPr id="52" name="Rectangle 28">
                <a:extLst>
                  <a:ext uri="{FF2B5EF4-FFF2-40B4-BE49-F238E27FC236}">
                    <a16:creationId xmlns:a16="http://schemas.microsoft.com/office/drawing/2014/main" id="{A9247E38-AC22-2FC9-647D-8274A20C2C4E}"/>
                  </a:ext>
                </a:extLst>
              </p:cNvPr>
              <p:cNvSpPr/>
              <p:nvPr/>
            </p:nvSpPr>
            <p:spPr>
              <a:xfrm>
                <a:off x="914400" y="1606086"/>
                <a:ext cx="1874518" cy="1451635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53" name="Rectangle 29">
                <a:extLst>
                  <a:ext uri="{FF2B5EF4-FFF2-40B4-BE49-F238E27FC236}">
                    <a16:creationId xmlns:a16="http://schemas.microsoft.com/office/drawing/2014/main" id="{2E8D50D0-36C9-67A9-E2DB-8D71D869E7BA}"/>
                  </a:ext>
                </a:extLst>
              </p:cNvPr>
              <p:cNvSpPr/>
              <p:nvPr/>
            </p:nvSpPr>
            <p:spPr>
              <a:xfrm>
                <a:off x="914399" y="1606085"/>
                <a:ext cx="1874518" cy="256032"/>
              </a:xfrm>
              <a:prstGeom prst="rect">
                <a:avLst/>
              </a:prstGeom>
              <a:solidFill>
                <a:srgbClr val="D3E8F7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79F616-EF82-9356-F65F-04C986C4FA0F}"/>
                  </a:ext>
                </a:extLst>
              </p:cNvPr>
              <p:cNvSpPr txBox="1"/>
              <p:nvPr/>
            </p:nvSpPr>
            <p:spPr>
              <a:xfrm>
                <a:off x="978408" y="1615228"/>
                <a:ext cx="1655064" cy="2377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950" b="1">
                    <a:solidFill>
                      <a:srgbClr val="123769"/>
                    </a:solidFill>
                    <a:latin typeface="Arial"/>
                  </a:defRPr>
                </a:pP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▦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  ROLE</a:t>
                </a:r>
              </a:p>
            </p:txBody>
          </p:sp>
        </p:grpSp>
        <p:graphicFrame>
          <p:nvGraphicFramePr>
            <p:cNvPr id="50" name="표 16">
              <a:extLst>
                <a:ext uri="{FF2B5EF4-FFF2-40B4-BE49-F238E27FC236}">
                  <a16:creationId xmlns:a16="http://schemas.microsoft.com/office/drawing/2014/main" id="{7690CA05-EA71-8855-F932-319C3A379CC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10344554"/>
                </p:ext>
              </p:extLst>
            </p:nvPr>
          </p:nvGraphicFramePr>
          <p:xfrm>
            <a:off x="1335433" y="2902987"/>
            <a:ext cx="1453776" cy="990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7206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170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ROLE_CD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ROLE_NM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0244464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USE_YN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9497572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DISP_ORDER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904955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REMARK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9473486"/>
                    </a:ext>
                  </a:extLst>
                </a:tr>
              </a:tbl>
            </a:graphicData>
          </a:graphic>
        </p:graphicFrame>
      </p:grpSp>
      <p:cxnSp>
        <p:nvCxnSpPr>
          <p:cNvPr id="100791171" name="연결선: 꺾임 100791170">
            <a:extLst>
              <a:ext uri="{FF2B5EF4-FFF2-40B4-BE49-F238E27FC236}">
                <a16:creationId xmlns:a16="http://schemas.microsoft.com/office/drawing/2014/main" id="{7372FEF4-2156-1BBC-05A8-BD0789529B78}"/>
              </a:ext>
            </a:extLst>
          </p:cNvPr>
          <p:cNvCxnSpPr>
            <a:cxnSpLocks/>
            <a:stCxn id="20" idx="2"/>
            <a:endCxn id="1189726505" idx="0"/>
          </p:cNvCxnSpPr>
          <p:nvPr/>
        </p:nvCxnSpPr>
        <p:spPr>
          <a:xfrm rot="16200000" flipH="1">
            <a:off x="1722718" y="4154844"/>
            <a:ext cx="306000" cy="30"/>
          </a:xfrm>
          <a:prstGeom prst="bentConnector3">
            <a:avLst/>
          </a:prstGeom>
          <a:ln w="19050">
            <a:solidFill>
              <a:srgbClr val="0042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91179" name="연결선: 꺾임 100791178">
            <a:extLst>
              <a:ext uri="{FF2B5EF4-FFF2-40B4-BE49-F238E27FC236}">
                <a16:creationId xmlns:a16="http://schemas.microsoft.com/office/drawing/2014/main" id="{31FAA632-B3C1-9C72-C35F-6D42E571CC89}"/>
              </a:ext>
            </a:extLst>
          </p:cNvPr>
          <p:cNvCxnSpPr>
            <a:cxnSpLocks/>
            <a:stCxn id="1189726503" idx="3"/>
          </p:cNvCxnSpPr>
          <p:nvPr/>
        </p:nvCxnSpPr>
        <p:spPr>
          <a:xfrm flipV="1">
            <a:off x="2858711" y="3834691"/>
            <a:ext cx="736064" cy="1184025"/>
          </a:xfrm>
          <a:prstGeom prst="bentConnector2">
            <a:avLst/>
          </a:prstGeom>
          <a:ln w="19050">
            <a:solidFill>
              <a:srgbClr val="00427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91186" name="연결선: 꺾임 100791185">
            <a:extLst>
              <a:ext uri="{FF2B5EF4-FFF2-40B4-BE49-F238E27FC236}">
                <a16:creationId xmlns:a16="http://schemas.microsoft.com/office/drawing/2014/main" id="{0C671AC9-E03C-2719-7A36-B2782BF2320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756350" y="4159604"/>
            <a:ext cx="306000" cy="30"/>
          </a:xfrm>
          <a:prstGeom prst="bentConnector3">
            <a:avLst/>
          </a:prstGeom>
          <a:ln w="19050">
            <a:solidFill>
              <a:srgbClr val="0042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91187" name="연결선: 꺾임 100791186">
            <a:extLst>
              <a:ext uri="{FF2B5EF4-FFF2-40B4-BE49-F238E27FC236}">
                <a16:creationId xmlns:a16="http://schemas.microsoft.com/office/drawing/2014/main" id="{1AD25F5B-5958-8105-543A-9557B896C04C}"/>
              </a:ext>
            </a:extLst>
          </p:cNvPr>
          <p:cNvCxnSpPr>
            <a:cxnSpLocks/>
            <a:stCxn id="38" idx="1"/>
          </p:cNvCxnSpPr>
          <p:nvPr/>
        </p:nvCxnSpPr>
        <p:spPr bwMode="auto">
          <a:xfrm rot="10800000">
            <a:off x="4171942" y="3834696"/>
            <a:ext cx="849337" cy="1184021"/>
          </a:xfrm>
          <a:prstGeom prst="bentConnector2">
            <a:avLst/>
          </a:prstGeom>
          <a:ln w="19050">
            <a:solidFill>
              <a:srgbClr val="00427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91208" name="Rounded Rectangle 4">
            <a:extLst>
              <a:ext uri="{FF2B5EF4-FFF2-40B4-BE49-F238E27FC236}">
                <a16:creationId xmlns:a16="http://schemas.microsoft.com/office/drawing/2014/main" id="{A5E3A2E3-34EF-59C6-DC7F-6A2F6C8BBDC0}"/>
              </a:ext>
            </a:extLst>
          </p:cNvPr>
          <p:cNvSpPr/>
          <p:nvPr/>
        </p:nvSpPr>
        <p:spPr bwMode="auto">
          <a:xfrm>
            <a:off x="7467926" y="1914144"/>
            <a:ext cx="4328605" cy="3992134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8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grpSp>
        <p:nvGrpSpPr>
          <p:cNvPr id="100791209" name="그룹 100791208">
            <a:extLst>
              <a:ext uri="{FF2B5EF4-FFF2-40B4-BE49-F238E27FC236}">
                <a16:creationId xmlns:a16="http://schemas.microsoft.com/office/drawing/2014/main" id="{DF66DD78-1633-A2FD-C6BF-EE7DB885C167}"/>
              </a:ext>
            </a:extLst>
          </p:cNvPr>
          <p:cNvGrpSpPr/>
          <p:nvPr/>
        </p:nvGrpSpPr>
        <p:grpSpPr>
          <a:xfrm>
            <a:off x="9690735" y="3737196"/>
            <a:ext cx="1883837" cy="2061367"/>
            <a:chOff x="9916200" y="3258621"/>
            <a:chExt cx="1883837" cy="2061367"/>
          </a:xfrm>
        </p:grpSpPr>
        <p:sp>
          <p:nvSpPr>
            <p:cNvPr id="100791210" name="Rectangle 168">
              <a:extLst>
                <a:ext uri="{FF2B5EF4-FFF2-40B4-BE49-F238E27FC236}">
                  <a16:creationId xmlns:a16="http://schemas.microsoft.com/office/drawing/2014/main" id="{E1E901D6-0FA5-3514-78A9-F445C9B05E05}"/>
                </a:ext>
              </a:extLst>
            </p:cNvPr>
            <p:cNvSpPr/>
            <p:nvPr/>
          </p:nvSpPr>
          <p:spPr bwMode="auto">
            <a:xfrm>
              <a:off x="9916200" y="3258621"/>
              <a:ext cx="1880330" cy="206136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5AAED5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100791211" name="TextBox 100791210">
              <a:extLst>
                <a:ext uri="{FF2B5EF4-FFF2-40B4-BE49-F238E27FC236}">
                  <a16:creationId xmlns:a16="http://schemas.microsoft.com/office/drawing/2014/main" id="{B5F5A8AB-8C6E-A0A8-6E2D-8543E25D2B35}"/>
                </a:ext>
              </a:extLst>
            </p:cNvPr>
            <p:cNvSpPr txBox="1"/>
            <p:nvPr/>
          </p:nvSpPr>
          <p:spPr bwMode="auto">
            <a:xfrm>
              <a:off x="10035072" y="3324412"/>
              <a:ext cx="1737360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100" b="1">
                  <a:solidFill>
                    <a:srgbClr val="123769"/>
                  </a:solidFill>
                  <a:latin typeface="Malgun Gothic"/>
                </a:defRPr>
              </a:pPr>
              <a:r>
                <a:rPr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업무별 상세 테이블</a:t>
              </a:r>
            </a:p>
          </p:txBody>
        </p:sp>
        <p:grpSp>
          <p:nvGrpSpPr>
            <p:cNvPr id="100791212" name="그룹 100791211">
              <a:extLst>
                <a:ext uri="{FF2B5EF4-FFF2-40B4-BE49-F238E27FC236}">
                  <a16:creationId xmlns:a16="http://schemas.microsoft.com/office/drawing/2014/main" id="{E2667656-726C-2CD0-6BD1-B73BAA10C2DA}"/>
                </a:ext>
              </a:extLst>
            </p:cNvPr>
            <p:cNvGrpSpPr/>
            <p:nvPr/>
          </p:nvGrpSpPr>
          <p:grpSpPr>
            <a:xfrm>
              <a:off x="10053359" y="3651813"/>
              <a:ext cx="1627631" cy="246888"/>
              <a:chOff x="10351941" y="3651813"/>
              <a:chExt cx="1627631" cy="246888"/>
            </a:xfrm>
          </p:grpSpPr>
          <p:sp>
            <p:nvSpPr>
              <p:cNvPr id="100791226" name="Rounded Rectangle 170">
                <a:extLst>
                  <a:ext uri="{FF2B5EF4-FFF2-40B4-BE49-F238E27FC236}">
                    <a16:creationId xmlns:a16="http://schemas.microsoft.com/office/drawing/2014/main" id="{AB584107-A692-FE24-6DEC-EC8628F941AC}"/>
                  </a:ext>
                </a:extLst>
              </p:cNvPr>
              <p:cNvSpPr/>
              <p:nvPr/>
            </p:nvSpPr>
            <p:spPr>
              <a:xfrm>
                <a:off x="10351941" y="3651813"/>
                <a:ext cx="1627631" cy="246888"/>
              </a:xfrm>
              <a:prstGeom prst="roundRect">
                <a:avLst/>
              </a:prstGeom>
              <a:solidFill>
                <a:srgbClr val="F6F6F6"/>
              </a:solidFill>
              <a:ln>
                <a:solidFill>
                  <a:srgbClr val="DCDC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00791227" name="TextBox 100791226">
                <a:extLst>
                  <a:ext uri="{FF2B5EF4-FFF2-40B4-BE49-F238E27FC236}">
                    <a16:creationId xmlns:a16="http://schemas.microsoft.com/office/drawing/2014/main" id="{FEF42EE9-E90C-54F9-0C71-2493397114D2}"/>
                  </a:ext>
                </a:extLst>
              </p:cNvPr>
              <p:cNvSpPr txBox="1"/>
              <p:nvPr/>
            </p:nvSpPr>
            <p:spPr>
              <a:xfrm>
                <a:off x="10406619" y="3688141"/>
                <a:ext cx="1563622" cy="20159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710" b="0">
                    <a:solidFill>
                      <a:srgbClr val="232D3C"/>
                    </a:solidFill>
                    <a:latin typeface="Arial"/>
                  </a:defRPr>
                </a:pPr>
                <a:r>
                  <a:rPr lang="ko-KR" alt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휴가 </a:t>
                </a:r>
                <a:r>
                  <a:rPr lang="en-US" altLang="ko-KR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(</a:t>
                </a: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APRV_REL_LEAV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)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pSp>
          <p:nvGrpSpPr>
            <p:cNvPr id="100791213" name="그룹 100791212">
              <a:extLst>
                <a:ext uri="{FF2B5EF4-FFF2-40B4-BE49-F238E27FC236}">
                  <a16:creationId xmlns:a16="http://schemas.microsoft.com/office/drawing/2014/main" id="{30B66ECF-C902-6006-71DC-B41812BB0699}"/>
                </a:ext>
              </a:extLst>
            </p:cNvPr>
            <p:cNvGrpSpPr/>
            <p:nvPr/>
          </p:nvGrpSpPr>
          <p:grpSpPr>
            <a:xfrm>
              <a:off x="10053359" y="4086153"/>
              <a:ext cx="1710678" cy="246888"/>
              <a:chOff x="10351941" y="3651813"/>
              <a:chExt cx="1710678" cy="246888"/>
            </a:xfrm>
          </p:grpSpPr>
          <p:sp>
            <p:nvSpPr>
              <p:cNvPr id="100791224" name="Rounded Rectangle 170">
                <a:extLst>
                  <a:ext uri="{FF2B5EF4-FFF2-40B4-BE49-F238E27FC236}">
                    <a16:creationId xmlns:a16="http://schemas.microsoft.com/office/drawing/2014/main" id="{784F2E41-9973-0F38-B2CB-3269071BD2A9}"/>
                  </a:ext>
                </a:extLst>
              </p:cNvPr>
              <p:cNvSpPr/>
              <p:nvPr/>
            </p:nvSpPr>
            <p:spPr>
              <a:xfrm>
                <a:off x="10351941" y="3651813"/>
                <a:ext cx="1627631" cy="246888"/>
              </a:xfrm>
              <a:prstGeom prst="roundRect">
                <a:avLst/>
              </a:prstGeom>
              <a:solidFill>
                <a:srgbClr val="F6F6F6"/>
              </a:solidFill>
              <a:ln>
                <a:solidFill>
                  <a:srgbClr val="DCDC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00791225" name="TextBox 100791224">
                <a:extLst>
                  <a:ext uri="{FF2B5EF4-FFF2-40B4-BE49-F238E27FC236}">
                    <a16:creationId xmlns:a16="http://schemas.microsoft.com/office/drawing/2014/main" id="{1A46BDB6-763D-2FF0-6699-04EEB51670B0}"/>
                  </a:ext>
                </a:extLst>
              </p:cNvPr>
              <p:cNvSpPr txBox="1"/>
              <p:nvPr/>
            </p:nvSpPr>
            <p:spPr>
              <a:xfrm>
                <a:off x="10406619" y="3688141"/>
                <a:ext cx="1656000" cy="20159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710" b="0">
                    <a:solidFill>
                      <a:srgbClr val="232D3C"/>
                    </a:solidFill>
                    <a:latin typeface="Arial"/>
                  </a:defRPr>
                </a:pPr>
                <a:r>
                  <a:rPr lang="ko-KR" alt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가지급 </a:t>
                </a:r>
                <a:r>
                  <a:rPr lang="en-US" altLang="ko-KR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(</a:t>
                </a: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APRV_REL_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EXP)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pSp>
          <p:nvGrpSpPr>
            <p:cNvPr id="100791214" name="그룹 100791213">
              <a:extLst>
                <a:ext uri="{FF2B5EF4-FFF2-40B4-BE49-F238E27FC236}">
                  <a16:creationId xmlns:a16="http://schemas.microsoft.com/office/drawing/2014/main" id="{F724F3B0-EC34-4D4F-1FB5-187D4B6F98D2}"/>
                </a:ext>
              </a:extLst>
            </p:cNvPr>
            <p:cNvGrpSpPr/>
            <p:nvPr/>
          </p:nvGrpSpPr>
          <p:grpSpPr>
            <a:xfrm>
              <a:off x="10053359" y="4520493"/>
              <a:ext cx="1746678" cy="246888"/>
              <a:chOff x="10351941" y="3651813"/>
              <a:chExt cx="1746678" cy="246888"/>
            </a:xfrm>
          </p:grpSpPr>
          <p:sp>
            <p:nvSpPr>
              <p:cNvPr id="100791222" name="Rounded Rectangle 170">
                <a:extLst>
                  <a:ext uri="{FF2B5EF4-FFF2-40B4-BE49-F238E27FC236}">
                    <a16:creationId xmlns:a16="http://schemas.microsoft.com/office/drawing/2014/main" id="{E2919BDB-FB2B-45D1-3C43-7B64499890D4}"/>
                  </a:ext>
                </a:extLst>
              </p:cNvPr>
              <p:cNvSpPr/>
              <p:nvPr/>
            </p:nvSpPr>
            <p:spPr>
              <a:xfrm>
                <a:off x="10351941" y="3651813"/>
                <a:ext cx="1627631" cy="246888"/>
              </a:xfrm>
              <a:prstGeom prst="roundRect">
                <a:avLst/>
              </a:prstGeom>
              <a:solidFill>
                <a:srgbClr val="F6F6F6"/>
              </a:solidFill>
              <a:ln>
                <a:solidFill>
                  <a:srgbClr val="DCDC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00791223" name="TextBox 100791222">
                <a:extLst>
                  <a:ext uri="{FF2B5EF4-FFF2-40B4-BE49-F238E27FC236}">
                    <a16:creationId xmlns:a16="http://schemas.microsoft.com/office/drawing/2014/main" id="{3E087523-6F85-3291-6694-7A35B284BE72}"/>
                  </a:ext>
                </a:extLst>
              </p:cNvPr>
              <p:cNvSpPr txBox="1"/>
              <p:nvPr/>
            </p:nvSpPr>
            <p:spPr>
              <a:xfrm>
                <a:off x="10406619" y="3688141"/>
                <a:ext cx="1692000" cy="20159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710" b="0">
                    <a:solidFill>
                      <a:srgbClr val="232D3C"/>
                    </a:solidFill>
                    <a:latin typeface="Arial"/>
                  </a:defRPr>
                </a:pPr>
                <a:r>
                  <a:rPr lang="ko-KR" alt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물품반출입 </a:t>
                </a:r>
                <a:r>
                  <a:rPr lang="en-US" altLang="ko-KR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(</a:t>
                </a: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APRV_REL_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ITEM)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pSp>
          <p:nvGrpSpPr>
            <p:cNvPr id="100791215" name="그룹 100791214">
              <a:extLst>
                <a:ext uri="{FF2B5EF4-FFF2-40B4-BE49-F238E27FC236}">
                  <a16:creationId xmlns:a16="http://schemas.microsoft.com/office/drawing/2014/main" id="{F8ABDC6D-130B-AA2C-B8EF-B66C7C3B2F7D}"/>
                </a:ext>
              </a:extLst>
            </p:cNvPr>
            <p:cNvGrpSpPr/>
            <p:nvPr/>
          </p:nvGrpSpPr>
          <p:grpSpPr>
            <a:xfrm>
              <a:off x="10053359" y="4954834"/>
              <a:ext cx="1746678" cy="246888"/>
              <a:chOff x="10351941" y="3651813"/>
              <a:chExt cx="1746678" cy="246888"/>
            </a:xfrm>
          </p:grpSpPr>
          <p:sp>
            <p:nvSpPr>
              <p:cNvPr id="100791216" name="Rounded Rectangle 170">
                <a:extLst>
                  <a:ext uri="{FF2B5EF4-FFF2-40B4-BE49-F238E27FC236}">
                    <a16:creationId xmlns:a16="http://schemas.microsoft.com/office/drawing/2014/main" id="{1AF1E3E2-6542-8066-A5F5-E65680516EA0}"/>
                  </a:ext>
                </a:extLst>
              </p:cNvPr>
              <p:cNvSpPr/>
              <p:nvPr/>
            </p:nvSpPr>
            <p:spPr>
              <a:xfrm>
                <a:off x="10351941" y="3651813"/>
                <a:ext cx="1627631" cy="246888"/>
              </a:xfrm>
              <a:prstGeom prst="roundRect">
                <a:avLst/>
              </a:prstGeom>
              <a:solidFill>
                <a:srgbClr val="F6F6F6"/>
              </a:solidFill>
              <a:ln>
                <a:solidFill>
                  <a:srgbClr val="DCDC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00791221" name="TextBox 100791220">
                <a:extLst>
                  <a:ext uri="{FF2B5EF4-FFF2-40B4-BE49-F238E27FC236}">
                    <a16:creationId xmlns:a16="http://schemas.microsoft.com/office/drawing/2014/main" id="{741C56D7-F859-2004-9888-FD88E702AF6C}"/>
                  </a:ext>
                </a:extLst>
              </p:cNvPr>
              <p:cNvSpPr txBox="1"/>
              <p:nvPr/>
            </p:nvSpPr>
            <p:spPr>
              <a:xfrm>
                <a:off x="10406619" y="3688141"/>
                <a:ext cx="1692000" cy="20159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710" b="0">
                    <a:solidFill>
                      <a:srgbClr val="232D3C"/>
                    </a:solidFill>
                    <a:latin typeface="Arial"/>
                  </a:defRPr>
                </a:pPr>
                <a:r>
                  <a:rPr lang="ko-KR" alt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정산내역 </a:t>
                </a:r>
                <a:r>
                  <a:rPr lang="en-US" altLang="ko-KR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(</a:t>
                </a: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APRV_REL_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CORP)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</p:grpSp>
      <p:sp>
        <p:nvSpPr>
          <p:cNvPr id="100791230" name="TextBox 100791229">
            <a:extLst>
              <a:ext uri="{FF2B5EF4-FFF2-40B4-BE49-F238E27FC236}">
                <a16:creationId xmlns:a16="http://schemas.microsoft.com/office/drawing/2014/main" id="{39CC6363-E4E3-98BC-634B-00548F672CF8}"/>
              </a:ext>
            </a:extLst>
          </p:cNvPr>
          <p:cNvSpPr txBox="1"/>
          <p:nvPr/>
        </p:nvSpPr>
        <p:spPr>
          <a:xfrm>
            <a:off x="7594260" y="2038703"/>
            <a:ext cx="887837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3769"/>
                </a:solidFill>
                <a:latin typeface="Malgun Gothic"/>
              </a:defRPr>
            </a:pPr>
            <a:r>
              <a:rPr lang="ko-KR" altLang="en-US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전자결재</a:t>
            </a:r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grpSp>
        <p:nvGrpSpPr>
          <p:cNvPr id="100791231" name="그룹 100791230">
            <a:extLst>
              <a:ext uri="{FF2B5EF4-FFF2-40B4-BE49-F238E27FC236}">
                <a16:creationId xmlns:a16="http://schemas.microsoft.com/office/drawing/2014/main" id="{C38B8D22-D22E-65F1-205B-8EE7C2A4DF0D}"/>
              </a:ext>
            </a:extLst>
          </p:cNvPr>
          <p:cNvGrpSpPr/>
          <p:nvPr/>
        </p:nvGrpSpPr>
        <p:grpSpPr>
          <a:xfrm>
            <a:off x="7575085" y="2368754"/>
            <a:ext cx="1874519" cy="1649841"/>
            <a:chOff x="1171828" y="2541869"/>
            <a:chExt cx="1874519" cy="1649841"/>
          </a:xfrm>
        </p:grpSpPr>
        <p:grpSp>
          <p:nvGrpSpPr>
            <p:cNvPr id="1189726464" name="그룹 1189726463">
              <a:extLst>
                <a:ext uri="{FF2B5EF4-FFF2-40B4-BE49-F238E27FC236}">
                  <a16:creationId xmlns:a16="http://schemas.microsoft.com/office/drawing/2014/main" id="{09CB54B6-ACF2-20AF-1814-5E946FC2BB98}"/>
                </a:ext>
              </a:extLst>
            </p:cNvPr>
            <p:cNvGrpSpPr/>
            <p:nvPr/>
          </p:nvGrpSpPr>
          <p:grpSpPr>
            <a:xfrm>
              <a:off x="1171828" y="2541869"/>
              <a:ext cx="1874519" cy="1628865"/>
              <a:chOff x="914399" y="1606085"/>
              <a:chExt cx="1874519" cy="1628865"/>
            </a:xfrm>
          </p:grpSpPr>
          <p:sp>
            <p:nvSpPr>
              <p:cNvPr id="1189726467" name="Rectangle 28">
                <a:extLst>
                  <a:ext uri="{FF2B5EF4-FFF2-40B4-BE49-F238E27FC236}">
                    <a16:creationId xmlns:a16="http://schemas.microsoft.com/office/drawing/2014/main" id="{1157F46A-12CA-D29D-249E-C3AF59A4D70E}"/>
                  </a:ext>
                </a:extLst>
              </p:cNvPr>
              <p:cNvSpPr/>
              <p:nvPr/>
            </p:nvSpPr>
            <p:spPr>
              <a:xfrm>
                <a:off x="914400" y="1606085"/>
                <a:ext cx="1874518" cy="1628865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189726468" name="Rectangle 29">
                <a:extLst>
                  <a:ext uri="{FF2B5EF4-FFF2-40B4-BE49-F238E27FC236}">
                    <a16:creationId xmlns:a16="http://schemas.microsoft.com/office/drawing/2014/main" id="{85DC2922-85D0-18CE-7281-091B8DAF0307}"/>
                  </a:ext>
                </a:extLst>
              </p:cNvPr>
              <p:cNvSpPr/>
              <p:nvPr/>
            </p:nvSpPr>
            <p:spPr>
              <a:xfrm>
                <a:off x="914399" y="1606085"/>
                <a:ext cx="1874518" cy="256032"/>
              </a:xfrm>
              <a:prstGeom prst="rect">
                <a:avLst/>
              </a:prstGeom>
              <a:solidFill>
                <a:srgbClr val="D3E8F7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189726469" name="TextBox 1189726468">
                <a:extLst>
                  <a:ext uri="{FF2B5EF4-FFF2-40B4-BE49-F238E27FC236}">
                    <a16:creationId xmlns:a16="http://schemas.microsoft.com/office/drawing/2014/main" id="{BC9A9C13-2E4D-9EAD-0A71-5887E5106562}"/>
                  </a:ext>
                </a:extLst>
              </p:cNvPr>
              <p:cNvSpPr txBox="1"/>
              <p:nvPr/>
            </p:nvSpPr>
            <p:spPr>
              <a:xfrm>
                <a:off x="978408" y="1615228"/>
                <a:ext cx="1655064" cy="2377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950" b="1">
                    <a:solidFill>
                      <a:srgbClr val="123769"/>
                    </a:solidFill>
                    <a:latin typeface="Arial"/>
                  </a:defRPr>
                </a:pP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▦  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APRV_MAST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aphicFrame>
          <p:nvGraphicFramePr>
            <p:cNvPr id="1189726465" name="표 16">
              <a:extLst>
                <a:ext uri="{FF2B5EF4-FFF2-40B4-BE49-F238E27FC236}">
                  <a16:creationId xmlns:a16="http://schemas.microsoft.com/office/drawing/2014/main" id="{9BDD33E9-E6B2-9BC2-C29A-2E0310D3205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94094145"/>
                </p:ext>
              </p:extLst>
            </p:nvPr>
          </p:nvGraphicFramePr>
          <p:xfrm>
            <a:off x="1335433" y="2902987"/>
            <a:ext cx="1555468" cy="990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980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15737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APRV_ID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APRV_TITLE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0244464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APRV_CONT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9497572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FK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TEMP_CD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904955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CURR_APRV_SNO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9473486"/>
                    </a:ext>
                  </a:extLst>
                </a:tr>
              </a:tbl>
            </a:graphicData>
          </a:graphic>
        </p:graphicFrame>
        <p:sp>
          <p:nvSpPr>
            <p:cNvPr id="1189726466" name="TextBox 1189726465">
              <a:extLst>
                <a:ext uri="{FF2B5EF4-FFF2-40B4-BE49-F238E27FC236}">
                  <a16:creationId xmlns:a16="http://schemas.microsoft.com/office/drawing/2014/main" id="{3F9A036D-E2DA-D5CD-992D-5B8065AB572C}"/>
                </a:ext>
              </a:extLst>
            </p:cNvPr>
            <p:cNvSpPr txBox="1"/>
            <p:nvPr/>
          </p:nvSpPr>
          <p:spPr>
            <a:xfrm>
              <a:off x="1879441" y="3883933"/>
              <a:ext cx="36576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400" b="1">
                  <a:solidFill>
                    <a:srgbClr val="232D3C"/>
                  </a:solidFill>
                  <a:latin typeface="Malgun Gothic"/>
                </a:defRPr>
              </a:pPr>
              <a:r>
                <a:rPr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⋮</a:t>
              </a:r>
            </a:p>
          </p:txBody>
        </p:sp>
      </p:grpSp>
      <p:grpSp>
        <p:nvGrpSpPr>
          <p:cNvPr id="1189726470" name="그룹 1189726469">
            <a:extLst>
              <a:ext uri="{FF2B5EF4-FFF2-40B4-BE49-F238E27FC236}">
                <a16:creationId xmlns:a16="http://schemas.microsoft.com/office/drawing/2014/main" id="{693A0731-D02E-868C-618A-5159AAB40FAE}"/>
              </a:ext>
            </a:extLst>
          </p:cNvPr>
          <p:cNvGrpSpPr/>
          <p:nvPr/>
        </p:nvGrpSpPr>
        <p:grpSpPr>
          <a:xfrm>
            <a:off x="7594260" y="4172854"/>
            <a:ext cx="1874519" cy="1649841"/>
            <a:chOff x="1171828" y="2541869"/>
            <a:chExt cx="1874519" cy="1649841"/>
          </a:xfrm>
        </p:grpSpPr>
        <p:grpSp>
          <p:nvGrpSpPr>
            <p:cNvPr id="1189726471" name="그룹 1189726470">
              <a:extLst>
                <a:ext uri="{FF2B5EF4-FFF2-40B4-BE49-F238E27FC236}">
                  <a16:creationId xmlns:a16="http://schemas.microsoft.com/office/drawing/2014/main" id="{C51243B1-BA68-A281-303B-A7098826C30A}"/>
                </a:ext>
              </a:extLst>
            </p:cNvPr>
            <p:cNvGrpSpPr/>
            <p:nvPr/>
          </p:nvGrpSpPr>
          <p:grpSpPr>
            <a:xfrm>
              <a:off x="1171828" y="2541869"/>
              <a:ext cx="1874519" cy="1628865"/>
              <a:chOff x="914399" y="1606085"/>
              <a:chExt cx="1874519" cy="1628865"/>
            </a:xfrm>
          </p:grpSpPr>
          <p:sp>
            <p:nvSpPr>
              <p:cNvPr id="1189726474" name="Rectangle 28">
                <a:extLst>
                  <a:ext uri="{FF2B5EF4-FFF2-40B4-BE49-F238E27FC236}">
                    <a16:creationId xmlns:a16="http://schemas.microsoft.com/office/drawing/2014/main" id="{107D78B6-1915-11DF-6BFC-FA73E6F095C4}"/>
                  </a:ext>
                </a:extLst>
              </p:cNvPr>
              <p:cNvSpPr/>
              <p:nvPr/>
            </p:nvSpPr>
            <p:spPr>
              <a:xfrm>
                <a:off x="914400" y="1606085"/>
                <a:ext cx="1874518" cy="1628865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189726475" name="Rectangle 29">
                <a:extLst>
                  <a:ext uri="{FF2B5EF4-FFF2-40B4-BE49-F238E27FC236}">
                    <a16:creationId xmlns:a16="http://schemas.microsoft.com/office/drawing/2014/main" id="{535EAAD2-F797-3FD3-B8A3-D61772A582CB}"/>
                  </a:ext>
                </a:extLst>
              </p:cNvPr>
              <p:cNvSpPr/>
              <p:nvPr/>
            </p:nvSpPr>
            <p:spPr>
              <a:xfrm>
                <a:off x="914399" y="1606085"/>
                <a:ext cx="1874518" cy="256032"/>
              </a:xfrm>
              <a:prstGeom prst="rect">
                <a:avLst/>
              </a:prstGeom>
              <a:solidFill>
                <a:srgbClr val="D3E8F7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189726476" name="TextBox 1189726475">
                <a:extLst>
                  <a:ext uri="{FF2B5EF4-FFF2-40B4-BE49-F238E27FC236}">
                    <a16:creationId xmlns:a16="http://schemas.microsoft.com/office/drawing/2014/main" id="{9701131B-AC95-6E1C-F62C-CBA9086C90D8}"/>
                  </a:ext>
                </a:extLst>
              </p:cNvPr>
              <p:cNvSpPr txBox="1"/>
              <p:nvPr/>
            </p:nvSpPr>
            <p:spPr>
              <a:xfrm>
                <a:off x="978408" y="1615228"/>
                <a:ext cx="1655064" cy="2377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950" b="1">
                    <a:solidFill>
                      <a:srgbClr val="123769"/>
                    </a:solidFill>
                    <a:latin typeface="Arial"/>
                  </a:defRPr>
                </a:pP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▦  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APRV_HIST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aphicFrame>
          <p:nvGraphicFramePr>
            <p:cNvPr id="1189726472" name="표 16">
              <a:extLst>
                <a:ext uri="{FF2B5EF4-FFF2-40B4-BE49-F238E27FC236}">
                  <a16:creationId xmlns:a16="http://schemas.microsoft.com/office/drawing/2014/main" id="{2272CFB9-4369-D5D5-8F8B-464EC6143A7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07294770"/>
                </p:ext>
              </p:extLst>
            </p:nvPr>
          </p:nvGraphicFramePr>
          <p:xfrm>
            <a:off x="1335433" y="2902987"/>
            <a:ext cx="1555468" cy="990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980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15737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APRV_ID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APRV_SNO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0244464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APRVTYPE_CD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9497572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APRV_IDX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904955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RSLTTYPE_CD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9473486"/>
                    </a:ext>
                  </a:extLst>
                </a:tr>
              </a:tbl>
            </a:graphicData>
          </a:graphic>
        </p:graphicFrame>
        <p:sp>
          <p:nvSpPr>
            <p:cNvPr id="1189726473" name="TextBox 1189726472">
              <a:extLst>
                <a:ext uri="{FF2B5EF4-FFF2-40B4-BE49-F238E27FC236}">
                  <a16:creationId xmlns:a16="http://schemas.microsoft.com/office/drawing/2014/main" id="{038BF79C-BAAF-267C-1F6B-1E2AC78CDD47}"/>
                </a:ext>
              </a:extLst>
            </p:cNvPr>
            <p:cNvSpPr txBox="1"/>
            <p:nvPr/>
          </p:nvSpPr>
          <p:spPr>
            <a:xfrm>
              <a:off x="1879441" y="3883933"/>
              <a:ext cx="36576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400" b="1">
                  <a:solidFill>
                    <a:srgbClr val="232D3C"/>
                  </a:solidFill>
                  <a:latin typeface="Malgun Gothic"/>
                </a:defRPr>
              </a:pPr>
              <a:r>
                <a:rPr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⋮</a:t>
              </a:r>
            </a:p>
          </p:txBody>
        </p:sp>
      </p:grpSp>
      <p:grpSp>
        <p:nvGrpSpPr>
          <p:cNvPr id="1189726477" name="그룹 1189726476">
            <a:extLst>
              <a:ext uri="{FF2B5EF4-FFF2-40B4-BE49-F238E27FC236}">
                <a16:creationId xmlns:a16="http://schemas.microsoft.com/office/drawing/2014/main" id="{CF220DB1-DCF7-39E2-EFF9-422E608A3D7B}"/>
              </a:ext>
            </a:extLst>
          </p:cNvPr>
          <p:cNvGrpSpPr/>
          <p:nvPr/>
        </p:nvGrpSpPr>
        <p:grpSpPr>
          <a:xfrm>
            <a:off x="9690735" y="2152251"/>
            <a:ext cx="1847837" cy="1551788"/>
            <a:chOff x="1171828" y="2541869"/>
            <a:chExt cx="1986026" cy="1649841"/>
          </a:xfrm>
        </p:grpSpPr>
        <p:grpSp>
          <p:nvGrpSpPr>
            <p:cNvPr id="1189726478" name="그룹 1189726477">
              <a:extLst>
                <a:ext uri="{FF2B5EF4-FFF2-40B4-BE49-F238E27FC236}">
                  <a16:creationId xmlns:a16="http://schemas.microsoft.com/office/drawing/2014/main" id="{02D35578-61F8-8109-57A6-3CB88A300C7F}"/>
                </a:ext>
              </a:extLst>
            </p:cNvPr>
            <p:cNvGrpSpPr/>
            <p:nvPr/>
          </p:nvGrpSpPr>
          <p:grpSpPr>
            <a:xfrm>
              <a:off x="1171828" y="2541869"/>
              <a:ext cx="1986026" cy="1628865"/>
              <a:chOff x="914399" y="1606085"/>
              <a:chExt cx="1986026" cy="1628865"/>
            </a:xfrm>
          </p:grpSpPr>
          <p:sp>
            <p:nvSpPr>
              <p:cNvPr id="1189726481" name="Rectangle 28">
                <a:extLst>
                  <a:ext uri="{FF2B5EF4-FFF2-40B4-BE49-F238E27FC236}">
                    <a16:creationId xmlns:a16="http://schemas.microsoft.com/office/drawing/2014/main" id="{11B27AF2-1F8D-A3A2-217B-ADB4A733093D}"/>
                  </a:ext>
                </a:extLst>
              </p:cNvPr>
              <p:cNvSpPr/>
              <p:nvPr/>
            </p:nvSpPr>
            <p:spPr>
              <a:xfrm>
                <a:off x="914400" y="1606085"/>
                <a:ext cx="1986025" cy="1628865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189726482" name="Rectangle 29">
                <a:extLst>
                  <a:ext uri="{FF2B5EF4-FFF2-40B4-BE49-F238E27FC236}">
                    <a16:creationId xmlns:a16="http://schemas.microsoft.com/office/drawing/2014/main" id="{61B0BF4F-079E-D65D-B650-E0C45568A3F5}"/>
                  </a:ext>
                </a:extLst>
              </p:cNvPr>
              <p:cNvSpPr/>
              <p:nvPr/>
            </p:nvSpPr>
            <p:spPr>
              <a:xfrm>
                <a:off x="914399" y="1606085"/>
                <a:ext cx="1986025" cy="256032"/>
              </a:xfrm>
              <a:prstGeom prst="rect">
                <a:avLst/>
              </a:prstGeom>
              <a:solidFill>
                <a:srgbClr val="D3E8F7"/>
              </a:solidFill>
              <a:ln w="10160">
                <a:solidFill>
                  <a:srgbClr val="7194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  <p:sp>
            <p:nvSpPr>
              <p:cNvPr id="1189726484" name="TextBox 1189726483">
                <a:extLst>
                  <a:ext uri="{FF2B5EF4-FFF2-40B4-BE49-F238E27FC236}">
                    <a16:creationId xmlns:a16="http://schemas.microsoft.com/office/drawing/2014/main" id="{E959E357-2A12-7D13-B7AE-168F64ED4359}"/>
                  </a:ext>
                </a:extLst>
              </p:cNvPr>
              <p:cNvSpPr txBox="1"/>
              <p:nvPr/>
            </p:nvSpPr>
            <p:spPr>
              <a:xfrm>
                <a:off x="978408" y="1615228"/>
                <a:ext cx="1655064" cy="2377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950" b="1">
                    <a:solidFill>
                      <a:srgbClr val="123769"/>
                    </a:solidFill>
                    <a:latin typeface="Arial"/>
                  </a:defRPr>
                </a:pPr>
                <a:r>
                  <a:rPr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▦  </a:t>
                </a:r>
                <a:r>
                  <a:rPr lang="en-US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TEMPLATE</a:t>
                </a:r>
                <a:endParaRPr>
                  <a:latin typeface="G마켓 산스 Bold" panose="02000000000000000000" pitchFamily="50" charset="-127"/>
                  <a:ea typeface="G마켓 산스 Bold" panose="02000000000000000000" pitchFamily="50" charset="-127"/>
                </a:endParaRPr>
              </a:p>
            </p:txBody>
          </p:sp>
        </p:grpSp>
        <p:graphicFrame>
          <p:nvGraphicFramePr>
            <p:cNvPr id="1189726479" name="표 16">
              <a:extLst>
                <a:ext uri="{FF2B5EF4-FFF2-40B4-BE49-F238E27FC236}">
                  <a16:creationId xmlns:a16="http://schemas.microsoft.com/office/drawing/2014/main" id="{650EF98F-ADFB-A0C9-E1CD-EFFC68FF8F2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26416729"/>
                </p:ext>
              </p:extLst>
            </p:nvPr>
          </p:nvGraphicFramePr>
          <p:xfrm>
            <a:off x="1335433" y="2902987"/>
            <a:ext cx="1723135" cy="1053193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41032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19291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PK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TEMP_CD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TEMP_NM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0244464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TEMPTYPE_CD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9497572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TEMP_CONT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9049553"/>
                    </a:ext>
                  </a:extLst>
                </a:tr>
                <a:tr h="159521"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algn="ctr">
                        <a:solidFill>
                          <a:schemeClr val="bg1">
                            <a:lumMod val="85000"/>
                          </a:schemeClr>
                        </a:solidFill>
                      </a:lnL>
                      <a:lnR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defRPr/>
                        </a:pPr>
                        <a:r>
                          <a:rPr lang="en-US" sz="700" b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  <a:cs typeface="G마켓 산스 TTF Light"/>
                          </a:rPr>
                          <a:t>REG_MAPPING_ID</a:t>
                        </a:r>
                        <a:endParaRPr sz="700" b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G마켓 산스 TTF Light"/>
                        </a:endParaRPr>
                      </a:p>
                    </a:txBody>
                    <a:tcPr anchor="ctr">
                      <a:lnL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2" algn="ctr">
                        <a:solidFill>
                          <a:schemeClr val="bg1">
                            <a:lumMod val="85000"/>
                          </a:schemeClr>
                        </a:solidFill>
                      </a:lnR>
                      <a:lnT w="9522" algn="ctr">
                        <a:solidFill>
                          <a:schemeClr val="bg1">
                            <a:lumMod val="85000"/>
                          </a:schemeClr>
                        </a:solidFill>
                      </a:lnT>
                      <a:lnB w="9522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9473486"/>
                    </a:ext>
                  </a:extLst>
                </a:tr>
              </a:tbl>
            </a:graphicData>
          </a:graphic>
        </p:graphicFrame>
        <p:sp>
          <p:nvSpPr>
            <p:cNvPr id="1189726480" name="TextBox 1189726479">
              <a:extLst>
                <a:ext uri="{FF2B5EF4-FFF2-40B4-BE49-F238E27FC236}">
                  <a16:creationId xmlns:a16="http://schemas.microsoft.com/office/drawing/2014/main" id="{FC9F8774-E0AD-89B9-D479-3F689049C717}"/>
                </a:ext>
              </a:extLst>
            </p:cNvPr>
            <p:cNvSpPr txBox="1"/>
            <p:nvPr/>
          </p:nvSpPr>
          <p:spPr>
            <a:xfrm>
              <a:off x="1879441" y="3883933"/>
              <a:ext cx="36576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400" b="1">
                  <a:solidFill>
                    <a:srgbClr val="232D3C"/>
                  </a:solidFill>
                  <a:latin typeface="Malgun Gothic"/>
                </a:defRPr>
              </a:pPr>
              <a:r>
                <a:rPr>
                  <a:latin typeface="G마켓 산스 Light" panose="02000000000000000000" pitchFamily="50" charset="-127"/>
                  <a:ea typeface="G마켓 산스 Light" panose="02000000000000000000" pitchFamily="50" charset="-127"/>
                </a:rPr>
                <a:t>⋮</a:t>
              </a:r>
            </a:p>
          </p:txBody>
        </p:sp>
      </p:grpSp>
      <p:cxnSp>
        <p:nvCxnSpPr>
          <p:cNvPr id="1189726485" name="연결선: 꺾임 1189726484">
            <a:extLst>
              <a:ext uri="{FF2B5EF4-FFF2-40B4-BE49-F238E27FC236}">
                <a16:creationId xmlns:a16="http://schemas.microsoft.com/office/drawing/2014/main" id="{BFDA927B-AC76-B207-7F88-EF027BC3EA50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375563" y="4088429"/>
            <a:ext cx="180000" cy="30"/>
          </a:xfrm>
          <a:prstGeom prst="bentConnector3">
            <a:avLst/>
          </a:prstGeom>
          <a:ln w="19050">
            <a:solidFill>
              <a:srgbClr val="0042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726491" name="연결선: 꺾임 1189726490">
            <a:extLst>
              <a:ext uri="{FF2B5EF4-FFF2-40B4-BE49-F238E27FC236}">
                <a16:creationId xmlns:a16="http://schemas.microsoft.com/office/drawing/2014/main" id="{4D3BBF7A-192E-0D63-4B8D-A4B14EE71F46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9475250" y="4985945"/>
            <a:ext cx="216000" cy="1341"/>
          </a:xfrm>
          <a:prstGeom prst="bentConnector3">
            <a:avLst>
              <a:gd name="adj1" fmla="val 50000"/>
            </a:avLst>
          </a:prstGeom>
          <a:ln w="19050">
            <a:solidFill>
              <a:srgbClr val="00427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2211533" name="연결선: 꺾임 2102211532">
            <a:extLst>
              <a:ext uri="{FF2B5EF4-FFF2-40B4-BE49-F238E27FC236}">
                <a16:creationId xmlns:a16="http://schemas.microsoft.com/office/drawing/2014/main" id="{5EBA1343-019F-22E9-10B3-92460524B6CA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9449559" y="3113601"/>
            <a:ext cx="244800" cy="1341"/>
          </a:xfrm>
          <a:prstGeom prst="bentConnector3">
            <a:avLst>
              <a:gd name="adj1" fmla="val 50000"/>
            </a:avLst>
          </a:prstGeom>
          <a:ln w="19050">
            <a:solidFill>
              <a:srgbClr val="00427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2042673" name="Object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73445" y="0"/>
            <a:ext cx="7118555" cy="6874587"/>
          </a:xfrm>
          <a:prstGeom prst="rect">
            <a:avLst/>
          </a:prstGeom>
        </p:spPr>
      </p:pic>
      <p:sp>
        <p:nvSpPr>
          <p:cNvPr id="109737850" name="Group 13"/>
          <p:cNvSpPr txBox="1"/>
          <p:nvPr/>
        </p:nvSpPr>
        <p:spPr bwMode="auto">
          <a:xfrm>
            <a:off x="452196" y="2462908"/>
            <a:ext cx="5253668" cy="178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ko-KR" sz="6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구조 및 기능</a:t>
            </a:r>
            <a:endParaRPr sz="6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endParaRPr sz="1200">
              <a:solidFill>
                <a:schemeClr val="bg1">
                  <a:lumMod val="6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>
                <a:solidFill>
                  <a:schemeClr val="bg1">
                    <a:lumMod val="6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PROJECT</a:t>
            </a:r>
            <a:endParaRPr sz="7200" spc="-150">
              <a:ln w="47625">
                <a:noFill/>
              </a:ln>
              <a:solidFill>
                <a:schemeClr val="bg1">
                  <a:lumMod val="6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2800" spc="-150">
                <a:ln w="47625"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INTR</a:t>
            </a:r>
            <a:endParaRPr sz="7200" spc="-150">
              <a:ln w="47625"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cxnSp>
        <p:nvCxnSpPr>
          <p:cNvPr id="1157659674" name="직선 연결선 4"/>
          <p:cNvCxnSpPr/>
          <p:nvPr/>
        </p:nvCxnSpPr>
        <p:spPr bwMode="auto">
          <a:xfrm>
            <a:off x="589644" y="3240019"/>
            <a:ext cx="4339771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506349" name="직선 연결선 5"/>
          <p:cNvCxnSpPr/>
          <p:nvPr/>
        </p:nvCxnSpPr>
        <p:spPr bwMode="auto">
          <a:xfrm>
            <a:off x="576363" y="3267451"/>
            <a:ext cx="1701800" cy="0"/>
          </a:xfrm>
          <a:prstGeom prst="line">
            <a:avLst/>
          </a:prstGeom>
          <a:ln w="38100">
            <a:solidFill>
              <a:srgbClr val="012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905523" name="직사각형 5"/>
          <p:cNvSpPr/>
          <p:nvPr/>
        </p:nvSpPr>
        <p:spPr bwMode="auto">
          <a:xfrm>
            <a:off x="0" y="0"/>
            <a:ext cx="495705" cy="6857998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1208707629" name="직사각형 2"/>
          <p:cNvSpPr/>
          <p:nvPr/>
        </p:nvSpPr>
        <p:spPr bwMode="auto">
          <a:xfrm>
            <a:off x="749808" y="339584"/>
            <a:ext cx="11046723" cy="681503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385046325" name="직선 연결선 3"/>
          <p:cNvCxnSpPr/>
          <p:nvPr/>
        </p:nvCxnSpPr>
        <p:spPr bwMode="auto">
          <a:xfrm>
            <a:off x="749808" y="339584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84376" name="TextBox 73"/>
          <p:cNvSpPr txBox="1"/>
          <p:nvPr/>
        </p:nvSpPr>
        <p:spPr bwMode="auto">
          <a:xfrm>
            <a:off x="749808" y="339583"/>
            <a:ext cx="32912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프로젝트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구조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706578057" name="Rounded Rectangle 1706578056"/>
          <p:cNvSpPr/>
          <p:nvPr/>
        </p:nvSpPr>
        <p:spPr>
          <a:xfrm>
            <a:off x="914400" y="27432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06578058" name="TextBox 1706578057"/>
          <p:cNvSpPr txBox="1"/>
          <p:nvPr/>
        </p:nvSpPr>
        <p:spPr>
          <a:xfrm>
            <a:off x="987552" y="2926080"/>
            <a:ext cx="145389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Browser / JSP</a:t>
            </a:r>
          </a:p>
        </p:txBody>
      </p:sp>
      <p:sp>
        <p:nvSpPr>
          <p:cNvPr id="1706578059" name="TextBox 1706578058"/>
          <p:cNvSpPr txBox="1"/>
          <p:nvPr/>
        </p:nvSpPr>
        <p:spPr>
          <a:xfrm>
            <a:off x="987552" y="3246120"/>
            <a:ext cx="14538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요청 · 화면</a:t>
            </a:r>
          </a:p>
        </p:txBody>
      </p:sp>
      <p:sp>
        <p:nvSpPr>
          <p:cNvPr id="1706578060" name="Rounded Rectangle 1706578059"/>
          <p:cNvSpPr/>
          <p:nvPr/>
        </p:nvSpPr>
        <p:spPr>
          <a:xfrm>
            <a:off x="3063240" y="27432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06578061" name="TextBox 1706578060"/>
          <p:cNvSpPr txBox="1"/>
          <p:nvPr/>
        </p:nvSpPr>
        <p:spPr>
          <a:xfrm>
            <a:off x="3136392" y="2926080"/>
            <a:ext cx="145389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Controller</a:t>
            </a:r>
          </a:p>
        </p:txBody>
      </p:sp>
      <p:sp>
        <p:nvSpPr>
          <p:cNvPr id="1706578062" name="TextBox 1706578061"/>
          <p:cNvSpPr txBox="1"/>
          <p:nvPr/>
        </p:nvSpPr>
        <p:spPr>
          <a:xfrm>
            <a:off x="3136392" y="3246120"/>
            <a:ext cx="14538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요청/응답 · View</a:t>
            </a:r>
          </a:p>
        </p:txBody>
      </p:sp>
      <p:sp>
        <p:nvSpPr>
          <p:cNvPr id="1706578063" name="Rounded Rectangle 1706578062"/>
          <p:cNvSpPr/>
          <p:nvPr/>
        </p:nvSpPr>
        <p:spPr>
          <a:xfrm>
            <a:off x="5212080" y="27432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06578064" name="TextBox 1706578063"/>
          <p:cNvSpPr txBox="1"/>
          <p:nvPr/>
        </p:nvSpPr>
        <p:spPr>
          <a:xfrm>
            <a:off x="5285232" y="2926080"/>
            <a:ext cx="145389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Service</a:t>
            </a:r>
          </a:p>
        </p:txBody>
      </p:sp>
      <p:sp>
        <p:nvSpPr>
          <p:cNvPr id="1706578065" name="TextBox 1706578064"/>
          <p:cNvSpPr txBox="1"/>
          <p:nvPr/>
        </p:nvSpPr>
        <p:spPr>
          <a:xfrm>
            <a:off x="5285232" y="3246120"/>
            <a:ext cx="14538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비즈니스 로직</a:t>
            </a:r>
          </a:p>
        </p:txBody>
      </p:sp>
      <p:sp>
        <p:nvSpPr>
          <p:cNvPr id="1706578066" name="Rounded Rectangle 1706578065"/>
          <p:cNvSpPr/>
          <p:nvPr/>
        </p:nvSpPr>
        <p:spPr>
          <a:xfrm>
            <a:off x="7360920" y="27432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06578067" name="TextBox 1706578066"/>
          <p:cNvSpPr txBox="1"/>
          <p:nvPr/>
        </p:nvSpPr>
        <p:spPr>
          <a:xfrm>
            <a:off x="7434072" y="2926080"/>
            <a:ext cx="145389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DAO / MyBatis</a:t>
            </a:r>
          </a:p>
        </p:txBody>
      </p:sp>
      <p:sp>
        <p:nvSpPr>
          <p:cNvPr id="1706578068" name="TextBox 1706578067"/>
          <p:cNvSpPr txBox="1"/>
          <p:nvPr/>
        </p:nvSpPr>
        <p:spPr>
          <a:xfrm>
            <a:off x="7434072" y="3246120"/>
            <a:ext cx="14538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SQL 실행</a:t>
            </a:r>
          </a:p>
        </p:txBody>
      </p:sp>
      <p:sp>
        <p:nvSpPr>
          <p:cNvPr id="1706578069" name="Rounded Rectangle 1706578068"/>
          <p:cNvSpPr/>
          <p:nvPr/>
        </p:nvSpPr>
        <p:spPr>
          <a:xfrm>
            <a:off x="9509760" y="27432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06578070" name="TextBox 1706578069"/>
          <p:cNvSpPr txBox="1"/>
          <p:nvPr/>
        </p:nvSpPr>
        <p:spPr>
          <a:xfrm>
            <a:off x="9582912" y="2926080"/>
            <a:ext cx="145389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Oracle</a:t>
            </a:r>
          </a:p>
        </p:txBody>
      </p:sp>
      <p:sp>
        <p:nvSpPr>
          <p:cNvPr id="1706578071" name="TextBox 1706578070"/>
          <p:cNvSpPr txBox="1"/>
          <p:nvPr/>
        </p:nvSpPr>
        <p:spPr>
          <a:xfrm>
            <a:off x="9582912" y="3246120"/>
            <a:ext cx="14538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업무 데이터</a:t>
            </a:r>
          </a:p>
        </p:txBody>
      </p:sp>
      <p:cxnSp>
        <p:nvCxnSpPr>
          <p:cNvPr id="1706578072" name="Connector 1706578071"/>
          <p:cNvCxnSpPr>
            <a:cxnSpLocks/>
            <a:stCxn id="1706578057" idx="3"/>
            <a:endCxn id="1706578060" idx="1"/>
          </p:cNvCxnSpPr>
          <p:nvPr/>
        </p:nvCxnSpPr>
        <p:spPr>
          <a:xfrm>
            <a:off x="2514600" y="3223260"/>
            <a:ext cx="54864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6578073" name="Connector 1706578072"/>
          <p:cNvCxnSpPr>
            <a:cxnSpLocks/>
            <a:stCxn id="1706578060" idx="3"/>
            <a:endCxn id="1706578063" idx="1"/>
          </p:cNvCxnSpPr>
          <p:nvPr/>
        </p:nvCxnSpPr>
        <p:spPr>
          <a:xfrm>
            <a:off x="4663440" y="3223260"/>
            <a:ext cx="54864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6578074" name="Connector 1706578073"/>
          <p:cNvCxnSpPr>
            <a:cxnSpLocks/>
            <a:stCxn id="1706578063" idx="3"/>
            <a:endCxn id="1706578066" idx="1"/>
          </p:cNvCxnSpPr>
          <p:nvPr/>
        </p:nvCxnSpPr>
        <p:spPr>
          <a:xfrm>
            <a:off x="6812280" y="3223260"/>
            <a:ext cx="54864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6578075" name="Connector 1706578074"/>
          <p:cNvCxnSpPr>
            <a:cxnSpLocks/>
            <a:stCxn id="1706578066" idx="3"/>
            <a:endCxn id="1706578069" idx="1"/>
          </p:cNvCxnSpPr>
          <p:nvPr/>
        </p:nvCxnSpPr>
        <p:spPr>
          <a:xfrm>
            <a:off x="8961120" y="3223260"/>
            <a:ext cx="54864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6578076" name="Rounded Rectangle 1706578075"/>
          <p:cNvSpPr/>
          <p:nvPr/>
        </p:nvSpPr>
        <p:spPr>
          <a:xfrm>
            <a:off x="1828800" y="4343400"/>
            <a:ext cx="8503920" cy="1005840"/>
          </a:xfrm>
          <a:prstGeom prst="roundRect">
            <a:avLst/>
          </a:prstGeom>
          <a:solidFill>
            <a:srgbClr val="EFF3FA"/>
          </a:solidFill>
          <a:ln>
            <a:solidFill>
              <a:srgbClr val="C8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706578077" name="TextBox 1706578076"/>
          <p:cNvSpPr txBox="1"/>
          <p:nvPr/>
        </p:nvSpPr>
        <p:spPr>
          <a:xfrm>
            <a:off x="2011680" y="4517136"/>
            <a:ext cx="81381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공통 영역</a:t>
            </a:r>
          </a:p>
        </p:txBody>
      </p:sp>
      <p:sp>
        <p:nvSpPr>
          <p:cNvPr id="1706578078" name="TextBox 1706578077"/>
          <p:cNvSpPr txBox="1"/>
          <p:nvPr/>
        </p:nvSpPr>
        <p:spPr>
          <a:xfrm>
            <a:off x="2011680" y="4882896"/>
            <a:ext cx="81381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CoreService(메뉴)  ·  Interceptor(세션/오류 로그)  ·  UtilService  ·  공통 JavaScript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26338-845E-DCA6-DC71-1283ACA4E7BD}"/>
              </a:ext>
            </a:extLst>
          </p:cNvPr>
          <p:cNvSpPr txBox="1"/>
          <p:nvPr/>
        </p:nvSpPr>
        <p:spPr bwMode="auto">
          <a:xfrm>
            <a:off x="896112" y="210592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Spring MVC 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기반 계층 분리 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+ 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공통 서비스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/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유틸리티</a:t>
            </a: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92FE93BD-BD25-80D4-1B4C-3EB1B344843D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CD6AB130-070C-C743-FBE2-016AC2F23540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FB7AF47C-22D6-40B4-36B6-9134D4C1EB3B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프로젝트 구조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A5D8D60-2DAE-8CF1-FB93-3CC3DD5926B2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61BFD2BA-91C7-574C-531E-146739BBF17D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04C5623A-8E65-BDE4-1492-124AC70D28C3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033405CD-A44D-2FCE-D828-9A8954327910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8CD166D-C219-B7B6-44A1-107C20B9B124}"/>
              </a:ext>
            </a:extLst>
          </p:cNvPr>
          <p:cNvSpPr txBox="1"/>
          <p:nvPr/>
        </p:nvSpPr>
        <p:spPr bwMode="auto">
          <a:xfrm>
            <a:off x="914400" y="6189007"/>
            <a:ext cx="102412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참고 사항  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Controller · Service · DAO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업무별로 분리하고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메뉴 조회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/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공통 처리 로직은 별도 계층으로 재사용했습니다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853838" name="직사각형 5"/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1976236590" name="직사각형 2"/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2055877060" name="직선 연결선 3"/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347287" name="TextBox 73"/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기능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2055877063" name="Rounded Rectangle 2055877062"/>
          <p:cNvSpPr/>
          <p:nvPr/>
        </p:nvSpPr>
        <p:spPr>
          <a:xfrm>
            <a:off x="914400" y="27432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55877064" name="TextBox 2055877063"/>
          <p:cNvSpPr txBox="1"/>
          <p:nvPr/>
        </p:nvSpPr>
        <p:spPr>
          <a:xfrm>
            <a:off x="960120" y="2926641"/>
            <a:ext cx="17373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EMP_INFO</a:t>
            </a:r>
          </a:p>
        </p:txBody>
      </p:sp>
      <p:sp>
        <p:nvSpPr>
          <p:cNvPr id="2055877065" name="TextBox 2055877064"/>
          <p:cNvSpPr txBox="1"/>
          <p:nvPr/>
        </p:nvSpPr>
        <p:spPr>
          <a:xfrm>
            <a:off x="960120" y="3210105"/>
            <a:ext cx="17373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사용자</a:t>
            </a:r>
          </a:p>
        </p:txBody>
      </p:sp>
      <p:sp>
        <p:nvSpPr>
          <p:cNvPr id="2055877066" name="Rounded Rectangle 2055877065"/>
          <p:cNvSpPr/>
          <p:nvPr/>
        </p:nvSpPr>
        <p:spPr>
          <a:xfrm>
            <a:off x="3154680" y="274320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55877067" name="TextBox 2055877066"/>
          <p:cNvSpPr txBox="1"/>
          <p:nvPr/>
        </p:nvSpPr>
        <p:spPr>
          <a:xfrm>
            <a:off x="3200400" y="2926641"/>
            <a:ext cx="1645919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EMP_ROLE</a:t>
            </a:r>
          </a:p>
        </p:txBody>
      </p:sp>
      <p:sp>
        <p:nvSpPr>
          <p:cNvPr id="2055877068" name="TextBox 2055877067"/>
          <p:cNvSpPr txBox="1"/>
          <p:nvPr/>
        </p:nvSpPr>
        <p:spPr>
          <a:xfrm>
            <a:off x="3200400" y="3210105"/>
            <a:ext cx="164591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사용자–권한</a:t>
            </a:r>
          </a:p>
        </p:txBody>
      </p:sp>
      <p:sp>
        <p:nvSpPr>
          <p:cNvPr id="2055877069" name="Rounded Rectangle 2055877068"/>
          <p:cNvSpPr/>
          <p:nvPr/>
        </p:nvSpPr>
        <p:spPr>
          <a:xfrm>
            <a:off x="5303520" y="274320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55877070" name="TextBox 2055877069"/>
          <p:cNvSpPr txBox="1"/>
          <p:nvPr/>
        </p:nvSpPr>
        <p:spPr>
          <a:xfrm>
            <a:off x="5349240" y="2926641"/>
            <a:ext cx="15544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ROLE</a:t>
            </a:r>
          </a:p>
        </p:txBody>
      </p:sp>
      <p:sp>
        <p:nvSpPr>
          <p:cNvPr id="2055877071" name="TextBox 2055877070"/>
          <p:cNvSpPr txBox="1"/>
          <p:nvPr/>
        </p:nvSpPr>
        <p:spPr>
          <a:xfrm>
            <a:off x="5349240" y="3210105"/>
            <a:ext cx="1554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권한</a:t>
            </a:r>
          </a:p>
        </p:txBody>
      </p:sp>
      <p:sp>
        <p:nvSpPr>
          <p:cNvPr id="2055877072" name="Rounded Rectangle 2055877071"/>
          <p:cNvSpPr/>
          <p:nvPr/>
        </p:nvSpPr>
        <p:spPr>
          <a:xfrm>
            <a:off x="7360920" y="274320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55877073" name="TextBox 2055877072"/>
          <p:cNvSpPr txBox="1"/>
          <p:nvPr/>
        </p:nvSpPr>
        <p:spPr>
          <a:xfrm>
            <a:off x="7406640" y="2926641"/>
            <a:ext cx="1645919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MENU_ROLE</a:t>
            </a:r>
          </a:p>
        </p:txBody>
      </p:sp>
      <p:sp>
        <p:nvSpPr>
          <p:cNvPr id="2055877074" name="TextBox 2055877073"/>
          <p:cNvSpPr txBox="1"/>
          <p:nvPr/>
        </p:nvSpPr>
        <p:spPr>
          <a:xfrm>
            <a:off x="7406640" y="3210105"/>
            <a:ext cx="164591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권한–메뉴</a:t>
            </a:r>
          </a:p>
        </p:txBody>
      </p:sp>
      <p:sp>
        <p:nvSpPr>
          <p:cNvPr id="2055877075" name="Rounded Rectangle 2055877074"/>
          <p:cNvSpPr/>
          <p:nvPr/>
        </p:nvSpPr>
        <p:spPr>
          <a:xfrm>
            <a:off x="9509760" y="274320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55877076" name="TextBox 2055877075"/>
          <p:cNvSpPr txBox="1"/>
          <p:nvPr/>
        </p:nvSpPr>
        <p:spPr>
          <a:xfrm>
            <a:off x="9555480" y="2926641"/>
            <a:ext cx="15544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MENU</a:t>
            </a:r>
          </a:p>
        </p:txBody>
      </p:sp>
      <p:sp>
        <p:nvSpPr>
          <p:cNvPr id="2055877077" name="TextBox 2055877076"/>
          <p:cNvSpPr txBox="1"/>
          <p:nvPr/>
        </p:nvSpPr>
        <p:spPr>
          <a:xfrm>
            <a:off x="9555480" y="3210105"/>
            <a:ext cx="1554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메뉴</a:t>
            </a:r>
          </a:p>
        </p:txBody>
      </p:sp>
      <p:cxnSp>
        <p:nvCxnSpPr>
          <p:cNvPr id="2055877078" name="Connector 2055877077"/>
          <p:cNvCxnSpPr/>
          <p:nvPr/>
        </p:nvCxnSpPr>
        <p:spPr>
          <a:xfrm>
            <a:off x="2743200" y="3154680"/>
            <a:ext cx="41148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5877079" name="Connector 2055877078"/>
          <p:cNvCxnSpPr/>
          <p:nvPr/>
        </p:nvCxnSpPr>
        <p:spPr>
          <a:xfrm>
            <a:off x="4892040" y="3154680"/>
            <a:ext cx="41148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5877080" name="Connector 2055877079"/>
          <p:cNvCxnSpPr/>
          <p:nvPr/>
        </p:nvCxnSpPr>
        <p:spPr>
          <a:xfrm>
            <a:off x="6949440" y="3154680"/>
            <a:ext cx="41148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5877081" name="Connector 2055877080"/>
          <p:cNvCxnSpPr/>
          <p:nvPr/>
        </p:nvCxnSpPr>
        <p:spPr>
          <a:xfrm>
            <a:off x="9098280" y="3154680"/>
            <a:ext cx="41148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5877082" name="Rounded Rectangle 2055877081"/>
          <p:cNvSpPr/>
          <p:nvPr/>
        </p:nvSpPr>
        <p:spPr>
          <a:xfrm>
            <a:off x="914400" y="4033625"/>
            <a:ext cx="4754880" cy="1325880"/>
          </a:xfrm>
          <a:prstGeom prst="roundRect">
            <a:avLst/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55877083" name="TextBox 2055877082"/>
          <p:cNvSpPr txBox="1"/>
          <p:nvPr/>
        </p:nvSpPr>
        <p:spPr>
          <a:xfrm>
            <a:off x="1097280" y="4234794"/>
            <a:ext cx="43891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MyBatis 메뉴 조회</a:t>
            </a:r>
          </a:p>
        </p:txBody>
      </p:sp>
      <p:sp>
        <p:nvSpPr>
          <p:cNvPr id="2055877084" name="TextBox 2055877083"/>
          <p:cNvSpPr txBox="1"/>
          <p:nvPr/>
        </p:nvSpPr>
        <p:spPr>
          <a:xfrm>
            <a:off x="1097280" y="4609698"/>
            <a:ext cx="43434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EMP_ROLE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/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MENU_ROLE을 JOIN하여 </a:t>
            </a:r>
            <a:endParaRPr lang="en-US" sz="1200" b="0">
              <a:solidFill>
                <a:srgbClr val="232323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l"/>
            <a:r>
              <a:rPr lang="ko-KR" altLang="en-US" sz="120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접속한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사용자의 MENU_CD를 추출</a:t>
            </a:r>
            <a:r>
              <a:rPr lang="ko-KR" alt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한 뒤 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계층형 메뉴를 구성</a:t>
            </a:r>
          </a:p>
        </p:txBody>
      </p:sp>
      <p:sp>
        <p:nvSpPr>
          <p:cNvPr id="2055877085" name="Rounded Rectangle 2055877084"/>
          <p:cNvSpPr/>
          <p:nvPr/>
        </p:nvSpPr>
        <p:spPr>
          <a:xfrm>
            <a:off x="6080760" y="4033625"/>
            <a:ext cx="5074920" cy="1325880"/>
          </a:xfrm>
          <a:prstGeom prst="roundRect">
            <a:avLst/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55877086" name="TextBox 2055877085"/>
          <p:cNvSpPr txBox="1"/>
          <p:nvPr/>
        </p:nvSpPr>
        <p:spPr>
          <a:xfrm>
            <a:off x="6263640" y="4234794"/>
            <a:ext cx="47091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화면 적용</a:t>
            </a:r>
          </a:p>
        </p:txBody>
      </p:sp>
      <p:sp>
        <p:nvSpPr>
          <p:cNvPr id="2055877087" name="TextBox 2055877086"/>
          <p:cNvSpPr txBox="1"/>
          <p:nvPr/>
        </p:nvSpPr>
        <p:spPr>
          <a:xfrm>
            <a:off x="6263640" y="4609698"/>
            <a:ext cx="46177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CoreService에서 </a:t>
            </a:r>
            <a:r>
              <a:rPr lang="ko-KR" alt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접속한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사용자 사번을 기준으로</a:t>
            </a:r>
            <a:endParaRPr lang="en-US" sz="1200" b="0">
              <a:solidFill>
                <a:srgbClr val="232323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l"/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상단/좌측 </a:t>
            </a:r>
            <a:r>
              <a:rPr lang="ko-KR" alt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메뉴 목록 쿼리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를 조회하여 JSP에 전달</a:t>
            </a:r>
          </a:p>
        </p:txBody>
      </p:sp>
      <p:grpSp>
        <p:nvGrpSpPr>
          <p:cNvPr id="9" name="그룹 22">
            <a:extLst>
              <a:ext uri="{FF2B5EF4-FFF2-40B4-BE49-F238E27FC236}">
                <a16:creationId xmlns:a16="http://schemas.microsoft.com/office/drawing/2014/main" id="{E9CCB995-F8F9-281E-4A41-82465EE8D485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10" name="Straight Connector 24">
              <a:extLst>
                <a:ext uri="{FF2B5EF4-FFF2-40B4-BE49-F238E27FC236}">
                  <a16:creationId xmlns:a16="http://schemas.microsoft.com/office/drawing/2014/main" id="{14FFDC8D-EBE1-A3E3-1DCC-D1EA5F01FB45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Group 65">
              <a:extLst>
                <a:ext uri="{FF2B5EF4-FFF2-40B4-BE49-F238E27FC236}">
                  <a16:creationId xmlns:a16="http://schemas.microsoft.com/office/drawing/2014/main" id="{14B9EF69-E657-3B4E-9F2F-16EFC26B87E2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RBAC </a:t>
              </a: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기반 메뉴 권한 관리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A2CB7BC-8025-3A35-36AE-254DFC35A6A9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13" name="Rectangle 21">
                <a:extLst>
                  <a:ext uri="{FF2B5EF4-FFF2-40B4-BE49-F238E27FC236}">
                    <a16:creationId xmlns:a16="http://schemas.microsoft.com/office/drawing/2014/main" id="{7442B2E4-DABF-8495-2FEA-EF97CEEC57DB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4" name="Rectangle 22">
                <a:extLst>
                  <a:ext uri="{FF2B5EF4-FFF2-40B4-BE49-F238E27FC236}">
                    <a16:creationId xmlns:a16="http://schemas.microsoft.com/office/drawing/2014/main" id="{1EA359BF-96B3-7EA8-53BC-9C3F66916DE6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5" name="Rectangle 23">
                <a:extLst>
                  <a:ext uri="{FF2B5EF4-FFF2-40B4-BE49-F238E27FC236}">
                    <a16:creationId xmlns:a16="http://schemas.microsoft.com/office/drawing/2014/main" id="{29143BEC-F1EC-2410-E731-B12BBC722CFA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E555C05-A2C4-8403-6A8F-7777FFE2397B}"/>
              </a:ext>
            </a:extLst>
          </p:cNvPr>
          <p:cNvSpPr txBox="1"/>
          <p:nvPr/>
        </p:nvSpPr>
        <p:spPr bwMode="auto">
          <a:xfrm>
            <a:off x="896112" y="210592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사용자 → 권한 → 메뉴 매핑을 기준으로 접근 가능한 메뉴를 조회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03344" name="직사각형 5"/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1404220860" name="직사각형 2"/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1386867336" name="직선 연결선 3"/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7885307" name="TextBox 73"/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기능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675506702" name="Rounded Rectangle 1675506701"/>
          <p:cNvSpPr/>
          <p:nvPr/>
        </p:nvSpPr>
        <p:spPr>
          <a:xfrm>
            <a:off x="868680" y="27889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675506703" name="TextBox 1675506702"/>
          <p:cNvSpPr txBox="1"/>
          <p:nvPr/>
        </p:nvSpPr>
        <p:spPr>
          <a:xfrm>
            <a:off x="941832" y="2944368"/>
            <a:ext cx="163677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① 양식 선택</a:t>
            </a:r>
          </a:p>
        </p:txBody>
      </p:sp>
      <p:sp>
        <p:nvSpPr>
          <p:cNvPr id="1675506704" name="TextBox 1675506703"/>
          <p:cNvSpPr txBox="1"/>
          <p:nvPr/>
        </p:nvSpPr>
        <p:spPr>
          <a:xfrm>
            <a:off x="941832" y="3300984"/>
            <a:ext cx="163677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TEMPLATE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TEMP_CONT</a:t>
            </a:r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1675506705" name="Connector 1675506704"/>
          <p:cNvCxnSpPr>
            <a:cxnSpLocks/>
            <a:stCxn id="1675506702" idx="3"/>
            <a:endCxn id="1675506706" idx="1"/>
          </p:cNvCxnSpPr>
          <p:nvPr/>
        </p:nvCxnSpPr>
        <p:spPr>
          <a:xfrm>
            <a:off x="2651760" y="3337560"/>
            <a:ext cx="45720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5506706" name="Rounded Rectangle 1675506705"/>
          <p:cNvSpPr/>
          <p:nvPr/>
        </p:nvSpPr>
        <p:spPr>
          <a:xfrm>
            <a:off x="3108960" y="27889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675506707" name="TextBox 1675506706"/>
          <p:cNvSpPr txBox="1"/>
          <p:nvPr/>
        </p:nvSpPr>
        <p:spPr>
          <a:xfrm>
            <a:off x="3182112" y="2944368"/>
            <a:ext cx="163677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② 기안 화면</a:t>
            </a:r>
          </a:p>
        </p:txBody>
      </p:sp>
      <p:sp>
        <p:nvSpPr>
          <p:cNvPr id="1675506708" name="TextBox 1675506707"/>
          <p:cNvSpPr txBox="1"/>
          <p:nvPr/>
        </p:nvSpPr>
        <p:spPr>
          <a:xfrm>
            <a:off x="3182112" y="3300984"/>
            <a:ext cx="163677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REG_MAPPING_ID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유형별 JSP</a:t>
            </a:r>
          </a:p>
        </p:txBody>
      </p:sp>
      <p:cxnSp>
        <p:nvCxnSpPr>
          <p:cNvPr id="1675506709" name="Connector 1675506708"/>
          <p:cNvCxnSpPr>
            <a:cxnSpLocks/>
            <a:stCxn id="1675506706" idx="3"/>
            <a:endCxn id="1675506710" idx="1"/>
          </p:cNvCxnSpPr>
          <p:nvPr/>
        </p:nvCxnSpPr>
        <p:spPr>
          <a:xfrm>
            <a:off x="4892040" y="3337560"/>
            <a:ext cx="45720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5506710" name="Rounded Rectangle 1675506709"/>
          <p:cNvSpPr/>
          <p:nvPr/>
        </p:nvSpPr>
        <p:spPr>
          <a:xfrm>
            <a:off x="5349240" y="27889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675506711" name="TextBox 1675506710"/>
          <p:cNvSpPr txBox="1"/>
          <p:nvPr/>
        </p:nvSpPr>
        <p:spPr>
          <a:xfrm>
            <a:off x="5422392" y="2944368"/>
            <a:ext cx="163677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③ 결재 저장</a:t>
            </a:r>
          </a:p>
        </p:txBody>
      </p:sp>
      <p:sp>
        <p:nvSpPr>
          <p:cNvPr id="1675506712" name="TextBox 1675506711"/>
          <p:cNvSpPr txBox="1"/>
          <p:nvPr/>
        </p:nvSpPr>
        <p:spPr>
          <a:xfrm>
            <a:off x="5422392" y="3300984"/>
            <a:ext cx="1636776" cy="366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APRV_MAST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+ 업무별 상세</a:t>
            </a:r>
          </a:p>
        </p:txBody>
      </p:sp>
      <p:cxnSp>
        <p:nvCxnSpPr>
          <p:cNvPr id="1675506713" name="Connector 1675506712"/>
          <p:cNvCxnSpPr>
            <a:cxnSpLocks/>
            <a:stCxn id="1675506710" idx="3"/>
            <a:endCxn id="1675506714" idx="1"/>
          </p:cNvCxnSpPr>
          <p:nvPr/>
        </p:nvCxnSpPr>
        <p:spPr>
          <a:xfrm>
            <a:off x="7132320" y="3337560"/>
            <a:ext cx="45720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5506714" name="Rounded Rectangle 1675506713"/>
          <p:cNvSpPr/>
          <p:nvPr/>
        </p:nvSpPr>
        <p:spPr>
          <a:xfrm>
            <a:off x="7589520" y="27889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675506715" name="TextBox 1675506714"/>
          <p:cNvSpPr txBox="1"/>
          <p:nvPr/>
        </p:nvSpPr>
        <p:spPr>
          <a:xfrm>
            <a:off x="7662672" y="2944368"/>
            <a:ext cx="163677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④ 결재선</a:t>
            </a:r>
          </a:p>
        </p:txBody>
      </p:sp>
      <p:sp>
        <p:nvSpPr>
          <p:cNvPr id="1675506716" name="TextBox 1675506715"/>
          <p:cNvSpPr txBox="1"/>
          <p:nvPr/>
        </p:nvSpPr>
        <p:spPr>
          <a:xfrm>
            <a:off x="7662672" y="3300984"/>
            <a:ext cx="163677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APRV_HIST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결재자/순번</a:t>
            </a:r>
          </a:p>
        </p:txBody>
      </p:sp>
      <p:cxnSp>
        <p:nvCxnSpPr>
          <p:cNvPr id="1675506717" name="Connector 1675506716"/>
          <p:cNvCxnSpPr>
            <a:cxnSpLocks/>
            <a:stCxn id="1675506714" idx="3"/>
            <a:endCxn id="1675506718" idx="1"/>
          </p:cNvCxnSpPr>
          <p:nvPr/>
        </p:nvCxnSpPr>
        <p:spPr>
          <a:xfrm>
            <a:off x="9372600" y="3337560"/>
            <a:ext cx="45720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5506718" name="Rounded Rectangle 1675506717"/>
          <p:cNvSpPr/>
          <p:nvPr/>
        </p:nvSpPr>
        <p:spPr>
          <a:xfrm>
            <a:off x="9829800" y="27889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675506719" name="TextBox 1675506718"/>
          <p:cNvSpPr txBox="1"/>
          <p:nvPr/>
        </p:nvSpPr>
        <p:spPr>
          <a:xfrm>
            <a:off x="9902952" y="2944368"/>
            <a:ext cx="163677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⑤ 상세 조회</a:t>
            </a:r>
          </a:p>
        </p:txBody>
      </p:sp>
      <p:sp>
        <p:nvSpPr>
          <p:cNvPr id="1675506720" name="TextBox 1675506719"/>
          <p:cNvSpPr txBox="1"/>
          <p:nvPr/>
        </p:nvSpPr>
        <p:spPr>
          <a:xfrm>
            <a:off x="9902952" y="3300984"/>
            <a:ext cx="163677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DET_MAPPING_ID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결과/이력</a:t>
            </a:r>
          </a:p>
        </p:txBody>
      </p:sp>
      <p:sp>
        <p:nvSpPr>
          <p:cNvPr id="1675506721" name="Rounded Rectangle 1675506720"/>
          <p:cNvSpPr/>
          <p:nvPr/>
        </p:nvSpPr>
        <p:spPr>
          <a:xfrm>
            <a:off x="914400" y="4343400"/>
            <a:ext cx="10195560" cy="960120"/>
          </a:xfrm>
          <a:prstGeom prst="roundRect">
            <a:avLst/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675506722" name="TextBox 1675506721"/>
          <p:cNvSpPr txBox="1"/>
          <p:nvPr/>
        </p:nvSpPr>
        <p:spPr>
          <a:xfrm>
            <a:off x="1097280" y="4517136"/>
            <a:ext cx="9829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업무별 상세 테이블</a:t>
            </a:r>
          </a:p>
        </p:txBody>
      </p:sp>
      <p:sp>
        <p:nvSpPr>
          <p:cNvPr id="1675506723" name="TextBox 1675506722"/>
          <p:cNvSpPr txBox="1"/>
          <p:nvPr/>
        </p:nvSpPr>
        <p:spPr>
          <a:xfrm>
            <a:off x="1097280" y="4873752"/>
            <a:ext cx="9829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휴가 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APRV_REL_LEAV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·  가지급 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APRV_REL_EXP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·  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물품반출입 APRV_REL_ITEM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 ·  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법인카드 APRV_REL_CORP</a:t>
            </a:r>
            <a:r>
              <a:rPr lang="en-US" sz="12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)</a:t>
            </a:r>
            <a:endParaRPr sz="1200" b="0">
              <a:solidFill>
                <a:srgbClr val="232323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grpSp>
        <p:nvGrpSpPr>
          <p:cNvPr id="2" name="그룹 22">
            <a:extLst>
              <a:ext uri="{FF2B5EF4-FFF2-40B4-BE49-F238E27FC236}">
                <a16:creationId xmlns:a16="http://schemas.microsoft.com/office/drawing/2014/main" id="{7AA9FC39-B11D-603E-CA76-1606CB0C503F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3" name="Straight Connector 24">
              <a:extLst>
                <a:ext uri="{FF2B5EF4-FFF2-40B4-BE49-F238E27FC236}">
                  <a16:creationId xmlns:a16="http://schemas.microsoft.com/office/drawing/2014/main" id="{7F27649C-F613-B2D7-3590-5B9FFD116A05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Group 65">
              <a:extLst>
                <a:ext uri="{FF2B5EF4-FFF2-40B4-BE49-F238E27FC236}">
                  <a16:creationId xmlns:a16="http://schemas.microsoft.com/office/drawing/2014/main" id="{4EECA1D7-7869-CB99-2161-325F5BD032B4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템플릿 기반 전자결재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2DC3C0C-7353-4470-05CC-CC2FB80B0730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6" name="Rectangle 21">
                <a:extLst>
                  <a:ext uri="{FF2B5EF4-FFF2-40B4-BE49-F238E27FC236}">
                    <a16:creationId xmlns:a16="http://schemas.microsoft.com/office/drawing/2014/main" id="{B397D318-0581-D907-8BCB-2FFA63813F4F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7" name="Rectangle 22">
                <a:extLst>
                  <a:ext uri="{FF2B5EF4-FFF2-40B4-BE49-F238E27FC236}">
                    <a16:creationId xmlns:a16="http://schemas.microsoft.com/office/drawing/2014/main" id="{180D9915-3AEA-6D05-18DF-B85CCC4CF007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8" name="Rectangle 23">
                <a:extLst>
                  <a:ext uri="{FF2B5EF4-FFF2-40B4-BE49-F238E27FC236}">
                    <a16:creationId xmlns:a16="http://schemas.microsoft.com/office/drawing/2014/main" id="{07963960-EF8F-9FD5-16D8-B5D45FC015F9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1D38A1A-A211-B05F-67B7-B91B86CAC4E0}"/>
              </a:ext>
            </a:extLst>
          </p:cNvPr>
          <p:cNvSpPr txBox="1"/>
          <p:nvPr/>
        </p:nvSpPr>
        <p:spPr bwMode="auto">
          <a:xfrm>
            <a:off x="896112" y="210592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템플릿의 기안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/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상세 매핑 정보와 업무 유형별 데이터를 분리하여 결재 기능을 구성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0D21B-483C-2FF9-CFC1-B2A2F8BE3D41}"/>
              </a:ext>
            </a:extLst>
          </p:cNvPr>
          <p:cNvSpPr txBox="1"/>
          <p:nvPr/>
        </p:nvSpPr>
        <p:spPr bwMode="auto">
          <a:xfrm>
            <a:off x="914400" y="6189007"/>
            <a:ext cx="105342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참고 사항  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결재 공통 정보와 업무별 입력 데이터를 분리하여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동일한 결재 흐름 안에서 서로 다른 업무 양식을 처리하도록 구성했습니다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245317" name="직사각형 5"/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20826649" name="직사각형 2"/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392594047" name="직선 연결선 3"/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5012274" name="TextBox 73"/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기능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1524230553" name="Rectangle 1524230552"/>
          <p:cNvSpPr/>
          <p:nvPr/>
        </p:nvSpPr>
        <p:spPr>
          <a:xfrm>
            <a:off x="1145146" y="2710454"/>
            <a:ext cx="4301412" cy="3704253"/>
          </a:xfrm>
          <a:prstGeom prst="rect">
            <a:avLst/>
          </a:prstGeom>
          <a:solidFill>
            <a:srgbClr val="F8F9FB"/>
          </a:solidFill>
          <a:ln>
            <a:solidFill>
              <a:srgbClr val="BE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4230555" name="TextBox 1524230554"/>
          <p:cNvSpPr txBox="1"/>
          <p:nvPr/>
        </p:nvSpPr>
        <p:spPr>
          <a:xfrm>
            <a:off x="6217920" y="2743200"/>
            <a:ext cx="46634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동작 규칙</a:t>
            </a:r>
          </a:p>
        </p:txBody>
      </p:sp>
      <p:sp>
        <p:nvSpPr>
          <p:cNvPr id="1524230556" name="TextBox 1524230555"/>
          <p:cNvSpPr txBox="1"/>
          <p:nvPr/>
        </p:nvSpPr>
        <p:spPr>
          <a:xfrm>
            <a:off x="6263640" y="3154680"/>
            <a:ext cx="4617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isRequired='Y' 요소 자동 수집</a:t>
            </a:r>
          </a:p>
        </p:txBody>
      </p:sp>
      <p:sp>
        <p:nvSpPr>
          <p:cNvPr id="1524230557" name="TextBox 1524230556"/>
          <p:cNvSpPr txBox="1"/>
          <p:nvPr/>
        </p:nvSpPr>
        <p:spPr>
          <a:xfrm>
            <a:off x="6263640" y="3630168"/>
            <a:ext cx="4617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title 속성으로 안내 문구 동적 생성</a:t>
            </a:r>
          </a:p>
        </p:txBody>
      </p:sp>
      <p:sp>
        <p:nvSpPr>
          <p:cNvPr id="1524230558" name="TextBox 1524230557"/>
          <p:cNvSpPr txBox="1"/>
          <p:nvPr/>
        </p:nvSpPr>
        <p:spPr>
          <a:xfrm>
            <a:off x="6263640" y="4105656"/>
            <a:ext cx="4617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빈 값 발견 시 alert + 해당 항목 focus</a:t>
            </a:r>
          </a:p>
        </p:txBody>
      </p:sp>
      <p:sp>
        <p:nvSpPr>
          <p:cNvPr id="1524230559" name="TextBox 1524230558"/>
          <p:cNvSpPr txBox="1"/>
          <p:nvPr/>
        </p:nvSpPr>
        <p:spPr>
          <a:xfrm>
            <a:off x="6263640" y="4581144"/>
            <a:ext cx="4617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• 각 업무 JSP에서 동일 함수 재사용</a:t>
            </a:r>
          </a:p>
        </p:txBody>
      </p:sp>
      <p:grpSp>
        <p:nvGrpSpPr>
          <p:cNvPr id="2" name="그룹 22">
            <a:extLst>
              <a:ext uri="{FF2B5EF4-FFF2-40B4-BE49-F238E27FC236}">
                <a16:creationId xmlns:a16="http://schemas.microsoft.com/office/drawing/2014/main" id="{85912564-96BB-9960-87EC-918EAF29949B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3" name="Straight Connector 24">
              <a:extLst>
                <a:ext uri="{FF2B5EF4-FFF2-40B4-BE49-F238E27FC236}">
                  <a16:creationId xmlns:a16="http://schemas.microsoft.com/office/drawing/2014/main" id="{96E90FFD-4B2D-06E1-303C-2E8CF297C8EC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Group 65">
              <a:extLst>
                <a:ext uri="{FF2B5EF4-FFF2-40B4-BE49-F238E27FC236}">
                  <a16:creationId xmlns:a16="http://schemas.microsoft.com/office/drawing/2014/main" id="{E9F2941F-056A-2A29-149D-DC21D6E4C9C6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공통 기능 </a:t>
              </a:r>
              <a:r>
                <a:rPr lang="en-US" altLang="ko-KR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· </a:t>
              </a: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유효성 검증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23BDB5E-39AC-1970-EF25-502EF0DFC037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6" name="Rectangle 21">
                <a:extLst>
                  <a:ext uri="{FF2B5EF4-FFF2-40B4-BE49-F238E27FC236}">
                    <a16:creationId xmlns:a16="http://schemas.microsoft.com/office/drawing/2014/main" id="{700591EC-BCA0-2404-ED02-BEBCB62B3B33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7" name="Rectangle 22">
                <a:extLst>
                  <a:ext uri="{FF2B5EF4-FFF2-40B4-BE49-F238E27FC236}">
                    <a16:creationId xmlns:a16="http://schemas.microsoft.com/office/drawing/2014/main" id="{65B2A214-2F30-0B25-0468-57B622A3E7DD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8" name="Rectangle 23">
                <a:extLst>
                  <a:ext uri="{FF2B5EF4-FFF2-40B4-BE49-F238E27FC236}">
                    <a16:creationId xmlns:a16="http://schemas.microsoft.com/office/drawing/2014/main" id="{4D1316E0-42AD-CD74-10CB-5A1EE964FCBA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B84C7F4-7285-6861-054E-418B09C726AB}"/>
              </a:ext>
            </a:extLst>
          </p:cNvPr>
          <p:cNvSpPr txBox="1"/>
          <p:nvPr/>
        </p:nvSpPr>
        <p:spPr bwMode="auto">
          <a:xfrm>
            <a:off x="896112" y="210592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HTML 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속성을 규칙으로 사용해 반복되는 필수값 검증을 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requiredProc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로 공통화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D1EFA-9E9D-AAB4-F34E-60F5F8B06C35}"/>
              </a:ext>
            </a:extLst>
          </p:cNvPr>
          <p:cNvSpPr txBox="1"/>
          <p:nvPr/>
        </p:nvSpPr>
        <p:spPr bwMode="auto">
          <a:xfrm>
            <a:off x="6207493" y="5501481"/>
            <a:ext cx="5589038" cy="61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참고사항 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검증 코드를 반복하지 않고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마크업 속성을 통해서 동일한 검증 규칙을 적용할 수 있도록 했습니다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3907980-2B53-F1E8-CDC0-BE6141EFA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73" y="2783801"/>
            <a:ext cx="4140000" cy="355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64221" name="직사각형 5"/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794279486" name="직사각형 2"/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721803854" name="직선 연결선 3"/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22160" name="TextBox 73"/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기능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sp>
        <p:nvSpPr>
          <p:cNvPr id="2087594493" name="Rounded Rectangle 2087594492"/>
          <p:cNvSpPr/>
          <p:nvPr/>
        </p:nvSpPr>
        <p:spPr>
          <a:xfrm>
            <a:off x="914400" y="274320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87594494" name="TextBox 2087594493"/>
          <p:cNvSpPr txBox="1"/>
          <p:nvPr/>
        </p:nvSpPr>
        <p:spPr>
          <a:xfrm>
            <a:off x="1005840" y="2926080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호출부</a:t>
            </a:r>
          </a:p>
        </p:txBody>
      </p:sp>
      <p:sp>
        <p:nvSpPr>
          <p:cNvPr id="2087594495" name="TextBox 2087594494"/>
          <p:cNvSpPr txBox="1"/>
          <p:nvPr/>
        </p:nvSpPr>
        <p:spPr>
          <a:xfrm>
            <a:off x="1005840" y="3310128"/>
            <a:ext cx="18745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OBJECT </a:t>
            </a:r>
            <a:r>
              <a:rPr lang="ko-KR" altLang="en-US"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전달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lang="en-US"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URL/</a:t>
            </a:r>
            <a:r>
              <a:rPr lang="ko-KR" altLang="en-US"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영역</a:t>
            </a:r>
            <a:r>
              <a:rPr lang="en-US" altLang="ko-KR"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/</a:t>
            </a:r>
            <a:r>
              <a:rPr lang="ko-KR" altLang="en-US"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높이</a:t>
            </a:r>
            <a:r>
              <a:rPr lang="en-US" altLang="ko-KR"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</a:t>
            </a:r>
            <a:r>
              <a:rPr lang="ko-KR" altLang="en-US"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너비</a:t>
            </a:r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2087594496" name="Connector 2087594495"/>
          <p:cNvCxnSpPr>
            <a:cxnSpLocks/>
            <a:stCxn id="2087594493" idx="3"/>
            <a:endCxn id="2087594497" idx="1"/>
          </p:cNvCxnSpPr>
          <p:nvPr/>
        </p:nvCxnSpPr>
        <p:spPr>
          <a:xfrm>
            <a:off x="2971800" y="3360420"/>
            <a:ext cx="64008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7594497" name="Rounded Rectangle 2087594496"/>
          <p:cNvSpPr/>
          <p:nvPr/>
        </p:nvSpPr>
        <p:spPr>
          <a:xfrm>
            <a:off x="3611880" y="274320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87594498" name="TextBox 2087594497"/>
          <p:cNvSpPr txBox="1"/>
          <p:nvPr/>
        </p:nvSpPr>
        <p:spPr>
          <a:xfrm>
            <a:off x="3703320" y="2926080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ajaxPopup(obj)</a:t>
            </a:r>
          </a:p>
        </p:txBody>
      </p:sp>
      <p:sp>
        <p:nvSpPr>
          <p:cNvPr id="2087594499" name="TextBox 2087594498"/>
          <p:cNvSpPr txBox="1"/>
          <p:nvPr/>
        </p:nvSpPr>
        <p:spPr>
          <a:xfrm>
            <a:off x="3703320" y="3310128"/>
            <a:ext cx="18745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POST 요청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공통 위치/크기 설정</a:t>
            </a:r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2087594500" name="Connector 2087594499"/>
          <p:cNvCxnSpPr>
            <a:cxnSpLocks/>
            <a:stCxn id="2087594497" idx="3"/>
            <a:endCxn id="2087594501" idx="1"/>
          </p:cNvCxnSpPr>
          <p:nvPr/>
        </p:nvCxnSpPr>
        <p:spPr>
          <a:xfrm>
            <a:off x="5669280" y="3360420"/>
            <a:ext cx="64008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7594501" name="Rounded Rectangle 2087594500"/>
          <p:cNvSpPr/>
          <p:nvPr/>
        </p:nvSpPr>
        <p:spPr>
          <a:xfrm>
            <a:off x="6309360" y="274320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87594502" name="TextBox 2087594501"/>
          <p:cNvSpPr txBox="1"/>
          <p:nvPr/>
        </p:nvSpPr>
        <p:spPr>
          <a:xfrm>
            <a:off x="6400800" y="2926080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Controller / JSP</a:t>
            </a:r>
          </a:p>
        </p:txBody>
      </p:sp>
      <p:sp>
        <p:nvSpPr>
          <p:cNvPr id="2087594503" name="TextBox 2087594502"/>
          <p:cNvSpPr txBox="1"/>
          <p:nvPr/>
        </p:nvSpPr>
        <p:spPr>
          <a:xfrm>
            <a:off x="6400800" y="3310128"/>
            <a:ext cx="1874519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팝업용 HTML 반환</a:t>
            </a:r>
          </a:p>
        </p:txBody>
      </p:sp>
      <p:cxnSp>
        <p:nvCxnSpPr>
          <p:cNvPr id="2087594504" name="Connector 2087594503"/>
          <p:cNvCxnSpPr>
            <a:cxnSpLocks/>
            <a:stCxn id="2087594501" idx="3"/>
            <a:endCxn id="2087594505" idx="1"/>
          </p:cNvCxnSpPr>
          <p:nvPr/>
        </p:nvCxnSpPr>
        <p:spPr>
          <a:xfrm>
            <a:off x="8366760" y="3360420"/>
            <a:ext cx="640080" cy="0"/>
          </a:xfrm>
          <a:prstGeom prst="line">
            <a:avLst/>
          </a:prstGeom>
          <a:ln w="25400">
            <a:solidFill>
              <a:srgbClr val="37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7594505" name="Rounded Rectangle 2087594504"/>
          <p:cNvSpPr/>
          <p:nvPr/>
        </p:nvSpPr>
        <p:spPr>
          <a:xfrm>
            <a:off x="9006840" y="274320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AFC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87594506" name="TextBox 2087594505"/>
          <p:cNvSpPr txBox="1"/>
          <p:nvPr/>
        </p:nvSpPr>
        <p:spPr>
          <a:xfrm>
            <a:off x="9098280" y="2926080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Modal Area</a:t>
            </a:r>
          </a:p>
        </p:txBody>
      </p:sp>
      <p:sp>
        <p:nvSpPr>
          <p:cNvPr id="2087594507" name="TextBox 2087594506"/>
          <p:cNvSpPr txBox="1"/>
          <p:nvPr/>
        </p:nvSpPr>
        <p:spPr>
          <a:xfrm>
            <a:off x="9098280" y="3310128"/>
            <a:ext cx="18745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HTML 주입</a:t>
            </a:r>
            <a:br>
              <a:rPr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sz="140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Overlay/Scroll 제어</a:t>
            </a:r>
            <a:endParaRPr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087594508" name="Rounded Rectangle 2087594507"/>
          <p:cNvSpPr/>
          <p:nvPr/>
        </p:nvSpPr>
        <p:spPr>
          <a:xfrm>
            <a:off x="914400" y="4434840"/>
            <a:ext cx="10149840" cy="822960"/>
          </a:xfrm>
          <a:prstGeom prst="roundRect">
            <a:avLst/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7594509" name="TextBox 2087594508"/>
          <p:cNvSpPr txBox="1"/>
          <p:nvPr/>
        </p:nvSpPr>
        <p:spPr>
          <a:xfrm>
            <a:off x="1097280" y="4766078"/>
            <a:ext cx="9784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프로젝트 · 담당자 · 결재선 · </a:t>
            </a:r>
            <a:r>
              <a:rPr lang="ko-KR" altLang="en-US" sz="14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조직도</a:t>
            </a:r>
            <a:r>
              <a:rPr sz="14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등 여러 업무 팝업이 동일한 ajaxPopup() 호출 구조를 사용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AD9C7-6DC4-1B55-D1E4-9BDB74EE2275}"/>
              </a:ext>
            </a:extLst>
          </p:cNvPr>
          <p:cNvSpPr txBox="1"/>
          <p:nvPr/>
        </p:nvSpPr>
        <p:spPr bwMode="auto">
          <a:xfrm>
            <a:off x="896112" y="210592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팝업 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URL · 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영역 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· 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크기를 객체로 전달하고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 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응답 </a:t>
            </a:r>
            <a:r>
              <a:rPr lang="en-US" altLang="ko-KR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HTML</a:t>
            </a:r>
            <a:r>
              <a:rPr lang="ko-KR" altLang="en-US" sz="2100" b="1">
                <a:solidFill>
                  <a:srgbClr val="082F7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을 공통 영역에 주입</a:t>
            </a: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644ECFBE-6F7A-266E-FCAF-16327D421A9B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619D8FFE-2453-00BF-9F22-607A8B350B5B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6783A11F-478C-4466-F92B-2B3AA7B237E7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공통 기능 </a:t>
              </a:r>
              <a:r>
                <a:rPr lang="en-US" altLang="ko-KR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· </a:t>
              </a: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모달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328DCF1-AFCC-BDB3-743B-265F268F6F06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22BB9687-44CA-B29D-D1FF-356502A811F8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968B123E-343E-A333-0B36-DE2B904AF576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9D205AA0-AB45-D17D-6E55-C67C78173C11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2BC568E-3315-5BFA-F932-2E505C6105F3}"/>
              </a:ext>
            </a:extLst>
          </p:cNvPr>
          <p:cNvSpPr txBox="1"/>
          <p:nvPr/>
        </p:nvSpPr>
        <p:spPr bwMode="auto">
          <a:xfrm>
            <a:off x="914400" y="6189007"/>
            <a:ext cx="105342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참고 사항  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| </a:t>
            </a:r>
            <a:r>
              <a:rPr lang="ko-KR" altLang="en-US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공통 팝업 처리와 업무별 콘텐츠를 분리하여 화면별 중복 스크립트를 줄였습니다</a:t>
            </a:r>
            <a:r>
              <a:rPr lang="en-US" altLang="ko-KR" sz="1400">
                <a:solidFill>
                  <a:srgbClr val="5A5A5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6539802" name="Object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73445" y="0"/>
            <a:ext cx="7118555" cy="6874587"/>
          </a:xfrm>
          <a:prstGeom prst="rect">
            <a:avLst/>
          </a:prstGeom>
        </p:spPr>
      </p:pic>
      <p:sp>
        <p:nvSpPr>
          <p:cNvPr id="1070339546" name="Group 13"/>
          <p:cNvSpPr txBox="1"/>
          <p:nvPr/>
        </p:nvSpPr>
        <p:spPr bwMode="auto">
          <a:xfrm>
            <a:off x="452196" y="2462908"/>
            <a:ext cx="5269147" cy="178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sz="6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6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화면</a:t>
            </a:r>
            <a:endParaRPr sz="6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endParaRPr sz="1200">
              <a:solidFill>
                <a:schemeClr val="bg1">
                  <a:lumMod val="6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>
                <a:solidFill>
                  <a:schemeClr val="bg1">
                    <a:lumMod val="6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PROJECT</a:t>
            </a:r>
            <a:endParaRPr sz="7200" spc="-149">
              <a:ln w="47625">
                <a:noFill/>
              </a:ln>
              <a:solidFill>
                <a:schemeClr val="bg1">
                  <a:lumMod val="6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  <a:p>
            <a:pPr>
              <a:lnSpc>
                <a:spcPct val="80000"/>
              </a:lnSpc>
              <a:defRPr/>
            </a:pPr>
            <a:r>
              <a:rPr lang="en-US" sz="2800" spc="-149">
                <a:ln w="47625"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INTR</a:t>
            </a:r>
            <a:endParaRPr sz="7200" spc="-149">
              <a:ln w="47625"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cxnSp>
        <p:nvCxnSpPr>
          <p:cNvPr id="547343394" name="직선 연결선 4"/>
          <p:cNvCxnSpPr/>
          <p:nvPr/>
        </p:nvCxnSpPr>
        <p:spPr bwMode="auto">
          <a:xfrm>
            <a:off x="589644" y="3240018"/>
            <a:ext cx="433977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3036953" name="직선 연결선 5"/>
          <p:cNvCxnSpPr/>
          <p:nvPr/>
        </p:nvCxnSpPr>
        <p:spPr bwMode="auto">
          <a:xfrm>
            <a:off x="576362" y="3267450"/>
            <a:ext cx="1701799" cy="0"/>
          </a:xfrm>
          <a:prstGeom prst="line">
            <a:avLst/>
          </a:prstGeom>
          <a:ln w="38100">
            <a:solidFill>
              <a:srgbClr val="012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7E0BA4-2A0A-166F-B33D-CEB1AFF1F99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Rounded Rectangle 2087594507">
            <a:extLst>
              <a:ext uri="{FF2B5EF4-FFF2-40B4-BE49-F238E27FC236}">
                <a16:creationId xmlns:a16="http://schemas.microsoft.com/office/drawing/2014/main" id="{7B5BE917-D76F-F645-7AB2-1F64844C1CD3}"/>
              </a:ext>
            </a:extLst>
          </p:cNvPr>
          <p:cNvSpPr/>
          <p:nvPr/>
        </p:nvSpPr>
        <p:spPr bwMode="auto">
          <a:xfrm>
            <a:off x="884874" y="1933012"/>
            <a:ext cx="9556081" cy="4766366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464221" name="직사각형 5">
            <a:extLst>
              <a:ext uri="{FF2B5EF4-FFF2-40B4-BE49-F238E27FC236}">
                <a16:creationId xmlns:a16="http://schemas.microsoft.com/office/drawing/2014/main" id="{7D71C262-2FF3-8708-E3A6-3A3A6607DA0E}"/>
              </a:ext>
            </a:extLst>
          </p:cNvPr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794279486" name="직사각형 2">
            <a:extLst>
              <a:ext uri="{FF2B5EF4-FFF2-40B4-BE49-F238E27FC236}">
                <a16:creationId xmlns:a16="http://schemas.microsoft.com/office/drawing/2014/main" id="{C6911719-049F-B5A6-7185-0D9FDF775F7B}"/>
              </a:ext>
            </a:extLst>
          </p:cNvPr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721803854" name="직선 연결선 3">
            <a:extLst>
              <a:ext uri="{FF2B5EF4-FFF2-40B4-BE49-F238E27FC236}">
                <a16:creationId xmlns:a16="http://schemas.microsoft.com/office/drawing/2014/main" id="{637653A5-739C-78F5-83F1-67BAF65FEB69}"/>
              </a:ext>
            </a:extLst>
          </p:cNvPr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22160" name="TextBox 73">
            <a:extLst>
              <a:ext uri="{FF2B5EF4-FFF2-40B4-BE49-F238E27FC236}">
                <a16:creationId xmlns:a16="http://schemas.microsoft.com/office/drawing/2014/main" id="{62DB1879-01D1-E4DB-6B81-2A6EFA210115}"/>
              </a:ext>
            </a:extLst>
          </p:cNvPr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</a:t>
            </a:r>
            <a:r>
              <a:rPr lang="ko-KR" alt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화면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72A62BE9-2061-CDA3-DB84-506314C71971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D85E011F-BA93-3806-37CF-6E16FB7756E0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B889C1BA-695D-6A84-4E10-9596D4754A34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사용자 메인 화면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EE3D65B-CCA7-20AA-607A-4620231C7565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74D0F733-69E9-8F1A-A202-D5FCC7C9C107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5F4ACA69-63E5-4DBD-39F0-442F56ED117A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1494012B-000F-A2E8-5E12-6126E7F9A3BB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9EE226BA-C9C5-A292-E048-25BB20734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0" y="1978058"/>
            <a:ext cx="9429882" cy="466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887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DA767A0-CF3B-55A5-B454-FE6501D193A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64221" name="직사각형 5">
            <a:extLst>
              <a:ext uri="{FF2B5EF4-FFF2-40B4-BE49-F238E27FC236}">
                <a16:creationId xmlns:a16="http://schemas.microsoft.com/office/drawing/2014/main" id="{F73ECEFA-F2E1-2CB8-5608-4400402ADBDD}"/>
              </a:ext>
            </a:extLst>
          </p:cNvPr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794279486" name="직사각형 2">
            <a:extLst>
              <a:ext uri="{FF2B5EF4-FFF2-40B4-BE49-F238E27FC236}">
                <a16:creationId xmlns:a16="http://schemas.microsoft.com/office/drawing/2014/main" id="{32A31E22-A8F0-FA3A-2471-216E19B1B387}"/>
              </a:ext>
            </a:extLst>
          </p:cNvPr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721803854" name="직선 연결선 3">
            <a:extLst>
              <a:ext uri="{FF2B5EF4-FFF2-40B4-BE49-F238E27FC236}">
                <a16:creationId xmlns:a16="http://schemas.microsoft.com/office/drawing/2014/main" id="{BC96B9ED-64D9-ACCC-45A7-644B58ACE89F}"/>
              </a:ext>
            </a:extLst>
          </p:cNvPr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22160" name="TextBox 73">
            <a:extLst>
              <a:ext uri="{FF2B5EF4-FFF2-40B4-BE49-F238E27FC236}">
                <a16:creationId xmlns:a16="http://schemas.microsoft.com/office/drawing/2014/main" id="{3AB4BD73-C40B-DB03-1BB3-B6887C8DEA66}"/>
              </a:ext>
            </a:extLst>
          </p:cNvPr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</a:t>
            </a:r>
            <a:r>
              <a:rPr lang="ko-KR" alt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화면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5BE023ED-EEEC-32B6-3AB9-345111AA0C4C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701E39E0-3014-8936-A19C-23895EB8ED10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2EF870C2-EF8E-EE5D-19A2-ACF1EA6C8660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관리자 메인 화면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903D056-6BDB-FF70-2F0B-288F32001347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25603E9B-F8A6-FAAC-F31D-BEA4562FB2CA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7DFAD794-EE70-94ED-6472-FF154B72265A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12CCD539-1BF5-605C-926C-C7A999598DAA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3" name="Rounded Rectangle 2087594507">
            <a:extLst>
              <a:ext uri="{FF2B5EF4-FFF2-40B4-BE49-F238E27FC236}">
                <a16:creationId xmlns:a16="http://schemas.microsoft.com/office/drawing/2014/main" id="{8B83847B-73C0-32BB-5544-1B8C19DA1F11}"/>
              </a:ext>
            </a:extLst>
          </p:cNvPr>
          <p:cNvSpPr/>
          <p:nvPr/>
        </p:nvSpPr>
        <p:spPr bwMode="auto">
          <a:xfrm>
            <a:off x="884874" y="1933012"/>
            <a:ext cx="9556081" cy="4766366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DB8F9A1-EF52-6566-4A77-41C6460D3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0" y="1981595"/>
            <a:ext cx="9429882" cy="46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6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863D181-9D39-7034-E4D2-25496FAACC7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64221" name="직사각형 5">
            <a:extLst>
              <a:ext uri="{FF2B5EF4-FFF2-40B4-BE49-F238E27FC236}">
                <a16:creationId xmlns:a16="http://schemas.microsoft.com/office/drawing/2014/main" id="{CF5B7DB0-A8C2-08D5-22B8-10C10415EFB1}"/>
              </a:ext>
            </a:extLst>
          </p:cNvPr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794279486" name="직사각형 2">
            <a:extLst>
              <a:ext uri="{FF2B5EF4-FFF2-40B4-BE49-F238E27FC236}">
                <a16:creationId xmlns:a16="http://schemas.microsoft.com/office/drawing/2014/main" id="{F17EC8E9-847C-4393-C951-76C2407C8436}"/>
              </a:ext>
            </a:extLst>
          </p:cNvPr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721803854" name="직선 연결선 3">
            <a:extLst>
              <a:ext uri="{FF2B5EF4-FFF2-40B4-BE49-F238E27FC236}">
                <a16:creationId xmlns:a16="http://schemas.microsoft.com/office/drawing/2014/main" id="{01F82408-C3CF-6B49-D34B-8929A224A10B}"/>
              </a:ext>
            </a:extLst>
          </p:cNvPr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22160" name="TextBox 73">
            <a:extLst>
              <a:ext uri="{FF2B5EF4-FFF2-40B4-BE49-F238E27FC236}">
                <a16:creationId xmlns:a16="http://schemas.microsoft.com/office/drawing/2014/main" id="{2405B8FB-4F95-22D9-4F80-FE0E7A27D742}"/>
              </a:ext>
            </a:extLst>
          </p:cNvPr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</a:t>
            </a:r>
            <a:r>
              <a:rPr lang="ko-KR" alt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화면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C13C3889-1170-E3FA-A1B4-58F18C4F65C2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96B748DD-C345-FC95-DF93-F182D2B1F45F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BFBCD8AE-DC93-D721-47F8-59C659B0EECF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메뉴 권한 부여 화면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6D5B38C-A9A5-7BC3-A11E-F6B9AD1763FA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E80FDB02-C728-8615-4C3F-212E9052EC1A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D74A00C7-E05F-DA1C-9230-B73C0CFBB7F7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1DCD0E54-4997-5F34-80BF-FE5643D784AD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3" name="Rounded Rectangle 2087594507">
            <a:extLst>
              <a:ext uri="{FF2B5EF4-FFF2-40B4-BE49-F238E27FC236}">
                <a16:creationId xmlns:a16="http://schemas.microsoft.com/office/drawing/2014/main" id="{91A82619-6D36-9FF9-242F-5AF6E5188FCF}"/>
              </a:ext>
            </a:extLst>
          </p:cNvPr>
          <p:cNvSpPr/>
          <p:nvPr/>
        </p:nvSpPr>
        <p:spPr bwMode="auto">
          <a:xfrm>
            <a:off x="884874" y="1933012"/>
            <a:ext cx="9556081" cy="4766366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967E7D9-493F-9FAF-1A79-023C33221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0" y="1981595"/>
            <a:ext cx="9411221" cy="46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4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FA0944-7FD7-9E65-1C60-F2D89B2DF14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64221" name="직사각형 5">
            <a:extLst>
              <a:ext uri="{FF2B5EF4-FFF2-40B4-BE49-F238E27FC236}">
                <a16:creationId xmlns:a16="http://schemas.microsoft.com/office/drawing/2014/main" id="{9C1B1E1F-DC58-8292-1AF5-7E5A7AF85E17}"/>
              </a:ext>
            </a:extLst>
          </p:cNvPr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794279486" name="직사각형 2">
            <a:extLst>
              <a:ext uri="{FF2B5EF4-FFF2-40B4-BE49-F238E27FC236}">
                <a16:creationId xmlns:a16="http://schemas.microsoft.com/office/drawing/2014/main" id="{0AC6CED6-308D-5625-D263-4DF1AB3EF0FD}"/>
              </a:ext>
            </a:extLst>
          </p:cNvPr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721803854" name="직선 연결선 3">
            <a:extLst>
              <a:ext uri="{FF2B5EF4-FFF2-40B4-BE49-F238E27FC236}">
                <a16:creationId xmlns:a16="http://schemas.microsoft.com/office/drawing/2014/main" id="{66563446-47E0-16FE-0E6E-344B02AD6EA7}"/>
              </a:ext>
            </a:extLst>
          </p:cNvPr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22160" name="TextBox 73">
            <a:extLst>
              <a:ext uri="{FF2B5EF4-FFF2-40B4-BE49-F238E27FC236}">
                <a16:creationId xmlns:a16="http://schemas.microsoft.com/office/drawing/2014/main" id="{FC4BCD03-D1C9-8699-D081-101A6552CAA0}"/>
              </a:ext>
            </a:extLst>
          </p:cNvPr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</a:t>
            </a:r>
            <a:r>
              <a:rPr lang="ko-KR" alt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화면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0ED3AD94-4A7C-D99B-80B1-7F723F837E71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7D3A33DB-6468-D109-0F81-5173425D3B3A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B2D8BD9F-7BC2-965D-CA86-035DC63181CD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사용자 권한 부여 화면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92BC75-543E-4AA3-0E95-063BB59ED8F5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477A6102-7698-3D12-2A5D-3C0391162855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C3E26FED-A481-CB63-775D-6DDFFA044BF0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1196B832-DB39-54BB-3D35-4705E6B299BA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3" name="Rounded Rectangle 2087594507">
            <a:extLst>
              <a:ext uri="{FF2B5EF4-FFF2-40B4-BE49-F238E27FC236}">
                <a16:creationId xmlns:a16="http://schemas.microsoft.com/office/drawing/2014/main" id="{FE6083EA-D85B-378C-BBB2-63310F10AAF0}"/>
              </a:ext>
            </a:extLst>
          </p:cNvPr>
          <p:cNvSpPr/>
          <p:nvPr/>
        </p:nvSpPr>
        <p:spPr bwMode="auto">
          <a:xfrm>
            <a:off x="884874" y="1933012"/>
            <a:ext cx="9556081" cy="4766366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74A667D-4E0B-AF9D-7056-697660EDD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1" y="1981595"/>
            <a:ext cx="9429882" cy="46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15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43BB810-9F46-461F-08DA-BEB534B44DB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64221" name="직사각형 5">
            <a:extLst>
              <a:ext uri="{FF2B5EF4-FFF2-40B4-BE49-F238E27FC236}">
                <a16:creationId xmlns:a16="http://schemas.microsoft.com/office/drawing/2014/main" id="{B1EA362D-C48E-9288-F2E4-50FAF2E40689}"/>
              </a:ext>
            </a:extLst>
          </p:cNvPr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794279486" name="직사각형 2">
            <a:extLst>
              <a:ext uri="{FF2B5EF4-FFF2-40B4-BE49-F238E27FC236}">
                <a16:creationId xmlns:a16="http://schemas.microsoft.com/office/drawing/2014/main" id="{C082A14E-71F6-3F4E-30B4-B8FBDC263ECF}"/>
              </a:ext>
            </a:extLst>
          </p:cNvPr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721803854" name="직선 연결선 3">
            <a:extLst>
              <a:ext uri="{FF2B5EF4-FFF2-40B4-BE49-F238E27FC236}">
                <a16:creationId xmlns:a16="http://schemas.microsoft.com/office/drawing/2014/main" id="{A2E5F061-4DE9-8FFC-485E-4552035A1E50}"/>
              </a:ext>
            </a:extLst>
          </p:cNvPr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22160" name="TextBox 73">
            <a:extLst>
              <a:ext uri="{FF2B5EF4-FFF2-40B4-BE49-F238E27FC236}">
                <a16:creationId xmlns:a16="http://schemas.microsoft.com/office/drawing/2014/main" id="{0ECEDFB8-5300-0EFC-4E07-168FF1813533}"/>
              </a:ext>
            </a:extLst>
          </p:cNvPr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</a:t>
            </a:r>
            <a:r>
              <a:rPr lang="ko-KR" alt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화면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69CF28CF-4686-186D-4C3A-C552A1D45FB5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2650CDCE-5A3A-5637-E61C-69BA95D3DD6F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2976092C-94B7-CCF6-30E6-7E7989DDCA82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결재선 관리 화면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AC24E83-FD8C-4B3B-D7CB-DB790964545E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2D95BF47-B854-B2E9-8432-BAF5A1FFBFAB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8A8E2286-5DFE-DE23-9E67-9CA8A4EFC940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07355337-491B-0272-3EAB-BAC7ABB5FCC7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3" name="Rounded Rectangle 2087594507">
            <a:extLst>
              <a:ext uri="{FF2B5EF4-FFF2-40B4-BE49-F238E27FC236}">
                <a16:creationId xmlns:a16="http://schemas.microsoft.com/office/drawing/2014/main" id="{64CEB600-1388-F9FB-1700-BCAF903B366D}"/>
              </a:ext>
            </a:extLst>
          </p:cNvPr>
          <p:cNvSpPr/>
          <p:nvPr/>
        </p:nvSpPr>
        <p:spPr bwMode="auto">
          <a:xfrm>
            <a:off x="884874" y="1933012"/>
            <a:ext cx="9556081" cy="4766366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4A77F4F-63E4-875E-68CF-A8F9D3C56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89" y="1981595"/>
            <a:ext cx="9428400" cy="467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0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75CB8B-5483-D6D0-6DE7-E73C57149F5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64221" name="직사각형 5">
            <a:extLst>
              <a:ext uri="{FF2B5EF4-FFF2-40B4-BE49-F238E27FC236}">
                <a16:creationId xmlns:a16="http://schemas.microsoft.com/office/drawing/2014/main" id="{B8BFBB80-048D-E8E3-8E2D-14E85733F491}"/>
              </a:ext>
            </a:extLst>
          </p:cNvPr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794279486" name="직사각형 2">
            <a:extLst>
              <a:ext uri="{FF2B5EF4-FFF2-40B4-BE49-F238E27FC236}">
                <a16:creationId xmlns:a16="http://schemas.microsoft.com/office/drawing/2014/main" id="{7954E680-01AA-0029-1B63-300CADBBFB29}"/>
              </a:ext>
            </a:extLst>
          </p:cNvPr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721803854" name="직선 연결선 3">
            <a:extLst>
              <a:ext uri="{FF2B5EF4-FFF2-40B4-BE49-F238E27FC236}">
                <a16:creationId xmlns:a16="http://schemas.microsoft.com/office/drawing/2014/main" id="{83D0FE41-FFF2-AE59-9113-D1ECC8BE1094}"/>
              </a:ext>
            </a:extLst>
          </p:cNvPr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22160" name="TextBox 73">
            <a:extLst>
              <a:ext uri="{FF2B5EF4-FFF2-40B4-BE49-F238E27FC236}">
                <a16:creationId xmlns:a16="http://schemas.microsoft.com/office/drawing/2014/main" id="{8C0D9594-1411-6C6B-943D-AAC8B7157C0D}"/>
              </a:ext>
            </a:extLst>
          </p:cNvPr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</a:t>
            </a:r>
            <a:r>
              <a:rPr lang="ko-KR" alt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화면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477515C8-F40F-B969-AC2D-51866D77C2C4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5A8F5F31-06FB-15CD-CFB7-D5D4BDAF4672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26F22F38-9AA1-EEBB-3B65-C52A227ADF87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기안 작성 화면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60458D7-CA7B-A9E5-1256-0CDE25109C3E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A88AF349-3D92-0A40-1FCD-C6FE5CBB3916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3B39BF2C-202E-774B-1237-F65AB08618E2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03D651D9-A0AD-7807-B9DE-7F0E82ACD7E0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3" name="Rounded Rectangle 2087594507">
            <a:extLst>
              <a:ext uri="{FF2B5EF4-FFF2-40B4-BE49-F238E27FC236}">
                <a16:creationId xmlns:a16="http://schemas.microsoft.com/office/drawing/2014/main" id="{D22BBE17-8EF9-27FA-7708-6B46689CBB2E}"/>
              </a:ext>
            </a:extLst>
          </p:cNvPr>
          <p:cNvSpPr/>
          <p:nvPr/>
        </p:nvSpPr>
        <p:spPr bwMode="auto">
          <a:xfrm>
            <a:off x="884874" y="1933012"/>
            <a:ext cx="9556081" cy="4766366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1AFD15F-D1A0-BDC4-474D-31408680F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0" y="1981595"/>
            <a:ext cx="9429882" cy="46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5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D4B7A3D-120F-6654-CB0E-2A408196E9C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64221" name="직사각형 5">
            <a:extLst>
              <a:ext uri="{FF2B5EF4-FFF2-40B4-BE49-F238E27FC236}">
                <a16:creationId xmlns:a16="http://schemas.microsoft.com/office/drawing/2014/main" id="{52DBBA3C-47DF-2642-22A1-CA6B1F42E091}"/>
              </a:ext>
            </a:extLst>
          </p:cNvPr>
          <p:cNvSpPr/>
          <p:nvPr/>
        </p:nvSpPr>
        <p:spPr bwMode="auto">
          <a:xfrm>
            <a:off x="0" y="0"/>
            <a:ext cx="495704" cy="6857997"/>
          </a:xfrm>
          <a:prstGeom prst="rect">
            <a:avLst/>
          </a:prstGeom>
          <a:solidFill>
            <a:srgbClr val="012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 Light"/>
              <a:ea typeface="Noto Sans KR Light"/>
            </a:endParaRPr>
          </a:p>
        </p:txBody>
      </p:sp>
      <p:sp>
        <p:nvSpPr>
          <p:cNvPr id="794279486" name="직사각형 2">
            <a:extLst>
              <a:ext uri="{FF2B5EF4-FFF2-40B4-BE49-F238E27FC236}">
                <a16:creationId xmlns:a16="http://schemas.microsoft.com/office/drawing/2014/main" id="{344DC189-C67A-8D38-2073-133C9D69663A}"/>
              </a:ext>
            </a:extLst>
          </p:cNvPr>
          <p:cNvSpPr/>
          <p:nvPr/>
        </p:nvSpPr>
        <p:spPr bwMode="auto">
          <a:xfrm>
            <a:off x="749808" y="339583"/>
            <a:ext cx="11046723" cy="681502"/>
          </a:xfrm>
          <a:prstGeom prst="rect">
            <a:avLst/>
          </a:prstGeom>
          <a:gradFill>
            <a:gsLst>
              <a:gs pos="0">
                <a:schemeClr val="bg1"/>
              </a:gs>
              <a:gs pos="1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latin typeface="Noto Sans KR"/>
              <a:ea typeface="Noto Sans KR"/>
            </a:endParaRPr>
          </a:p>
        </p:txBody>
      </p:sp>
      <p:cxnSp>
        <p:nvCxnSpPr>
          <p:cNvPr id="721803854" name="직선 연결선 3">
            <a:extLst>
              <a:ext uri="{FF2B5EF4-FFF2-40B4-BE49-F238E27FC236}">
                <a16:creationId xmlns:a16="http://schemas.microsoft.com/office/drawing/2014/main" id="{E49381A6-2AB5-CB50-11CC-6A045BD9EFDB}"/>
              </a:ext>
            </a:extLst>
          </p:cNvPr>
          <p:cNvCxnSpPr/>
          <p:nvPr/>
        </p:nvCxnSpPr>
        <p:spPr bwMode="auto">
          <a:xfrm>
            <a:off x="749808" y="339583"/>
            <a:ext cx="110467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22160" name="TextBox 73">
            <a:extLst>
              <a:ext uri="{FF2B5EF4-FFF2-40B4-BE49-F238E27FC236}">
                <a16:creationId xmlns:a16="http://schemas.microsoft.com/office/drawing/2014/main" id="{33DCFFAB-01BB-06C7-F952-E9B938F93401}"/>
              </a:ext>
            </a:extLst>
          </p:cNvPr>
          <p:cNvSpPr txBox="1"/>
          <p:nvPr/>
        </p:nvSpPr>
        <p:spPr bwMode="auto">
          <a:xfrm>
            <a:off x="749808" y="339583"/>
            <a:ext cx="2303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>
              <a:defRPr/>
            </a:pPr>
            <a:r>
              <a:rPr 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주요</a:t>
            </a:r>
            <a:r>
              <a:rPr lang="ko-KR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 </a:t>
            </a:r>
            <a:r>
              <a:rPr lang="ko-KR" altLang="en-US" sz="4000">
                <a:solidFill>
                  <a:srgbClr val="01248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화면</a:t>
            </a:r>
            <a:endParaRPr sz="4000">
              <a:solidFill>
                <a:srgbClr val="01248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G마켓 산스 TTF Bold"/>
            </a:endParaRPr>
          </a:p>
        </p:txBody>
      </p:sp>
      <p:grpSp>
        <p:nvGrpSpPr>
          <p:cNvPr id="4" name="그룹 22">
            <a:extLst>
              <a:ext uri="{FF2B5EF4-FFF2-40B4-BE49-F238E27FC236}">
                <a16:creationId xmlns:a16="http://schemas.microsoft.com/office/drawing/2014/main" id="{3414B06E-EA21-9736-1A51-8040DE75DC9F}"/>
              </a:ext>
            </a:extLst>
          </p:cNvPr>
          <p:cNvGrpSpPr/>
          <p:nvPr/>
        </p:nvGrpSpPr>
        <p:grpSpPr bwMode="auto">
          <a:xfrm>
            <a:off x="884874" y="1499081"/>
            <a:ext cx="2686692" cy="325469"/>
            <a:chOff x="0" y="-37055"/>
            <a:chExt cx="2686692" cy="325469"/>
          </a:xfrm>
        </p:grpSpPr>
        <p:cxnSp>
          <p:nvCxnSpPr>
            <p:cNvPr id="5" name="Straight Connector 24">
              <a:extLst>
                <a:ext uri="{FF2B5EF4-FFF2-40B4-BE49-F238E27FC236}">
                  <a16:creationId xmlns:a16="http://schemas.microsoft.com/office/drawing/2014/main" id="{D877AA6E-1A81-C7E9-1320-412247B67891}"/>
                </a:ext>
              </a:extLst>
            </p:cNvPr>
            <p:cNvCxnSpPr/>
            <p:nvPr/>
          </p:nvCxnSpPr>
          <p:spPr bwMode="auto">
            <a:xfrm>
              <a:off x="0" y="288414"/>
              <a:ext cx="2140151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Group 65">
              <a:extLst>
                <a:ext uri="{FF2B5EF4-FFF2-40B4-BE49-F238E27FC236}">
                  <a16:creationId xmlns:a16="http://schemas.microsoft.com/office/drawing/2014/main" id="{D3AA6C7A-0615-C89B-F319-47A4418ECDC9}"/>
                </a:ext>
              </a:extLst>
            </p:cNvPr>
            <p:cNvSpPr txBox="1"/>
            <p:nvPr/>
          </p:nvSpPr>
          <p:spPr bwMode="auto">
            <a:xfrm>
              <a:off x="271749" y="-37055"/>
              <a:ext cx="2414943" cy="311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400">
                  <a:gradFill>
                    <a:gsLst>
                      <a:gs pos="0">
                        <a:srgbClr val="08AEEA"/>
                      </a:gs>
                      <a:gs pos="100000">
                        <a:srgbClr val="2AF598"/>
                      </a:gs>
                    </a:gsLst>
                    <a:lin ang="2700000" scaled="0"/>
                  </a:gradFill>
                  <a:latin typeface="Arial"/>
                  <a:ea typeface="Arial"/>
                </a:defRPr>
              </a:lvl1pPr>
            </a:lstStyle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spc="-150">
                  <a:solidFill>
                    <a:schemeClr val="tx1"/>
                  </a:solidFill>
                  <a:latin typeface="G마켓 산스 Light" panose="02000000000000000000" pitchFamily="50" charset="-127"/>
                  <a:ea typeface="G마켓 산스 Light" panose="02000000000000000000" pitchFamily="50" charset="-127"/>
                  <a:cs typeface="G마켓 산스 TTF Light"/>
                </a:rPr>
                <a:t>결재 처리 화면</a:t>
              </a:r>
              <a:endParaRPr sz="1200" spc="-150">
                <a:solidFill>
                  <a:schemeClr val="tx1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  <a:cs typeface="G마켓 산스 TTF Light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BF2EF84-172F-0F9B-BDF5-5563DFB59C33}"/>
                </a:ext>
              </a:extLst>
            </p:cNvPr>
            <p:cNvGrpSpPr/>
            <p:nvPr/>
          </p:nvGrpSpPr>
          <p:grpSpPr bwMode="auto">
            <a:xfrm>
              <a:off x="0" y="0"/>
              <a:ext cx="223231" cy="236938"/>
              <a:chOff x="0" y="0"/>
              <a:chExt cx="223231" cy="236938"/>
            </a:xfrm>
          </p:grpSpPr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110C0DC3-366A-7FDD-AFC6-0487BBD3B5C3}"/>
                  </a:ext>
                </a:extLst>
              </p:cNvPr>
              <p:cNvSpPr/>
              <p:nvPr/>
            </p:nvSpPr>
            <p:spPr bwMode="auto">
              <a:xfrm>
                <a:off x="0" y="2"/>
                <a:ext cx="121770" cy="236936"/>
              </a:xfrm>
              <a:prstGeom prst="rect">
                <a:avLst/>
              </a:prstGeom>
              <a:solidFill>
                <a:srgbClr val="0124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DBA6D446-B7BC-38A3-859C-94198C514468}"/>
                  </a:ext>
                </a:extLst>
              </p:cNvPr>
              <p:cNvSpPr/>
              <p:nvPr/>
            </p:nvSpPr>
            <p:spPr bwMode="auto">
              <a:xfrm>
                <a:off x="121768" y="0"/>
                <a:ext cx="52943" cy="23693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F5095601-FB41-2B70-8FF0-C64446B9B9C3}"/>
                  </a:ext>
                </a:extLst>
              </p:cNvPr>
              <p:cNvSpPr/>
              <p:nvPr/>
            </p:nvSpPr>
            <p:spPr bwMode="auto">
              <a:xfrm>
                <a:off x="170289" y="0"/>
                <a:ext cx="52943" cy="2369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400">
                  <a:solidFill>
                    <a:schemeClr val="tx1"/>
                  </a:solidFill>
                  <a:latin typeface="Noto Sans KR Medium"/>
                  <a:ea typeface="Noto Sans KR Medium"/>
                  <a:cs typeface="KoPubWorld돋움체 Light"/>
                </a:endParaRPr>
              </a:p>
            </p:txBody>
          </p:sp>
        </p:grpSp>
      </p:grpSp>
      <p:sp>
        <p:nvSpPr>
          <p:cNvPr id="12" name="Rounded Rectangle 2087594507">
            <a:extLst>
              <a:ext uri="{FF2B5EF4-FFF2-40B4-BE49-F238E27FC236}">
                <a16:creationId xmlns:a16="http://schemas.microsoft.com/office/drawing/2014/main" id="{60197366-0600-FD5A-1B89-D83AB8F12500}"/>
              </a:ext>
            </a:extLst>
          </p:cNvPr>
          <p:cNvSpPr/>
          <p:nvPr/>
        </p:nvSpPr>
        <p:spPr bwMode="auto">
          <a:xfrm>
            <a:off x="884874" y="1933012"/>
            <a:ext cx="9556081" cy="4766366"/>
          </a:xfrm>
          <a:prstGeom prst="roundRect">
            <a:avLst>
              <a:gd name="adj" fmla="val 0"/>
            </a:avLst>
          </a:prstGeom>
          <a:solidFill>
            <a:srgbClr val="EFF3FA"/>
          </a:solidFill>
          <a:ln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BDB1D8B-2AF5-7EFD-5BEE-38944B85D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0" y="1981595"/>
            <a:ext cx="9429882" cy="46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44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0941994" name="Object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73445" y="0"/>
            <a:ext cx="7118555" cy="6874587"/>
          </a:xfrm>
          <a:prstGeom prst="rect">
            <a:avLst/>
          </a:prstGeom>
        </p:spPr>
      </p:pic>
      <p:sp>
        <p:nvSpPr>
          <p:cNvPr id="15" name="Group 13">
            <a:extLst>
              <a:ext uri="{FF2B5EF4-FFF2-40B4-BE49-F238E27FC236}">
                <a16:creationId xmlns:a16="http://schemas.microsoft.com/office/drawing/2014/main" id="{191F9475-281E-3657-6AB3-E1FD1C5CB1BF}"/>
              </a:ext>
            </a:extLst>
          </p:cNvPr>
          <p:cNvSpPr txBox="1"/>
          <p:nvPr/>
        </p:nvSpPr>
        <p:spPr bwMode="auto">
          <a:xfrm>
            <a:off x="452195" y="2462909"/>
            <a:ext cx="4854911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7200" spc="-150">
                <a:ln w="47625">
                  <a:noFill/>
                </a:ln>
                <a:solidFill>
                  <a:schemeClr val="accent3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THANK </a:t>
            </a:r>
          </a:p>
          <a:p>
            <a:pPr>
              <a:lnSpc>
                <a:spcPct val="80000"/>
              </a:lnSpc>
              <a:defRPr/>
            </a:pPr>
            <a:r>
              <a:rPr lang="en-US" sz="7200" spc="-150">
                <a:ln w="47625"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마켓 산스 TTF Bold"/>
              </a:rPr>
              <a:t>YOU</a:t>
            </a:r>
          </a:p>
        </p:txBody>
      </p:sp>
      <p:sp>
        <p:nvSpPr>
          <p:cNvPr id="3" name="더하기 기호 10">
            <a:extLst>
              <a:ext uri="{FF2B5EF4-FFF2-40B4-BE49-F238E27FC236}">
                <a16:creationId xmlns:a16="http://schemas.microsoft.com/office/drawing/2014/main" id="{A666471D-0FA5-745C-62A6-4C3158FAD40B}"/>
              </a:ext>
            </a:extLst>
          </p:cNvPr>
          <p:cNvSpPr/>
          <p:nvPr/>
        </p:nvSpPr>
        <p:spPr bwMode="auto">
          <a:xfrm>
            <a:off x="3047385" y="3268601"/>
            <a:ext cx="373303" cy="391174"/>
          </a:xfrm>
          <a:prstGeom prst="mathPlus">
            <a:avLst>
              <a:gd name="adj1" fmla="val 2352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>
              <a:solidFill>
                <a:srgbClr val="FFFF00"/>
              </a:solidFill>
              <a:latin typeface="Noto Sans KR"/>
              <a:ea typeface="Noto Sans KR Medium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random/>
      </p:transition>
    </mc:Choice>
    <mc:Fallback xmlns="" xmlns:m="http://schemas.openxmlformats.org/officeDocument/2006/math" xmlns:w="http://schemas.openxmlformats.org/wordprocessingml/2006/main">
      <p:transition spd="fast" advClick="1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테마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Grou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1003</Words>
  <Application>Microsoft Office PowerPoint</Application>
  <PresentationFormat>와이드스크린</PresentationFormat>
  <Paragraphs>269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Noto Sans KR</vt:lpstr>
      <vt:lpstr>G마켓 산스 Light</vt:lpstr>
      <vt:lpstr>Noto Sans KR Medium</vt:lpstr>
      <vt:lpstr>Noto Sans KR Light</vt:lpstr>
      <vt:lpstr>Arial</vt:lpstr>
      <vt:lpstr>G마켓 산스 Medium</vt:lpstr>
      <vt:lpstr>G마켓 산스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jtax</dc:creator>
  <cp:lastModifiedBy>jtax</cp:lastModifiedBy>
  <cp:revision>9</cp:revision>
  <dcterms:created xsi:type="dcterms:W3CDTF">2021-08-06T06:35:00Z</dcterms:created>
  <dcterms:modified xsi:type="dcterms:W3CDTF">2026-09-09T15:34:53Z</dcterms:modified>
</cp:coreProperties>
</file>