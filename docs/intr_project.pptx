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removePersonalInfoOnSave="1" saveSubsetFonts="1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98" d="100"/>
          <a:sy n="98" d="100"/>
        </p:scale>
        <p:origin x="1110" y="90"/>
      </p:cViewPr>
      <p:guideLst>
        <p:guide pos="2130" orient="horz"/>
        <p:guide pos="3840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4282583" name="Group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Noto Sans KR"/>
                <a:ea typeface="Noto Sans KR"/>
                <a:cs typeface="Arial"/>
              </a:defRPr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593129872" name="Group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Noto Sans KR"/>
                <a:ea typeface="Noto Sans KR"/>
                <a:cs typeface="Arial"/>
              </a:defRPr>
            </a:lvl1pPr>
          </a:lstStyle>
          <a:p>
            <a:pPr>
              <a:defRPr/>
            </a:pPr>
            <a:fld id="{D2A48B96-639E-45A3-A0BA-2464DFDB1FAA}" type="datetimeFigureOut">
              <a:rPr lang="zh-CN"/>
              <a:t>2026/4/7</a:t>
            </a:fld>
            <a:endParaRPr lang="zh-CN"/>
          </a:p>
        </p:txBody>
      </p:sp>
      <p:sp>
        <p:nvSpPr>
          <p:cNvPr id="465723569" name="Group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Noto Sans KR"/>
                <a:ea typeface="Noto Sans KR"/>
                <a:cs typeface="Arial"/>
              </a:defRPr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876886492" name="Group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Noto Sans KR"/>
                <a:ea typeface="Noto Sans KR"/>
                <a:cs typeface="Arial"/>
              </a:defRPr>
            </a:lvl1pPr>
          </a:lstStyle>
          <a:p>
            <a:pPr>
              <a:defRPr/>
            </a:pPr>
            <a:fld id="{A6837353-30EB-4A48-80EB-173D804AEFBD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Arial"/>
        <a:ea typeface="Arial"/>
        <a:cs typeface="Arial"/>
      </a:defRPr>
    </a:lvl1pPr>
    <a:lvl2pPr marL="457200" algn="l" defTabSz="914400" rtl="0">
      <a:defRPr sz="1200">
        <a:solidFill>
          <a:schemeClr val="tx1"/>
        </a:solidFill>
        <a:latin typeface="Arial"/>
        <a:ea typeface="Arial"/>
        <a:cs typeface="Arial"/>
      </a:defRPr>
    </a:lvl2pPr>
    <a:lvl3pPr marL="914400" algn="l" defTabSz="914400" rtl="0">
      <a:defRPr sz="1200">
        <a:solidFill>
          <a:schemeClr val="tx1"/>
        </a:solidFill>
        <a:latin typeface="Arial"/>
        <a:ea typeface="Arial"/>
        <a:cs typeface="Arial"/>
      </a:defRPr>
    </a:lvl3pPr>
    <a:lvl4pPr marL="1371600" algn="l" defTabSz="914400" rtl="0">
      <a:defRPr sz="1200">
        <a:solidFill>
          <a:schemeClr val="tx1"/>
        </a:solidFill>
        <a:latin typeface="Arial"/>
        <a:ea typeface="Arial"/>
        <a:cs typeface="Arial"/>
      </a:defRPr>
    </a:lvl4pPr>
    <a:lvl5pPr marL="1828800" algn="l" defTabSz="914400" rtl="0">
      <a:defRPr sz="1200">
        <a:solidFill>
          <a:schemeClr val="tx1"/>
        </a:solidFill>
        <a:latin typeface="Arial"/>
        <a:ea typeface="Arial"/>
        <a:cs typeface="Arial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85031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997064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8059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34FA3C-863D-C653-B974-3B152134D40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5902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413357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9646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F78D6A-FD38-FC88-5AC4-2C3B5FF1EDE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788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218013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3300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E6A405D-482D-8153-5C35-79259CA1EC3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07269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26917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0808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C978B3-00F9-8B4B-F68D-05E7AC0D4C1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8702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420104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282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A9E73C-00BA-F8A8-0995-C78F68FEF3C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0791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2961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517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D6188A9-F94D-8F9D-B350-FE595B41CC9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9908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472079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498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2E309E-908D-9254-1DA2-58252B756C4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41744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94623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32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0884-8EFD-6E5E-565C-32CA6772E02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6994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75252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70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1FA1EEE-8165-06BF-8686-BCC297A9424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68751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72884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79355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748D99-228E-F364-8130-3BB4F2784A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52833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8382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37036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8C8A68-8C7F-9A82-40E1-A037531491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54650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68875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63300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FF0315-00DB-D382-226A-EDDA4B1AB8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5201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312683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25560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B99A25-CFFF-FEFC-C11A-24F5AD559CA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99340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12816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6787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B9AA71-3C82-318D-3709-B76AA87D59A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16749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460197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7011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C5B64D-9081-D980-F045-0F3A4456D7A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6662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3655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79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A5CAF6-2E1F-F7A3-7986-8020ECF7060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2084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322641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1623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0850B8-ABC7-6E5D-3A69-FBD19568E5B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제목 슬라이드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7772223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512829097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ko-KR"/>
              <a:t>클릭하여 마스터 부제목 스타일 편집</a:t>
            </a:r>
            <a:endParaRPr lang="en-US"/>
          </a:p>
        </p:txBody>
      </p:sp>
      <p:sp>
        <p:nvSpPr>
          <p:cNvPr id="84556646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zh-CN"/>
              <a:t>2026/4/7</a:t>
            </a:fld>
            <a:endParaRPr lang="zh-CN"/>
          </a:p>
        </p:txBody>
      </p:sp>
      <p:sp>
        <p:nvSpPr>
          <p:cNvPr id="44133854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92924604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제목 및 내용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041184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170308961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7134108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zh-CN"/>
              <a:t>2026/4/7</a:t>
            </a:fld>
            <a:endParaRPr lang="zh-CN"/>
          </a:p>
        </p:txBody>
      </p:sp>
      <p:sp>
        <p:nvSpPr>
          <p:cNvPr id="48789571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20024328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구역 머리글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4893131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102551152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</p:txBody>
      </p:sp>
      <p:sp>
        <p:nvSpPr>
          <p:cNvPr id="14226807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zh-CN"/>
              <a:t>2026/4/7</a:t>
            </a:fld>
            <a:endParaRPr lang="zh-CN"/>
          </a:p>
        </p:txBody>
      </p:sp>
      <p:sp>
        <p:nvSpPr>
          <p:cNvPr id="5570537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8360494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콘텐츠 2개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24757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154970111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90865556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13897145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zh-CN"/>
              <a:t>2026/4/7</a:t>
            </a:fld>
            <a:endParaRPr lang="zh-CN"/>
          </a:p>
        </p:txBody>
      </p:sp>
      <p:sp>
        <p:nvSpPr>
          <p:cNvPr id="45560803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05447012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비교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812560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2423316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</p:txBody>
      </p:sp>
      <p:sp>
        <p:nvSpPr>
          <p:cNvPr id="155791580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174751405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</p:txBody>
      </p:sp>
      <p:sp>
        <p:nvSpPr>
          <p:cNvPr id="11110150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27314894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zh-CN"/>
              <a:t>2026/4/7</a:t>
            </a:fld>
            <a:endParaRPr lang="zh-CN"/>
          </a:p>
        </p:txBody>
      </p:sp>
      <p:sp>
        <p:nvSpPr>
          <p:cNvPr id="43348707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74159947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제목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68567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102541990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zh-CN"/>
              <a:t>2026/4/7</a:t>
            </a:fld>
            <a:endParaRPr lang="zh-CN"/>
          </a:p>
        </p:txBody>
      </p:sp>
      <p:sp>
        <p:nvSpPr>
          <p:cNvPr id="31158571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37013119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빈 화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57356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zh-CN"/>
              <a:t>2026/4/7</a:t>
            </a:fld>
            <a:endParaRPr lang="zh-CN"/>
          </a:p>
        </p:txBody>
      </p:sp>
      <p:sp>
        <p:nvSpPr>
          <p:cNvPr id="109707835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54956898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캡션 있는 콘텐츠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726346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145147917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177131102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</p:txBody>
      </p:sp>
      <p:sp>
        <p:nvSpPr>
          <p:cNvPr id="87782103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zh-CN"/>
              <a:t>2026/4/7</a:t>
            </a:fld>
            <a:endParaRPr lang="zh-CN"/>
          </a:p>
        </p:txBody>
      </p:sp>
      <p:sp>
        <p:nvSpPr>
          <p:cNvPr id="39697205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584671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캡션 있는 그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47201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84223672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ko-KR"/>
              <a:t>그림을 추가하려면 아이콘을 클릭하십시오</a:t>
            </a:r>
            <a:endParaRPr lang="en-US"/>
          </a:p>
        </p:txBody>
      </p:sp>
      <p:sp>
        <p:nvSpPr>
          <p:cNvPr id="7061331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</p:txBody>
      </p:sp>
      <p:sp>
        <p:nvSpPr>
          <p:cNvPr id="22235651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zh-CN"/>
              <a:t>2026/4/7</a:t>
            </a:fld>
            <a:endParaRPr lang="zh-CN"/>
          </a:p>
        </p:txBody>
      </p:sp>
      <p:sp>
        <p:nvSpPr>
          <p:cNvPr id="143374264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16166336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제목 및 세로 텍스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22005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163589772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157213335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zh-CN"/>
              <a:t>2026/4/7</a:t>
            </a:fld>
            <a:endParaRPr lang="zh-CN"/>
          </a:p>
        </p:txBody>
      </p:sp>
      <p:sp>
        <p:nvSpPr>
          <p:cNvPr id="20069521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8162927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세로 제목 및 텍스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14098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171454310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13557348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zh-CN"/>
              <a:t>2026/4/7</a:t>
            </a:fld>
            <a:endParaRPr lang="zh-CN"/>
          </a:p>
        </p:txBody>
      </p:sp>
      <p:sp>
        <p:nvSpPr>
          <p:cNvPr id="198702823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80893741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315543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7674499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98744117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Noto Sans KR"/>
              </a:defRPr>
            </a:lvl1pPr>
          </a:lstStyle>
          <a:p>
            <a:pPr>
              <a:defRPr/>
            </a:pPr>
            <a:fld id="{760FBDFE-C587-4B4C-A407-44438C67B59E}" type="datetimeFigureOut">
              <a:rPr lang="zh-CN"/>
              <a:t>2026/4/7</a:t>
            </a:fld>
            <a:endParaRPr lang="zh-CN"/>
          </a:p>
        </p:txBody>
      </p:sp>
      <p:sp>
        <p:nvSpPr>
          <p:cNvPr id="13364953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Noto Sans KR"/>
              </a:defRPr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7090788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Noto Sans KR"/>
              </a:defRPr>
            </a:lvl1pPr>
          </a:lstStyle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KR"/>
          <a:ea typeface="Noto Sans KR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Noto Sans KR"/>
          <a:ea typeface="Noto Sans KR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Noto Sans KR"/>
          <a:ea typeface="Noto Sans KR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Noto Sans KR"/>
          <a:ea typeface="Noto Sans KR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Noto Sans KR"/>
          <a:ea typeface="Noto Sans KR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Noto Sans KR"/>
          <a:ea typeface="Noto Sans KR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1248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57938698" name="Object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73445" y="0"/>
            <a:ext cx="7118555" cy="6874587"/>
          </a:xfrm>
          <a:prstGeom prst="rect">
            <a:avLst/>
          </a:prstGeom>
        </p:spPr>
      </p:pic>
      <p:sp>
        <p:nvSpPr>
          <p:cNvPr id="1281308932" name="Group 13"/>
          <p:cNvSpPr txBox="1"/>
          <p:nvPr/>
        </p:nvSpPr>
        <p:spPr bwMode="auto">
          <a:xfrm>
            <a:off x="452196" y="2462909"/>
            <a:ext cx="5208309" cy="18474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sz="7200" spc="-150">
                <a:ln w="47625">
                  <a:noFill/>
                </a:ln>
                <a:solidFill>
                  <a:srgbClr val="00B0F0"/>
                </a:solidFill>
                <a:latin typeface="G마켓 산스 TTF Bold"/>
                <a:ea typeface="G마켓 산스 TTF Bold"/>
                <a:cs typeface="G마켓 산스 TTF Bold"/>
              </a:rPr>
              <a:t>PROJECT</a:t>
            </a:r>
            <a:endParaRPr sz="7200" spc="-150">
              <a:ln w="47625">
                <a:noFill/>
              </a:ln>
              <a:solidFill>
                <a:srgbClr val="00B0F0"/>
              </a:solidFill>
              <a:latin typeface="G마켓 산스 TTF Bold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7200" spc="-150">
                <a:ln w="47625">
                  <a:noFill/>
                </a:ln>
                <a:solidFill>
                  <a:schemeClr val="bg1"/>
                </a:solidFill>
                <a:latin typeface="G마켓 산스 TTF Bold"/>
                <a:ea typeface="G마켓 산스 TTF Bold"/>
                <a:cs typeface="G마켓 산스 TTF Bold"/>
              </a:rPr>
              <a:t>INTR</a:t>
            </a:r>
            <a:endParaRPr sz="7200" spc="-150">
              <a:ln w="47625">
                <a:noFill/>
              </a:ln>
              <a:solidFill>
                <a:schemeClr val="bg1"/>
              </a:solidFill>
              <a:latin typeface="G마켓 산스 TTF Bold"/>
              <a:cs typeface="G마켓 산스 TTF Bold"/>
            </a:endParaRPr>
          </a:p>
        </p:txBody>
      </p:sp>
      <p:sp>
        <p:nvSpPr>
          <p:cNvPr id="1533377092" name="더하기 기호 10"/>
          <p:cNvSpPr/>
          <p:nvPr/>
        </p:nvSpPr>
        <p:spPr bwMode="auto">
          <a:xfrm>
            <a:off x="3024453" y="3311295"/>
            <a:ext cx="373303" cy="391174"/>
          </a:xfrm>
          <a:prstGeom prst="mathPlus">
            <a:avLst>
              <a:gd name="adj1" fmla="val 2352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solidFill>
                <a:srgbClr val="FFFF00"/>
              </a:solidFill>
              <a:latin typeface="Noto Sans KR"/>
              <a:ea typeface="Noto Sans KR Medium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/>
      </p:transition>
    </mc:Choice>
    <mc:Fallback>
      <p:transition spd="fast" advClick="1">
        <p:random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4047941" name="직사각형 85"/>
          <p:cNvSpPr/>
          <p:nvPr/>
        </p:nvSpPr>
        <p:spPr bwMode="auto">
          <a:xfrm>
            <a:off x="4680" y="1295399"/>
            <a:ext cx="8976980" cy="55625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원신한 Light"/>
              <a:ea typeface="Noto Sans KR Medium"/>
            </a:endParaRPr>
          </a:p>
        </p:txBody>
      </p:sp>
      <p:sp>
        <p:nvSpPr>
          <p:cNvPr id="734528527" name="직사각형 112"/>
          <p:cNvSpPr/>
          <p:nvPr/>
        </p:nvSpPr>
        <p:spPr bwMode="auto">
          <a:xfrm flipH="0" flipV="0">
            <a:off x="-1172" y="3820458"/>
            <a:ext cx="8982833" cy="303753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원신한 Light"/>
              <a:ea typeface="Noto Sans KR Medium"/>
            </a:endParaRPr>
          </a:p>
        </p:txBody>
      </p:sp>
      <p:pic>
        <p:nvPicPr>
          <p:cNvPr id="461269408" name="Object 13"/>
          <p:cNvPicPr>
            <a:picLocks noChangeAspect="1"/>
          </p:cNvPicPr>
          <p:nvPr/>
        </p:nvPicPr>
        <p:blipFill rotWithShape="1">
          <a:blip r:embed="rId3"/>
          <a:srcRect l="13680" t="297" r="8700" b="3718"/>
          <a:stretch/>
        </p:blipFill>
        <p:spPr bwMode="auto">
          <a:xfrm>
            <a:off x="8976980" y="-2"/>
            <a:ext cx="3237822" cy="6857999"/>
          </a:xfrm>
          <a:prstGeom prst="rect">
            <a:avLst/>
          </a:prstGeom>
        </p:spPr>
      </p:pic>
      <p:sp>
        <p:nvSpPr>
          <p:cNvPr id="823562527" name="TextBox 103"/>
          <p:cNvSpPr txBox="1"/>
          <p:nvPr/>
        </p:nvSpPr>
        <p:spPr bwMode="auto">
          <a:xfrm>
            <a:off x="365114" y="112007"/>
            <a:ext cx="3202812" cy="109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6600">
                <a:solidFill>
                  <a:srgbClr val="012481"/>
                </a:solidFill>
                <a:latin typeface="Noto Sans KR Black"/>
                <a:ea typeface="Noto Sans KR Black"/>
                <a:cs typeface="KoPubWorld돋움체 Bold"/>
              </a:defRPr>
            </a:lvl1pPr>
          </a:lstStyle>
          <a:p>
            <a:pPr>
              <a:defRPr/>
            </a:pPr>
            <a:r>
              <a:rPr lang="en-US">
                <a:latin typeface="G마켓 산스 TTF Bold"/>
                <a:ea typeface="G마켓 산스 TTF Bold"/>
                <a:cs typeface="G마켓 산스 TTF Bold"/>
              </a:rPr>
              <a:t>INDEX</a:t>
            </a:r>
            <a:endParaRPr>
              <a:latin typeface="G마켓 산스 TTF Bold"/>
              <a:cs typeface="G마켓 산스 TTF Bold"/>
            </a:endParaRPr>
          </a:p>
        </p:txBody>
      </p:sp>
      <p:cxnSp>
        <p:nvCxnSpPr>
          <p:cNvPr id="875125535" name="직선 연결선 105"/>
          <p:cNvCxnSpPr/>
          <p:nvPr/>
        </p:nvCxnSpPr>
        <p:spPr bwMode="auto">
          <a:xfrm>
            <a:off x="-5854" y="1930325"/>
            <a:ext cx="25884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0157397" name="직선 연결선 107"/>
          <p:cNvCxnSpPr/>
          <p:nvPr/>
        </p:nvCxnSpPr>
        <p:spPr bwMode="auto">
          <a:xfrm flipH="0" flipV="0">
            <a:off x="4680" y="4357643"/>
            <a:ext cx="2766470" cy="36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3972812" name="Group 62"/>
          <p:cNvSpPr/>
          <p:nvPr/>
        </p:nvSpPr>
        <p:spPr bwMode="auto">
          <a:xfrm flipH="0" flipV="0">
            <a:off x="2863156" y="2038761"/>
            <a:ext cx="2918605" cy="7318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39821" indent="-239821">
              <a:lnSpc>
                <a:spcPct val="150000"/>
              </a:lnSpc>
              <a:buFont typeface="Arial"/>
              <a:buChar char="•"/>
              <a:defRPr/>
            </a:pPr>
            <a:r>
              <a:rPr lang="en-US" sz="1400" b="0">
                <a:solidFill>
                  <a:schemeClr val="tx1">
                    <a:lumMod val="85000"/>
                    <a:lumOff val="15000"/>
                  </a:schemeClr>
                </a:solidFill>
                <a:latin typeface="G마켓 산스 TTF Light"/>
                <a:ea typeface="G마켓 산스 TTF Light"/>
                <a:cs typeface="G마켓 산스 TTF Light"/>
              </a:rPr>
              <a:t>프로젝트</a:t>
            </a:r>
            <a:r>
              <a:rPr lang="ko-KR" sz="1400" b="0">
                <a:solidFill>
                  <a:schemeClr val="tx1">
                    <a:lumMod val="85000"/>
                    <a:lumOff val="15000"/>
                  </a:schemeClr>
                </a:solidFill>
                <a:latin typeface="G마켓 산스 TTF Light"/>
                <a:ea typeface="G마켓 산스 TTF Light"/>
                <a:cs typeface="G마켓 산스 TTF Light"/>
              </a:rPr>
              <a:t> 소개</a:t>
            </a:r>
            <a:endParaRPr sz="1400" b="0">
              <a:solidFill>
                <a:schemeClr val="tx1">
                  <a:lumMod val="85000"/>
                  <a:lumOff val="15000"/>
                </a:schemeClr>
              </a:solidFill>
              <a:latin typeface="G마켓 산스 TTF Light"/>
              <a:cs typeface="G마켓 산스 TTF Light"/>
            </a:endParaRPr>
          </a:p>
          <a:p>
            <a:pPr marL="239821" indent="-239821">
              <a:lnSpc>
                <a:spcPct val="150000"/>
              </a:lnSpc>
              <a:buFont typeface="Arial"/>
              <a:buChar char="•"/>
              <a:defRPr/>
            </a:pPr>
            <a:r>
              <a:rPr lang="en-US" sz="1400" b="0" i="0" u="none" strike="noStrike" cap="none" spc="0">
                <a:solidFill>
                  <a:schemeClr val="tx1">
                    <a:lumMod val="85000"/>
                    <a:lumOff val="15000"/>
                  </a:schemeClr>
                </a:solidFill>
                <a:latin typeface="G마켓 산스 TTF Light"/>
                <a:ea typeface="G마켓 산스 TTF Light"/>
                <a:cs typeface="G마켓 산스 TTF Light"/>
              </a:rPr>
              <a:t>제작</a:t>
            </a:r>
            <a:r>
              <a:rPr lang="ko-KR" sz="1400" b="0" i="0" u="none" strike="noStrike" cap="none" spc="0">
                <a:solidFill>
                  <a:schemeClr val="tx1">
                    <a:lumMod val="85000"/>
                    <a:lumOff val="15000"/>
                  </a:schemeClr>
                </a:solidFill>
                <a:latin typeface="G마켓 산스 TTF Light"/>
                <a:ea typeface="G마켓 산스 TTF Light"/>
                <a:cs typeface="G마켓 산스 TTF Light"/>
              </a:rPr>
              <a:t> 동기</a:t>
            </a:r>
            <a:endParaRPr sz="1400" b="0">
              <a:solidFill>
                <a:schemeClr val="tx1">
                  <a:lumMod val="85000"/>
                  <a:lumOff val="15000"/>
                </a:schemeClr>
              </a:solidFill>
              <a:latin typeface="G마켓 산스 TTF Light"/>
              <a:cs typeface="G마켓 산스 TTF Light"/>
            </a:endParaRPr>
          </a:p>
        </p:txBody>
      </p:sp>
      <p:grpSp>
        <p:nvGrpSpPr>
          <p:cNvPr id="897019003" name="그룹 14"/>
          <p:cNvGrpSpPr/>
          <p:nvPr/>
        </p:nvGrpSpPr>
        <p:grpSpPr bwMode="auto">
          <a:xfrm>
            <a:off x="827432" y="2457829"/>
            <a:ext cx="1119355" cy="996984"/>
            <a:chOff x="827432" y="2341717"/>
            <a:chExt cx="1581329" cy="1408454"/>
          </a:xfrm>
          <a:solidFill>
            <a:schemeClr val="bg2">
              <a:lumMod val="90000"/>
            </a:schemeClr>
          </a:solidFill>
        </p:grpSpPr>
        <p:sp>
          <p:nvSpPr>
            <p:cNvPr id="114" name="Freeform 10"/>
            <p:cNvSpPr/>
            <p:nvPr/>
          </p:nvSpPr>
          <p:spPr bwMode="auto">
            <a:xfrm>
              <a:off x="1212846" y="3054445"/>
              <a:ext cx="647551" cy="562532"/>
            </a:xfrm>
            <a:custGeom>
              <a:avLst/>
              <a:gdLst>
                <a:gd name="T0" fmla="*/ 457 w 457"/>
                <a:gd name="T1" fmla="*/ 106 h 397"/>
                <a:gd name="T2" fmla="*/ 457 w 457"/>
                <a:gd name="T3" fmla="*/ 96 h 397"/>
                <a:gd name="T4" fmla="*/ 455 w 457"/>
                <a:gd name="T5" fmla="*/ 74 h 397"/>
                <a:gd name="T6" fmla="*/ 447 w 457"/>
                <a:gd name="T7" fmla="*/ 56 h 397"/>
                <a:gd name="T8" fmla="*/ 425 w 457"/>
                <a:gd name="T9" fmla="*/ 32 h 397"/>
                <a:gd name="T10" fmla="*/ 385 w 457"/>
                <a:gd name="T11" fmla="*/ 8 h 397"/>
                <a:gd name="T12" fmla="*/ 337 w 457"/>
                <a:gd name="T13" fmla="*/ 0 h 397"/>
                <a:gd name="T14" fmla="*/ 271 w 457"/>
                <a:gd name="T15" fmla="*/ 0 h 397"/>
                <a:gd name="T16" fmla="*/ 269 w 457"/>
                <a:gd name="T17" fmla="*/ 20 h 397"/>
                <a:gd name="T18" fmla="*/ 261 w 457"/>
                <a:gd name="T19" fmla="*/ 38 h 397"/>
                <a:gd name="T20" fmla="*/ 255 w 457"/>
                <a:gd name="T21" fmla="*/ 44 h 397"/>
                <a:gd name="T22" fmla="*/ 267 w 457"/>
                <a:gd name="T23" fmla="*/ 118 h 397"/>
                <a:gd name="T24" fmla="*/ 273 w 457"/>
                <a:gd name="T25" fmla="*/ 178 h 397"/>
                <a:gd name="T26" fmla="*/ 271 w 457"/>
                <a:gd name="T27" fmla="*/ 224 h 397"/>
                <a:gd name="T28" fmla="*/ 265 w 457"/>
                <a:gd name="T29" fmla="*/ 242 h 397"/>
                <a:gd name="T30" fmla="*/ 249 w 457"/>
                <a:gd name="T31" fmla="*/ 274 h 397"/>
                <a:gd name="T32" fmla="*/ 235 w 457"/>
                <a:gd name="T33" fmla="*/ 288 h 397"/>
                <a:gd name="T34" fmla="*/ 227 w 457"/>
                <a:gd name="T35" fmla="*/ 290 h 397"/>
                <a:gd name="T36" fmla="*/ 212 w 457"/>
                <a:gd name="T37" fmla="*/ 282 h 397"/>
                <a:gd name="T38" fmla="*/ 200 w 457"/>
                <a:gd name="T39" fmla="*/ 264 h 397"/>
                <a:gd name="T40" fmla="*/ 186 w 457"/>
                <a:gd name="T41" fmla="*/ 224 h 397"/>
                <a:gd name="T42" fmla="*/ 184 w 457"/>
                <a:gd name="T43" fmla="*/ 204 h 397"/>
                <a:gd name="T44" fmla="*/ 190 w 457"/>
                <a:gd name="T45" fmla="*/ 148 h 397"/>
                <a:gd name="T46" fmla="*/ 204 w 457"/>
                <a:gd name="T47" fmla="*/ 66 h 397"/>
                <a:gd name="T48" fmla="*/ 210 w 457"/>
                <a:gd name="T49" fmla="*/ 44 h 397"/>
                <a:gd name="T50" fmla="*/ 200 w 457"/>
                <a:gd name="T51" fmla="*/ 34 h 397"/>
                <a:gd name="T52" fmla="*/ 192 w 457"/>
                <a:gd name="T53" fmla="*/ 0 h 397"/>
                <a:gd name="T54" fmla="*/ 120 w 457"/>
                <a:gd name="T55" fmla="*/ 0 h 397"/>
                <a:gd name="T56" fmla="*/ 96 w 457"/>
                <a:gd name="T57" fmla="*/ 2 h 397"/>
                <a:gd name="T58" fmla="*/ 52 w 457"/>
                <a:gd name="T59" fmla="*/ 18 h 397"/>
                <a:gd name="T60" fmla="*/ 18 w 457"/>
                <a:gd name="T61" fmla="*/ 48 h 397"/>
                <a:gd name="T62" fmla="*/ 6 w 457"/>
                <a:gd name="T63" fmla="*/ 66 h 397"/>
                <a:gd name="T64" fmla="*/ 0 w 457"/>
                <a:gd name="T65" fmla="*/ 86 h 397"/>
                <a:gd name="T66" fmla="*/ 0 w 457"/>
                <a:gd name="T67" fmla="*/ 108 h 397"/>
                <a:gd name="T68" fmla="*/ 16 w 457"/>
                <a:gd name="T69" fmla="*/ 308 h 397"/>
                <a:gd name="T70" fmla="*/ 60 w 457"/>
                <a:gd name="T71" fmla="*/ 343 h 397"/>
                <a:gd name="T72" fmla="*/ 112 w 457"/>
                <a:gd name="T73" fmla="*/ 371 h 397"/>
                <a:gd name="T74" fmla="*/ 170 w 457"/>
                <a:gd name="T75" fmla="*/ 391 h 397"/>
                <a:gd name="T76" fmla="*/ 229 w 457"/>
                <a:gd name="T77" fmla="*/ 397 h 397"/>
                <a:gd name="T78" fmla="*/ 259 w 457"/>
                <a:gd name="T79" fmla="*/ 395 h 397"/>
                <a:gd name="T80" fmla="*/ 319 w 457"/>
                <a:gd name="T81" fmla="*/ 381 h 397"/>
                <a:gd name="T82" fmla="*/ 375 w 457"/>
                <a:gd name="T83" fmla="*/ 357 h 397"/>
                <a:gd name="T84" fmla="*/ 423 w 457"/>
                <a:gd name="T85" fmla="*/ 325 h 397"/>
                <a:gd name="T86" fmla="*/ 443 w 457"/>
                <a:gd name="T87" fmla="*/ 308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57" h="397" fill="norm" stroke="1" extrusionOk="0">
                  <a:moveTo>
                    <a:pt x="443" y="308"/>
                  </a:moveTo>
                  <a:lnTo>
                    <a:pt x="457" y="106"/>
                  </a:lnTo>
                  <a:lnTo>
                    <a:pt x="457" y="106"/>
                  </a:lnTo>
                  <a:lnTo>
                    <a:pt x="457" y="96"/>
                  </a:lnTo>
                  <a:lnTo>
                    <a:pt x="457" y="84"/>
                  </a:lnTo>
                  <a:lnTo>
                    <a:pt x="455" y="74"/>
                  </a:lnTo>
                  <a:lnTo>
                    <a:pt x="451" y="64"/>
                  </a:lnTo>
                  <a:lnTo>
                    <a:pt x="447" y="56"/>
                  </a:lnTo>
                  <a:lnTo>
                    <a:pt x="441" y="46"/>
                  </a:lnTo>
                  <a:lnTo>
                    <a:pt x="425" y="32"/>
                  </a:lnTo>
                  <a:lnTo>
                    <a:pt x="407" y="18"/>
                  </a:lnTo>
                  <a:lnTo>
                    <a:pt x="385" y="8"/>
                  </a:lnTo>
                  <a:lnTo>
                    <a:pt x="361" y="2"/>
                  </a:lnTo>
                  <a:lnTo>
                    <a:pt x="337" y="0"/>
                  </a:lnTo>
                  <a:lnTo>
                    <a:pt x="271" y="0"/>
                  </a:lnTo>
                  <a:lnTo>
                    <a:pt x="271" y="0"/>
                  </a:lnTo>
                  <a:lnTo>
                    <a:pt x="271" y="8"/>
                  </a:lnTo>
                  <a:lnTo>
                    <a:pt x="269" y="20"/>
                  </a:lnTo>
                  <a:lnTo>
                    <a:pt x="265" y="32"/>
                  </a:lnTo>
                  <a:lnTo>
                    <a:pt x="261" y="38"/>
                  </a:lnTo>
                  <a:lnTo>
                    <a:pt x="255" y="44"/>
                  </a:lnTo>
                  <a:lnTo>
                    <a:pt x="255" y="44"/>
                  </a:lnTo>
                  <a:lnTo>
                    <a:pt x="259" y="66"/>
                  </a:lnTo>
                  <a:lnTo>
                    <a:pt x="267" y="118"/>
                  </a:lnTo>
                  <a:lnTo>
                    <a:pt x="271" y="148"/>
                  </a:lnTo>
                  <a:lnTo>
                    <a:pt x="273" y="178"/>
                  </a:lnTo>
                  <a:lnTo>
                    <a:pt x="275" y="204"/>
                  </a:lnTo>
                  <a:lnTo>
                    <a:pt x="271" y="224"/>
                  </a:lnTo>
                  <a:lnTo>
                    <a:pt x="271" y="224"/>
                  </a:lnTo>
                  <a:lnTo>
                    <a:pt x="265" y="242"/>
                  </a:lnTo>
                  <a:lnTo>
                    <a:pt x="255" y="264"/>
                  </a:lnTo>
                  <a:lnTo>
                    <a:pt x="249" y="274"/>
                  </a:lnTo>
                  <a:lnTo>
                    <a:pt x="241" y="282"/>
                  </a:lnTo>
                  <a:lnTo>
                    <a:pt x="235" y="288"/>
                  </a:lnTo>
                  <a:lnTo>
                    <a:pt x="227" y="290"/>
                  </a:lnTo>
                  <a:lnTo>
                    <a:pt x="227" y="290"/>
                  </a:lnTo>
                  <a:lnTo>
                    <a:pt x="220" y="288"/>
                  </a:lnTo>
                  <a:lnTo>
                    <a:pt x="212" y="282"/>
                  </a:lnTo>
                  <a:lnTo>
                    <a:pt x="206" y="274"/>
                  </a:lnTo>
                  <a:lnTo>
                    <a:pt x="200" y="264"/>
                  </a:lnTo>
                  <a:lnTo>
                    <a:pt x="192" y="242"/>
                  </a:lnTo>
                  <a:lnTo>
                    <a:pt x="186" y="224"/>
                  </a:lnTo>
                  <a:lnTo>
                    <a:pt x="186" y="224"/>
                  </a:lnTo>
                  <a:lnTo>
                    <a:pt x="184" y="204"/>
                  </a:lnTo>
                  <a:lnTo>
                    <a:pt x="186" y="178"/>
                  </a:lnTo>
                  <a:lnTo>
                    <a:pt x="190" y="148"/>
                  </a:lnTo>
                  <a:lnTo>
                    <a:pt x="194" y="118"/>
                  </a:lnTo>
                  <a:lnTo>
                    <a:pt x="204" y="66"/>
                  </a:lnTo>
                  <a:lnTo>
                    <a:pt x="210" y="44"/>
                  </a:lnTo>
                  <a:lnTo>
                    <a:pt x="210" y="44"/>
                  </a:lnTo>
                  <a:lnTo>
                    <a:pt x="206" y="40"/>
                  </a:lnTo>
                  <a:lnTo>
                    <a:pt x="200" y="34"/>
                  </a:lnTo>
                  <a:lnTo>
                    <a:pt x="196" y="20"/>
                  </a:lnTo>
                  <a:lnTo>
                    <a:pt x="192" y="0"/>
                  </a:lnTo>
                  <a:lnTo>
                    <a:pt x="120" y="0"/>
                  </a:lnTo>
                  <a:lnTo>
                    <a:pt x="120" y="0"/>
                  </a:lnTo>
                  <a:lnTo>
                    <a:pt x="120" y="0"/>
                  </a:lnTo>
                  <a:lnTo>
                    <a:pt x="96" y="2"/>
                  </a:lnTo>
                  <a:lnTo>
                    <a:pt x="72" y="8"/>
                  </a:lnTo>
                  <a:lnTo>
                    <a:pt x="52" y="18"/>
                  </a:lnTo>
                  <a:lnTo>
                    <a:pt x="32" y="32"/>
                  </a:lnTo>
                  <a:lnTo>
                    <a:pt x="18" y="48"/>
                  </a:lnTo>
                  <a:lnTo>
                    <a:pt x="12" y="56"/>
                  </a:lnTo>
                  <a:lnTo>
                    <a:pt x="6" y="66"/>
                  </a:lnTo>
                  <a:lnTo>
                    <a:pt x="2" y="76"/>
                  </a:lnTo>
                  <a:lnTo>
                    <a:pt x="0" y="86"/>
                  </a:lnTo>
                  <a:lnTo>
                    <a:pt x="0" y="96"/>
                  </a:lnTo>
                  <a:lnTo>
                    <a:pt x="0" y="108"/>
                  </a:lnTo>
                  <a:lnTo>
                    <a:pt x="16" y="308"/>
                  </a:lnTo>
                  <a:lnTo>
                    <a:pt x="16" y="308"/>
                  </a:lnTo>
                  <a:lnTo>
                    <a:pt x="36" y="325"/>
                  </a:lnTo>
                  <a:lnTo>
                    <a:pt x="60" y="343"/>
                  </a:lnTo>
                  <a:lnTo>
                    <a:pt x="86" y="359"/>
                  </a:lnTo>
                  <a:lnTo>
                    <a:pt x="112" y="371"/>
                  </a:lnTo>
                  <a:lnTo>
                    <a:pt x="140" y="383"/>
                  </a:lnTo>
                  <a:lnTo>
                    <a:pt x="170" y="391"/>
                  </a:lnTo>
                  <a:lnTo>
                    <a:pt x="200" y="395"/>
                  </a:lnTo>
                  <a:lnTo>
                    <a:pt x="229" y="397"/>
                  </a:lnTo>
                  <a:lnTo>
                    <a:pt x="229" y="397"/>
                  </a:lnTo>
                  <a:lnTo>
                    <a:pt x="259" y="395"/>
                  </a:lnTo>
                  <a:lnTo>
                    <a:pt x="289" y="389"/>
                  </a:lnTo>
                  <a:lnTo>
                    <a:pt x="319" y="381"/>
                  </a:lnTo>
                  <a:lnTo>
                    <a:pt x="347" y="369"/>
                  </a:lnTo>
                  <a:lnTo>
                    <a:pt x="375" y="357"/>
                  </a:lnTo>
                  <a:lnTo>
                    <a:pt x="401" y="341"/>
                  </a:lnTo>
                  <a:lnTo>
                    <a:pt x="423" y="325"/>
                  </a:lnTo>
                  <a:lnTo>
                    <a:pt x="443" y="308"/>
                  </a:lnTo>
                  <a:lnTo>
                    <a:pt x="443" y="30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defRPr/>
              </a:pPr>
              <a:endParaRPr lang="zh-CN">
                <a:solidFill>
                  <a:srgbClr val="0070C0"/>
                </a:solidFill>
                <a:latin typeface="Noto Sans KR Black"/>
                <a:ea typeface="Noto Sans KR Light"/>
                <a:cs typeface="KoPubWorld돋움체 Light"/>
              </a:endParaRPr>
            </a:p>
          </p:txBody>
        </p:sp>
        <p:sp>
          <p:nvSpPr>
            <p:cNvPr id="115" name="Freeform 11"/>
            <p:cNvSpPr/>
            <p:nvPr/>
          </p:nvSpPr>
          <p:spPr bwMode="auto">
            <a:xfrm>
              <a:off x="1365878" y="2653447"/>
              <a:ext cx="344320" cy="344320"/>
            </a:xfrm>
            <a:custGeom>
              <a:avLst/>
              <a:gdLst>
                <a:gd name="T0" fmla="*/ 121 w 243"/>
                <a:gd name="T1" fmla="*/ 243 h 243"/>
                <a:gd name="T2" fmla="*/ 121 w 243"/>
                <a:gd name="T3" fmla="*/ 243 h 243"/>
                <a:gd name="T4" fmla="*/ 133 w 243"/>
                <a:gd name="T5" fmla="*/ 243 h 243"/>
                <a:gd name="T6" fmla="*/ 145 w 243"/>
                <a:gd name="T7" fmla="*/ 241 h 243"/>
                <a:gd name="T8" fmla="*/ 157 w 243"/>
                <a:gd name="T9" fmla="*/ 239 h 243"/>
                <a:gd name="T10" fmla="*/ 167 w 243"/>
                <a:gd name="T11" fmla="*/ 233 h 243"/>
                <a:gd name="T12" fmla="*/ 189 w 243"/>
                <a:gd name="T13" fmla="*/ 223 h 243"/>
                <a:gd name="T14" fmla="*/ 207 w 243"/>
                <a:gd name="T15" fmla="*/ 207 h 243"/>
                <a:gd name="T16" fmla="*/ 221 w 243"/>
                <a:gd name="T17" fmla="*/ 189 h 243"/>
                <a:gd name="T18" fmla="*/ 233 w 243"/>
                <a:gd name="T19" fmla="*/ 169 h 243"/>
                <a:gd name="T20" fmla="*/ 237 w 243"/>
                <a:gd name="T21" fmla="*/ 157 h 243"/>
                <a:gd name="T22" fmla="*/ 239 w 243"/>
                <a:gd name="T23" fmla="*/ 145 h 243"/>
                <a:gd name="T24" fmla="*/ 241 w 243"/>
                <a:gd name="T25" fmla="*/ 134 h 243"/>
                <a:gd name="T26" fmla="*/ 243 w 243"/>
                <a:gd name="T27" fmla="*/ 122 h 243"/>
                <a:gd name="T28" fmla="*/ 243 w 243"/>
                <a:gd name="T29" fmla="*/ 122 h 243"/>
                <a:gd name="T30" fmla="*/ 241 w 243"/>
                <a:gd name="T31" fmla="*/ 110 h 243"/>
                <a:gd name="T32" fmla="*/ 239 w 243"/>
                <a:gd name="T33" fmla="*/ 98 h 243"/>
                <a:gd name="T34" fmla="*/ 237 w 243"/>
                <a:gd name="T35" fmla="*/ 86 h 243"/>
                <a:gd name="T36" fmla="*/ 233 w 243"/>
                <a:gd name="T37" fmla="*/ 74 h 243"/>
                <a:gd name="T38" fmla="*/ 221 w 243"/>
                <a:gd name="T39" fmla="*/ 54 h 243"/>
                <a:gd name="T40" fmla="*/ 207 w 243"/>
                <a:gd name="T41" fmla="*/ 36 h 243"/>
                <a:gd name="T42" fmla="*/ 189 w 243"/>
                <a:gd name="T43" fmla="*/ 22 h 243"/>
                <a:gd name="T44" fmla="*/ 167 w 243"/>
                <a:gd name="T45" fmla="*/ 10 h 243"/>
                <a:gd name="T46" fmla="*/ 157 w 243"/>
                <a:gd name="T47" fmla="*/ 6 h 243"/>
                <a:gd name="T48" fmla="*/ 145 w 243"/>
                <a:gd name="T49" fmla="*/ 2 h 243"/>
                <a:gd name="T50" fmla="*/ 133 w 243"/>
                <a:gd name="T51" fmla="*/ 0 h 243"/>
                <a:gd name="T52" fmla="*/ 121 w 243"/>
                <a:gd name="T53" fmla="*/ 0 h 243"/>
                <a:gd name="T54" fmla="*/ 121 w 243"/>
                <a:gd name="T55" fmla="*/ 0 h 243"/>
                <a:gd name="T56" fmla="*/ 108 w 243"/>
                <a:gd name="T57" fmla="*/ 0 h 243"/>
                <a:gd name="T58" fmla="*/ 96 w 243"/>
                <a:gd name="T59" fmla="*/ 2 h 243"/>
                <a:gd name="T60" fmla="*/ 84 w 243"/>
                <a:gd name="T61" fmla="*/ 6 h 243"/>
                <a:gd name="T62" fmla="*/ 74 w 243"/>
                <a:gd name="T63" fmla="*/ 10 h 243"/>
                <a:gd name="T64" fmla="*/ 52 w 243"/>
                <a:gd name="T65" fmla="*/ 22 h 243"/>
                <a:gd name="T66" fmla="*/ 34 w 243"/>
                <a:gd name="T67" fmla="*/ 36 h 243"/>
                <a:gd name="T68" fmla="*/ 20 w 243"/>
                <a:gd name="T69" fmla="*/ 54 h 243"/>
                <a:gd name="T70" fmla="*/ 8 w 243"/>
                <a:gd name="T71" fmla="*/ 74 h 243"/>
                <a:gd name="T72" fmla="*/ 4 w 243"/>
                <a:gd name="T73" fmla="*/ 86 h 243"/>
                <a:gd name="T74" fmla="*/ 2 w 243"/>
                <a:gd name="T75" fmla="*/ 98 h 243"/>
                <a:gd name="T76" fmla="*/ 0 w 243"/>
                <a:gd name="T77" fmla="*/ 110 h 243"/>
                <a:gd name="T78" fmla="*/ 0 w 243"/>
                <a:gd name="T79" fmla="*/ 122 h 243"/>
                <a:gd name="T80" fmla="*/ 0 w 243"/>
                <a:gd name="T81" fmla="*/ 122 h 243"/>
                <a:gd name="T82" fmla="*/ 0 w 243"/>
                <a:gd name="T83" fmla="*/ 134 h 243"/>
                <a:gd name="T84" fmla="*/ 2 w 243"/>
                <a:gd name="T85" fmla="*/ 145 h 243"/>
                <a:gd name="T86" fmla="*/ 4 w 243"/>
                <a:gd name="T87" fmla="*/ 157 h 243"/>
                <a:gd name="T88" fmla="*/ 8 w 243"/>
                <a:gd name="T89" fmla="*/ 169 h 243"/>
                <a:gd name="T90" fmla="*/ 20 w 243"/>
                <a:gd name="T91" fmla="*/ 189 h 243"/>
                <a:gd name="T92" fmla="*/ 34 w 243"/>
                <a:gd name="T93" fmla="*/ 207 h 243"/>
                <a:gd name="T94" fmla="*/ 52 w 243"/>
                <a:gd name="T95" fmla="*/ 223 h 243"/>
                <a:gd name="T96" fmla="*/ 74 w 243"/>
                <a:gd name="T97" fmla="*/ 233 h 243"/>
                <a:gd name="T98" fmla="*/ 84 w 243"/>
                <a:gd name="T99" fmla="*/ 239 h 243"/>
                <a:gd name="T100" fmla="*/ 96 w 243"/>
                <a:gd name="T101" fmla="*/ 241 h 243"/>
                <a:gd name="T102" fmla="*/ 108 w 243"/>
                <a:gd name="T103" fmla="*/ 243 h 243"/>
                <a:gd name="T104" fmla="*/ 121 w 243"/>
                <a:gd name="T105" fmla="*/ 243 h 243"/>
                <a:gd name="T106" fmla="*/ 121 w 243"/>
                <a:gd name="T107" fmla="*/ 243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43" h="243" fill="norm" stroke="1" extrusionOk="0">
                  <a:moveTo>
                    <a:pt x="121" y="243"/>
                  </a:moveTo>
                  <a:lnTo>
                    <a:pt x="121" y="243"/>
                  </a:lnTo>
                  <a:lnTo>
                    <a:pt x="133" y="243"/>
                  </a:lnTo>
                  <a:lnTo>
                    <a:pt x="145" y="241"/>
                  </a:lnTo>
                  <a:lnTo>
                    <a:pt x="157" y="239"/>
                  </a:lnTo>
                  <a:lnTo>
                    <a:pt x="167" y="233"/>
                  </a:lnTo>
                  <a:lnTo>
                    <a:pt x="189" y="223"/>
                  </a:lnTo>
                  <a:lnTo>
                    <a:pt x="207" y="207"/>
                  </a:lnTo>
                  <a:lnTo>
                    <a:pt x="221" y="189"/>
                  </a:lnTo>
                  <a:lnTo>
                    <a:pt x="233" y="169"/>
                  </a:lnTo>
                  <a:lnTo>
                    <a:pt x="237" y="157"/>
                  </a:lnTo>
                  <a:lnTo>
                    <a:pt x="239" y="145"/>
                  </a:lnTo>
                  <a:lnTo>
                    <a:pt x="241" y="134"/>
                  </a:lnTo>
                  <a:lnTo>
                    <a:pt x="243" y="122"/>
                  </a:lnTo>
                  <a:lnTo>
                    <a:pt x="243" y="122"/>
                  </a:lnTo>
                  <a:lnTo>
                    <a:pt x="241" y="110"/>
                  </a:lnTo>
                  <a:lnTo>
                    <a:pt x="239" y="98"/>
                  </a:lnTo>
                  <a:lnTo>
                    <a:pt x="237" y="86"/>
                  </a:lnTo>
                  <a:lnTo>
                    <a:pt x="233" y="74"/>
                  </a:lnTo>
                  <a:lnTo>
                    <a:pt x="221" y="54"/>
                  </a:lnTo>
                  <a:lnTo>
                    <a:pt x="207" y="36"/>
                  </a:lnTo>
                  <a:lnTo>
                    <a:pt x="189" y="22"/>
                  </a:lnTo>
                  <a:lnTo>
                    <a:pt x="167" y="10"/>
                  </a:lnTo>
                  <a:lnTo>
                    <a:pt x="157" y="6"/>
                  </a:lnTo>
                  <a:lnTo>
                    <a:pt x="145" y="2"/>
                  </a:lnTo>
                  <a:lnTo>
                    <a:pt x="133" y="0"/>
                  </a:lnTo>
                  <a:lnTo>
                    <a:pt x="121" y="0"/>
                  </a:lnTo>
                  <a:lnTo>
                    <a:pt x="121" y="0"/>
                  </a:lnTo>
                  <a:lnTo>
                    <a:pt x="108" y="0"/>
                  </a:lnTo>
                  <a:lnTo>
                    <a:pt x="96" y="2"/>
                  </a:lnTo>
                  <a:lnTo>
                    <a:pt x="84" y="6"/>
                  </a:lnTo>
                  <a:lnTo>
                    <a:pt x="74" y="10"/>
                  </a:lnTo>
                  <a:lnTo>
                    <a:pt x="52" y="22"/>
                  </a:lnTo>
                  <a:lnTo>
                    <a:pt x="34" y="36"/>
                  </a:lnTo>
                  <a:lnTo>
                    <a:pt x="20" y="54"/>
                  </a:lnTo>
                  <a:lnTo>
                    <a:pt x="8" y="74"/>
                  </a:lnTo>
                  <a:lnTo>
                    <a:pt x="4" y="86"/>
                  </a:lnTo>
                  <a:lnTo>
                    <a:pt x="2" y="98"/>
                  </a:lnTo>
                  <a:lnTo>
                    <a:pt x="0" y="110"/>
                  </a:lnTo>
                  <a:lnTo>
                    <a:pt x="0" y="122"/>
                  </a:lnTo>
                  <a:lnTo>
                    <a:pt x="0" y="122"/>
                  </a:lnTo>
                  <a:lnTo>
                    <a:pt x="0" y="134"/>
                  </a:lnTo>
                  <a:lnTo>
                    <a:pt x="2" y="145"/>
                  </a:lnTo>
                  <a:lnTo>
                    <a:pt x="4" y="157"/>
                  </a:lnTo>
                  <a:lnTo>
                    <a:pt x="8" y="169"/>
                  </a:lnTo>
                  <a:lnTo>
                    <a:pt x="20" y="189"/>
                  </a:lnTo>
                  <a:lnTo>
                    <a:pt x="34" y="207"/>
                  </a:lnTo>
                  <a:lnTo>
                    <a:pt x="52" y="223"/>
                  </a:lnTo>
                  <a:lnTo>
                    <a:pt x="74" y="233"/>
                  </a:lnTo>
                  <a:lnTo>
                    <a:pt x="84" y="239"/>
                  </a:lnTo>
                  <a:lnTo>
                    <a:pt x="96" y="241"/>
                  </a:lnTo>
                  <a:lnTo>
                    <a:pt x="108" y="243"/>
                  </a:lnTo>
                  <a:lnTo>
                    <a:pt x="121" y="243"/>
                  </a:lnTo>
                  <a:lnTo>
                    <a:pt x="121" y="24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defRPr/>
              </a:pPr>
              <a:endParaRPr lang="zh-CN">
                <a:solidFill>
                  <a:srgbClr val="0070C0"/>
                </a:solidFill>
                <a:latin typeface="Noto Sans KR Black"/>
                <a:ea typeface="Noto Sans KR Light"/>
                <a:cs typeface="KoPubWorld돋움체 Light"/>
              </a:endParaRPr>
            </a:p>
          </p:txBody>
        </p:sp>
        <p:sp>
          <p:nvSpPr>
            <p:cNvPr id="116" name="Freeform 12"/>
            <p:cNvSpPr/>
            <p:nvPr/>
          </p:nvSpPr>
          <p:spPr bwMode="auto">
            <a:xfrm>
              <a:off x="827432" y="2341717"/>
              <a:ext cx="1581329" cy="1408454"/>
            </a:xfrm>
            <a:custGeom>
              <a:avLst/>
              <a:gdLst>
                <a:gd name="T0" fmla="*/ 935 w 1116"/>
                <a:gd name="T1" fmla="*/ 282 h 994"/>
                <a:gd name="T2" fmla="*/ 923 w 1116"/>
                <a:gd name="T3" fmla="*/ 276 h 994"/>
                <a:gd name="T4" fmla="*/ 735 w 1116"/>
                <a:gd name="T5" fmla="*/ 457 h 994"/>
                <a:gd name="T6" fmla="*/ 731 w 1116"/>
                <a:gd name="T7" fmla="*/ 471 h 994"/>
                <a:gd name="T8" fmla="*/ 739 w 1116"/>
                <a:gd name="T9" fmla="*/ 483 h 994"/>
                <a:gd name="T10" fmla="*/ 815 w 1116"/>
                <a:gd name="T11" fmla="*/ 485 h 994"/>
                <a:gd name="T12" fmla="*/ 855 w 1116"/>
                <a:gd name="T13" fmla="*/ 491 h 994"/>
                <a:gd name="T14" fmla="*/ 857 w 1116"/>
                <a:gd name="T15" fmla="*/ 531 h 994"/>
                <a:gd name="T16" fmla="*/ 835 w 1116"/>
                <a:gd name="T17" fmla="*/ 623 h 994"/>
                <a:gd name="T18" fmla="*/ 773 w 1116"/>
                <a:gd name="T19" fmla="*/ 729 h 994"/>
                <a:gd name="T20" fmla="*/ 695 w 1116"/>
                <a:gd name="T21" fmla="*/ 801 h 994"/>
                <a:gd name="T22" fmla="*/ 563 w 1116"/>
                <a:gd name="T23" fmla="*/ 856 h 994"/>
                <a:gd name="T24" fmla="*/ 456 w 1116"/>
                <a:gd name="T25" fmla="*/ 862 h 994"/>
                <a:gd name="T26" fmla="*/ 324 w 1116"/>
                <a:gd name="T27" fmla="*/ 822 h 994"/>
                <a:gd name="T28" fmla="*/ 240 w 1116"/>
                <a:gd name="T29" fmla="*/ 761 h 994"/>
                <a:gd name="T30" fmla="*/ 160 w 1116"/>
                <a:gd name="T31" fmla="*/ 641 h 994"/>
                <a:gd name="T32" fmla="*/ 132 w 1116"/>
                <a:gd name="T33" fmla="*/ 503 h 994"/>
                <a:gd name="T34" fmla="*/ 148 w 1116"/>
                <a:gd name="T35" fmla="*/ 395 h 994"/>
                <a:gd name="T36" fmla="*/ 214 w 1116"/>
                <a:gd name="T37" fmla="*/ 270 h 994"/>
                <a:gd name="T38" fmla="*/ 296 w 1116"/>
                <a:gd name="T39" fmla="*/ 196 h 994"/>
                <a:gd name="T40" fmla="*/ 434 w 1116"/>
                <a:gd name="T41" fmla="*/ 140 h 994"/>
                <a:gd name="T42" fmla="*/ 539 w 1116"/>
                <a:gd name="T43" fmla="*/ 132 h 994"/>
                <a:gd name="T44" fmla="*/ 627 w 1116"/>
                <a:gd name="T45" fmla="*/ 152 h 994"/>
                <a:gd name="T46" fmla="*/ 661 w 1116"/>
                <a:gd name="T47" fmla="*/ 154 h 994"/>
                <a:gd name="T48" fmla="*/ 695 w 1116"/>
                <a:gd name="T49" fmla="*/ 136 h 994"/>
                <a:gd name="T50" fmla="*/ 713 w 1116"/>
                <a:gd name="T51" fmla="*/ 98 h 994"/>
                <a:gd name="T52" fmla="*/ 701 w 1116"/>
                <a:gd name="T53" fmla="*/ 50 h 994"/>
                <a:gd name="T54" fmla="*/ 671 w 1116"/>
                <a:gd name="T55" fmla="*/ 28 h 994"/>
                <a:gd name="T56" fmla="*/ 509 w 1116"/>
                <a:gd name="T57" fmla="*/ 0 h 994"/>
                <a:gd name="T58" fmla="*/ 434 w 1116"/>
                <a:gd name="T59" fmla="*/ 6 h 994"/>
                <a:gd name="T60" fmla="*/ 336 w 1116"/>
                <a:gd name="T61" fmla="*/ 30 h 994"/>
                <a:gd name="T62" fmla="*/ 244 w 1116"/>
                <a:gd name="T63" fmla="*/ 74 h 994"/>
                <a:gd name="T64" fmla="*/ 162 w 1116"/>
                <a:gd name="T65" fmla="*/ 134 h 994"/>
                <a:gd name="T66" fmla="*/ 110 w 1116"/>
                <a:gd name="T67" fmla="*/ 188 h 994"/>
                <a:gd name="T68" fmla="*/ 56 w 1116"/>
                <a:gd name="T69" fmla="*/ 272 h 994"/>
                <a:gd name="T70" fmla="*/ 10 w 1116"/>
                <a:gd name="T71" fmla="*/ 407 h 994"/>
                <a:gd name="T72" fmla="*/ 10 w 1116"/>
                <a:gd name="T73" fmla="*/ 597 h 994"/>
                <a:gd name="T74" fmla="*/ 58 w 1116"/>
                <a:gd name="T75" fmla="*/ 733 h 994"/>
                <a:gd name="T76" fmla="*/ 114 w 1116"/>
                <a:gd name="T77" fmla="*/ 817 h 994"/>
                <a:gd name="T78" fmla="*/ 184 w 1116"/>
                <a:gd name="T79" fmla="*/ 886 h 994"/>
                <a:gd name="T80" fmla="*/ 350 w 1116"/>
                <a:gd name="T81" fmla="*/ 974 h 994"/>
                <a:gd name="T82" fmla="*/ 490 w 1116"/>
                <a:gd name="T83" fmla="*/ 994 h 994"/>
                <a:gd name="T84" fmla="*/ 545 w 1116"/>
                <a:gd name="T85" fmla="*/ 992 h 994"/>
                <a:gd name="T86" fmla="*/ 729 w 1116"/>
                <a:gd name="T87" fmla="*/ 934 h 994"/>
                <a:gd name="T88" fmla="*/ 845 w 1116"/>
                <a:gd name="T89" fmla="*/ 844 h 994"/>
                <a:gd name="T90" fmla="*/ 929 w 1116"/>
                <a:gd name="T91" fmla="*/ 733 h 994"/>
                <a:gd name="T92" fmla="*/ 967 w 1116"/>
                <a:gd name="T93" fmla="*/ 647 h 994"/>
                <a:gd name="T94" fmla="*/ 989 w 1116"/>
                <a:gd name="T95" fmla="*/ 523 h 994"/>
                <a:gd name="T96" fmla="*/ 995 w 1116"/>
                <a:gd name="T97" fmla="*/ 487 h 994"/>
                <a:gd name="T98" fmla="*/ 1098 w 1116"/>
                <a:gd name="T99" fmla="*/ 483 h 994"/>
                <a:gd name="T100" fmla="*/ 1108 w 1116"/>
                <a:gd name="T101" fmla="*/ 481 h 994"/>
                <a:gd name="T102" fmla="*/ 1116 w 1116"/>
                <a:gd name="T103" fmla="*/ 467 h 994"/>
                <a:gd name="T104" fmla="*/ 1110 w 1116"/>
                <a:gd name="T105" fmla="*/ 455 h 9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116" h="994" fill="norm" stroke="1" extrusionOk="0">
                  <a:moveTo>
                    <a:pt x="1110" y="455"/>
                  </a:moveTo>
                  <a:lnTo>
                    <a:pt x="951" y="298"/>
                  </a:lnTo>
                  <a:lnTo>
                    <a:pt x="935" y="282"/>
                  </a:lnTo>
                  <a:lnTo>
                    <a:pt x="935" y="282"/>
                  </a:lnTo>
                  <a:lnTo>
                    <a:pt x="929" y="278"/>
                  </a:lnTo>
                  <a:lnTo>
                    <a:pt x="923" y="276"/>
                  </a:lnTo>
                  <a:lnTo>
                    <a:pt x="923" y="276"/>
                  </a:lnTo>
                  <a:lnTo>
                    <a:pt x="923" y="276"/>
                  </a:lnTo>
                  <a:lnTo>
                    <a:pt x="915" y="278"/>
                  </a:lnTo>
                  <a:lnTo>
                    <a:pt x="911" y="282"/>
                  </a:lnTo>
                  <a:lnTo>
                    <a:pt x="815" y="377"/>
                  </a:lnTo>
                  <a:lnTo>
                    <a:pt x="735" y="457"/>
                  </a:lnTo>
                  <a:lnTo>
                    <a:pt x="735" y="457"/>
                  </a:lnTo>
                  <a:lnTo>
                    <a:pt x="733" y="461"/>
                  </a:lnTo>
                  <a:lnTo>
                    <a:pt x="731" y="465"/>
                  </a:lnTo>
                  <a:lnTo>
                    <a:pt x="731" y="471"/>
                  </a:lnTo>
                  <a:lnTo>
                    <a:pt x="733" y="475"/>
                  </a:lnTo>
                  <a:lnTo>
                    <a:pt x="733" y="475"/>
                  </a:lnTo>
                  <a:lnTo>
                    <a:pt x="735" y="479"/>
                  </a:lnTo>
                  <a:lnTo>
                    <a:pt x="739" y="483"/>
                  </a:lnTo>
                  <a:lnTo>
                    <a:pt x="743" y="485"/>
                  </a:lnTo>
                  <a:lnTo>
                    <a:pt x="747" y="485"/>
                  </a:lnTo>
                  <a:lnTo>
                    <a:pt x="747" y="485"/>
                  </a:lnTo>
                  <a:lnTo>
                    <a:pt x="815" y="485"/>
                  </a:lnTo>
                  <a:lnTo>
                    <a:pt x="841" y="485"/>
                  </a:lnTo>
                  <a:lnTo>
                    <a:pt x="841" y="485"/>
                  </a:lnTo>
                  <a:lnTo>
                    <a:pt x="849" y="487"/>
                  </a:lnTo>
                  <a:lnTo>
                    <a:pt x="855" y="491"/>
                  </a:lnTo>
                  <a:lnTo>
                    <a:pt x="855" y="491"/>
                  </a:lnTo>
                  <a:lnTo>
                    <a:pt x="859" y="497"/>
                  </a:lnTo>
                  <a:lnTo>
                    <a:pt x="859" y="503"/>
                  </a:lnTo>
                  <a:lnTo>
                    <a:pt x="857" y="531"/>
                  </a:lnTo>
                  <a:lnTo>
                    <a:pt x="857" y="531"/>
                  </a:lnTo>
                  <a:lnTo>
                    <a:pt x="851" y="563"/>
                  </a:lnTo>
                  <a:lnTo>
                    <a:pt x="845" y="593"/>
                  </a:lnTo>
                  <a:lnTo>
                    <a:pt x="835" y="623"/>
                  </a:lnTo>
                  <a:lnTo>
                    <a:pt x="823" y="651"/>
                  </a:lnTo>
                  <a:lnTo>
                    <a:pt x="809" y="679"/>
                  </a:lnTo>
                  <a:lnTo>
                    <a:pt x="791" y="705"/>
                  </a:lnTo>
                  <a:lnTo>
                    <a:pt x="773" y="729"/>
                  </a:lnTo>
                  <a:lnTo>
                    <a:pt x="753" y="753"/>
                  </a:lnTo>
                  <a:lnTo>
                    <a:pt x="753" y="753"/>
                  </a:lnTo>
                  <a:lnTo>
                    <a:pt x="725" y="779"/>
                  </a:lnTo>
                  <a:lnTo>
                    <a:pt x="695" y="801"/>
                  </a:lnTo>
                  <a:lnTo>
                    <a:pt x="663" y="819"/>
                  </a:lnTo>
                  <a:lnTo>
                    <a:pt x="631" y="834"/>
                  </a:lnTo>
                  <a:lnTo>
                    <a:pt x="597" y="846"/>
                  </a:lnTo>
                  <a:lnTo>
                    <a:pt x="563" y="856"/>
                  </a:lnTo>
                  <a:lnTo>
                    <a:pt x="527" y="862"/>
                  </a:lnTo>
                  <a:lnTo>
                    <a:pt x="492" y="864"/>
                  </a:lnTo>
                  <a:lnTo>
                    <a:pt x="492" y="864"/>
                  </a:lnTo>
                  <a:lnTo>
                    <a:pt x="456" y="862"/>
                  </a:lnTo>
                  <a:lnTo>
                    <a:pt x="422" y="856"/>
                  </a:lnTo>
                  <a:lnTo>
                    <a:pt x="388" y="848"/>
                  </a:lnTo>
                  <a:lnTo>
                    <a:pt x="356" y="836"/>
                  </a:lnTo>
                  <a:lnTo>
                    <a:pt x="324" y="822"/>
                  </a:lnTo>
                  <a:lnTo>
                    <a:pt x="296" y="805"/>
                  </a:lnTo>
                  <a:lnTo>
                    <a:pt x="266" y="783"/>
                  </a:lnTo>
                  <a:lnTo>
                    <a:pt x="240" y="761"/>
                  </a:lnTo>
                  <a:lnTo>
                    <a:pt x="240" y="761"/>
                  </a:lnTo>
                  <a:lnTo>
                    <a:pt x="216" y="733"/>
                  </a:lnTo>
                  <a:lnTo>
                    <a:pt x="194" y="705"/>
                  </a:lnTo>
                  <a:lnTo>
                    <a:pt x="176" y="675"/>
                  </a:lnTo>
                  <a:lnTo>
                    <a:pt x="160" y="641"/>
                  </a:lnTo>
                  <a:lnTo>
                    <a:pt x="148" y="609"/>
                  </a:lnTo>
                  <a:lnTo>
                    <a:pt x="140" y="573"/>
                  </a:lnTo>
                  <a:lnTo>
                    <a:pt x="134" y="539"/>
                  </a:lnTo>
                  <a:lnTo>
                    <a:pt x="132" y="503"/>
                  </a:lnTo>
                  <a:lnTo>
                    <a:pt x="132" y="503"/>
                  </a:lnTo>
                  <a:lnTo>
                    <a:pt x="134" y="465"/>
                  </a:lnTo>
                  <a:lnTo>
                    <a:pt x="140" y="431"/>
                  </a:lnTo>
                  <a:lnTo>
                    <a:pt x="148" y="395"/>
                  </a:lnTo>
                  <a:lnTo>
                    <a:pt x="160" y="361"/>
                  </a:lnTo>
                  <a:lnTo>
                    <a:pt x="174" y="330"/>
                  </a:lnTo>
                  <a:lnTo>
                    <a:pt x="192" y="300"/>
                  </a:lnTo>
                  <a:lnTo>
                    <a:pt x="214" y="270"/>
                  </a:lnTo>
                  <a:lnTo>
                    <a:pt x="238" y="244"/>
                  </a:lnTo>
                  <a:lnTo>
                    <a:pt x="238" y="244"/>
                  </a:lnTo>
                  <a:lnTo>
                    <a:pt x="266" y="218"/>
                  </a:lnTo>
                  <a:lnTo>
                    <a:pt x="296" y="196"/>
                  </a:lnTo>
                  <a:lnTo>
                    <a:pt x="328" y="176"/>
                  </a:lnTo>
                  <a:lnTo>
                    <a:pt x="362" y="160"/>
                  </a:lnTo>
                  <a:lnTo>
                    <a:pt x="398" y="148"/>
                  </a:lnTo>
                  <a:lnTo>
                    <a:pt x="434" y="140"/>
                  </a:lnTo>
                  <a:lnTo>
                    <a:pt x="470" y="134"/>
                  </a:lnTo>
                  <a:lnTo>
                    <a:pt x="507" y="132"/>
                  </a:lnTo>
                  <a:lnTo>
                    <a:pt x="507" y="132"/>
                  </a:lnTo>
                  <a:lnTo>
                    <a:pt x="539" y="132"/>
                  </a:lnTo>
                  <a:lnTo>
                    <a:pt x="569" y="136"/>
                  </a:lnTo>
                  <a:lnTo>
                    <a:pt x="597" y="142"/>
                  </a:lnTo>
                  <a:lnTo>
                    <a:pt x="627" y="152"/>
                  </a:lnTo>
                  <a:lnTo>
                    <a:pt x="627" y="152"/>
                  </a:lnTo>
                  <a:lnTo>
                    <a:pt x="637" y="154"/>
                  </a:lnTo>
                  <a:lnTo>
                    <a:pt x="649" y="156"/>
                  </a:lnTo>
                  <a:lnTo>
                    <a:pt x="649" y="156"/>
                  </a:lnTo>
                  <a:lnTo>
                    <a:pt x="661" y="154"/>
                  </a:lnTo>
                  <a:lnTo>
                    <a:pt x="673" y="150"/>
                  </a:lnTo>
                  <a:lnTo>
                    <a:pt x="685" y="144"/>
                  </a:lnTo>
                  <a:lnTo>
                    <a:pt x="695" y="136"/>
                  </a:lnTo>
                  <a:lnTo>
                    <a:pt x="695" y="136"/>
                  </a:lnTo>
                  <a:lnTo>
                    <a:pt x="705" y="124"/>
                  </a:lnTo>
                  <a:lnTo>
                    <a:pt x="711" y="112"/>
                  </a:lnTo>
                  <a:lnTo>
                    <a:pt x="711" y="112"/>
                  </a:lnTo>
                  <a:lnTo>
                    <a:pt x="713" y="98"/>
                  </a:lnTo>
                  <a:lnTo>
                    <a:pt x="715" y="86"/>
                  </a:lnTo>
                  <a:lnTo>
                    <a:pt x="713" y="74"/>
                  </a:lnTo>
                  <a:lnTo>
                    <a:pt x="709" y="62"/>
                  </a:lnTo>
                  <a:lnTo>
                    <a:pt x="701" y="50"/>
                  </a:lnTo>
                  <a:lnTo>
                    <a:pt x="693" y="40"/>
                  </a:lnTo>
                  <a:lnTo>
                    <a:pt x="683" y="34"/>
                  </a:lnTo>
                  <a:lnTo>
                    <a:pt x="671" y="28"/>
                  </a:lnTo>
                  <a:lnTo>
                    <a:pt x="671" y="28"/>
                  </a:lnTo>
                  <a:lnTo>
                    <a:pt x="631" y="16"/>
                  </a:lnTo>
                  <a:lnTo>
                    <a:pt x="591" y="6"/>
                  </a:lnTo>
                  <a:lnTo>
                    <a:pt x="551" y="2"/>
                  </a:lnTo>
                  <a:lnTo>
                    <a:pt x="509" y="0"/>
                  </a:lnTo>
                  <a:lnTo>
                    <a:pt x="509" y="0"/>
                  </a:lnTo>
                  <a:lnTo>
                    <a:pt x="484" y="0"/>
                  </a:lnTo>
                  <a:lnTo>
                    <a:pt x="458" y="2"/>
                  </a:lnTo>
                  <a:lnTo>
                    <a:pt x="434" y="6"/>
                  </a:lnTo>
                  <a:lnTo>
                    <a:pt x="408" y="10"/>
                  </a:lnTo>
                  <a:lnTo>
                    <a:pt x="384" y="16"/>
                  </a:lnTo>
                  <a:lnTo>
                    <a:pt x="360" y="22"/>
                  </a:lnTo>
                  <a:lnTo>
                    <a:pt x="336" y="30"/>
                  </a:lnTo>
                  <a:lnTo>
                    <a:pt x="312" y="40"/>
                  </a:lnTo>
                  <a:lnTo>
                    <a:pt x="288" y="50"/>
                  </a:lnTo>
                  <a:lnTo>
                    <a:pt x="266" y="60"/>
                  </a:lnTo>
                  <a:lnTo>
                    <a:pt x="244" y="74"/>
                  </a:lnTo>
                  <a:lnTo>
                    <a:pt x="222" y="86"/>
                  </a:lnTo>
                  <a:lnTo>
                    <a:pt x="202" y="102"/>
                  </a:lnTo>
                  <a:lnTo>
                    <a:pt x="182" y="116"/>
                  </a:lnTo>
                  <a:lnTo>
                    <a:pt x="162" y="134"/>
                  </a:lnTo>
                  <a:lnTo>
                    <a:pt x="144" y="150"/>
                  </a:lnTo>
                  <a:lnTo>
                    <a:pt x="144" y="150"/>
                  </a:lnTo>
                  <a:lnTo>
                    <a:pt x="126" y="170"/>
                  </a:lnTo>
                  <a:lnTo>
                    <a:pt x="110" y="188"/>
                  </a:lnTo>
                  <a:lnTo>
                    <a:pt x="96" y="208"/>
                  </a:lnTo>
                  <a:lnTo>
                    <a:pt x="82" y="230"/>
                  </a:lnTo>
                  <a:lnTo>
                    <a:pt x="68" y="250"/>
                  </a:lnTo>
                  <a:lnTo>
                    <a:pt x="56" y="272"/>
                  </a:lnTo>
                  <a:lnTo>
                    <a:pt x="46" y="294"/>
                  </a:lnTo>
                  <a:lnTo>
                    <a:pt x="36" y="316"/>
                  </a:lnTo>
                  <a:lnTo>
                    <a:pt x="20" y="361"/>
                  </a:lnTo>
                  <a:lnTo>
                    <a:pt x="10" y="407"/>
                  </a:lnTo>
                  <a:lnTo>
                    <a:pt x="2" y="455"/>
                  </a:lnTo>
                  <a:lnTo>
                    <a:pt x="0" y="503"/>
                  </a:lnTo>
                  <a:lnTo>
                    <a:pt x="2" y="551"/>
                  </a:lnTo>
                  <a:lnTo>
                    <a:pt x="10" y="597"/>
                  </a:lnTo>
                  <a:lnTo>
                    <a:pt x="22" y="645"/>
                  </a:lnTo>
                  <a:lnTo>
                    <a:pt x="38" y="689"/>
                  </a:lnTo>
                  <a:lnTo>
                    <a:pt x="48" y="713"/>
                  </a:lnTo>
                  <a:lnTo>
                    <a:pt x="58" y="733"/>
                  </a:lnTo>
                  <a:lnTo>
                    <a:pt x="70" y="755"/>
                  </a:lnTo>
                  <a:lnTo>
                    <a:pt x="84" y="777"/>
                  </a:lnTo>
                  <a:lnTo>
                    <a:pt x="98" y="797"/>
                  </a:lnTo>
                  <a:lnTo>
                    <a:pt x="114" y="817"/>
                  </a:lnTo>
                  <a:lnTo>
                    <a:pt x="130" y="834"/>
                  </a:lnTo>
                  <a:lnTo>
                    <a:pt x="148" y="852"/>
                  </a:lnTo>
                  <a:lnTo>
                    <a:pt x="148" y="852"/>
                  </a:lnTo>
                  <a:lnTo>
                    <a:pt x="184" y="886"/>
                  </a:lnTo>
                  <a:lnTo>
                    <a:pt x="222" y="914"/>
                  </a:lnTo>
                  <a:lnTo>
                    <a:pt x="262" y="938"/>
                  </a:lnTo>
                  <a:lnTo>
                    <a:pt x="306" y="958"/>
                  </a:lnTo>
                  <a:lnTo>
                    <a:pt x="350" y="974"/>
                  </a:lnTo>
                  <a:lnTo>
                    <a:pt x="396" y="986"/>
                  </a:lnTo>
                  <a:lnTo>
                    <a:pt x="442" y="992"/>
                  </a:lnTo>
                  <a:lnTo>
                    <a:pt x="490" y="994"/>
                  </a:lnTo>
                  <a:lnTo>
                    <a:pt x="490" y="994"/>
                  </a:lnTo>
                  <a:lnTo>
                    <a:pt x="497" y="994"/>
                  </a:lnTo>
                  <a:lnTo>
                    <a:pt x="497" y="994"/>
                  </a:lnTo>
                  <a:lnTo>
                    <a:pt x="521" y="994"/>
                  </a:lnTo>
                  <a:lnTo>
                    <a:pt x="545" y="992"/>
                  </a:lnTo>
                  <a:lnTo>
                    <a:pt x="593" y="984"/>
                  </a:lnTo>
                  <a:lnTo>
                    <a:pt x="641" y="972"/>
                  </a:lnTo>
                  <a:lnTo>
                    <a:pt x="685" y="954"/>
                  </a:lnTo>
                  <a:lnTo>
                    <a:pt x="729" y="934"/>
                  </a:lnTo>
                  <a:lnTo>
                    <a:pt x="771" y="908"/>
                  </a:lnTo>
                  <a:lnTo>
                    <a:pt x="809" y="878"/>
                  </a:lnTo>
                  <a:lnTo>
                    <a:pt x="845" y="844"/>
                  </a:lnTo>
                  <a:lnTo>
                    <a:pt x="845" y="844"/>
                  </a:lnTo>
                  <a:lnTo>
                    <a:pt x="869" y="821"/>
                  </a:lnTo>
                  <a:lnTo>
                    <a:pt x="891" y="793"/>
                  </a:lnTo>
                  <a:lnTo>
                    <a:pt x="911" y="763"/>
                  </a:lnTo>
                  <a:lnTo>
                    <a:pt x="929" y="733"/>
                  </a:lnTo>
                  <a:lnTo>
                    <a:pt x="929" y="733"/>
                  </a:lnTo>
                  <a:lnTo>
                    <a:pt x="943" y="705"/>
                  </a:lnTo>
                  <a:lnTo>
                    <a:pt x="957" y="677"/>
                  </a:lnTo>
                  <a:lnTo>
                    <a:pt x="967" y="647"/>
                  </a:lnTo>
                  <a:lnTo>
                    <a:pt x="975" y="617"/>
                  </a:lnTo>
                  <a:lnTo>
                    <a:pt x="975" y="617"/>
                  </a:lnTo>
                  <a:lnTo>
                    <a:pt x="985" y="569"/>
                  </a:lnTo>
                  <a:lnTo>
                    <a:pt x="989" y="523"/>
                  </a:lnTo>
                  <a:lnTo>
                    <a:pt x="991" y="499"/>
                  </a:lnTo>
                  <a:lnTo>
                    <a:pt x="991" y="499"/>
                  </a:lnTo>
                  <a:lnTo>
                    <a:pt x="993" y="493"/>
                  </a:lnTo>
                  <a:lnTo>
                    <a:pt x="995" y="487"/>
                  </a:lnTo>
                  <a:lnTo>
                    <a:pt x="1000" y="485"/>
                  </a:lnTo>
                  <a:lnTo>
                    <a:pt x="1006" y="483"/>
                  </a:lnTo>
                  <a:lnTo>
                    <a:pt x="1030" y="483"/>
                  </a:lnTo>
                  <a:lnTo>
                    <a:pt x="1098" y="483"/>
                  </a:lnTo>
                  <a:lnTo>
                    <a:pt x="1098" y="483"/>
                  </a:lnTo>
                  <a:lnTo>
                    <a:pt x="1098" y="483"/>
                  </a:lnTo>
                  <a:lnTo>
                    <a:pt x="1104" y="483"/>
                  </a:lnTo>
                  <a:lnTo>
                    <a:pt x="1108" y="481"/>
                  </a:lnTo>
                  <a:lnTo>
                    <a:pt x="1112" y="477"/>
                  </a:lnTo>
                  <a:lnTo>
                    <a:pt x="1114" y="473"/>
                  </a:lnTo>
                  <a:lnTo>
                    <a:pt x="1114" y="473"/>
                  </a:lnTo>
                  <a:lnTo>
                    <a:pt x="1116" y="467"/>
                  </a:lnTo>
                  <a:lnTo>
                    <a:pt x="1114" y="463"/>
                  </a:lnTo>
                  <a:lnTo>
                    <a:pt x="1114" y="459"/>
                  </a:lnTo>
                  <a:lnTo>
                    <a:pt x="1110" y="455"/>
                  </a:lnTo>
                  <a:lnTo>
                    <a:pt x="1110" y="4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defRPr/>
              </a:pPr>
              <a:endParaRPr lang="zh-CN">
                <a:solidFill>
                  <a:srgbClr val="0070C0"/>
                </a:solidFill>
                <a:latin typeface="Noto Sans KR Black"/>
                <a:ea typeface="Noto Sans KR Light"/>
                <a:cs typeface="KoPubWorld돋움체 Light"/>
              </a:endParaRPr>
            </a:p>
          </p:txBody>
        </p:sp>
      </p:grpSp>
      <p:sp>
        <p:nvSpPr>
          <p:cNvPr id="1080252502" name="Freeform 133"/>
          <p:cNvSpPr>
            <a:spLocks noChangeArrowheads="1"/>
          </p:cNvSpPr>
          <p:nvPr/>
        </p:nvSpPr>
        <p:spPr bwMode="auto">
          <a:xfrm>
            <a:off x="642633" y="4912791"/>
            <a:ext cx="1178506" cy="1128654"/>
          </a:xfrm>
          <a:custGeom>
            <a:avLst/>
            <a:gdLst>
              <a:gd name="T0" fmla="*/ 425 w 497"/>
              <a:gd name="T1" fmla="*/ 160 h 480"/>
              <a:gd name="T2" fmla="*/ 425 w 497"/>
              <a:gd name="T3" fmla="*/ 160 h 480"/>
              <a:gd name="T4" fmla="*/ 372 w 497"/>
              <a:gd name="T5" fmla="*/ 18 h 480"/>
              <a:gd name="T6" fmla="*/ 346 w 497"/>
              <a:gd name="T7" fmla="*/ 9 h 480"/>
              <a:gd name="T8" fmla="*/ 9 w 497"/>
              <a:gd name="T9" fmla="*/ 134 h 480"/>
              <a:gd name="T10" fmla="*/ 0 w 497"/>
              <a:gd name="T11" fmla="*/ 160 h 480"/>
              <a:gd name="T12" fmla="*/ 53 w 497"/>
              <a:gd name="T13" fmla="*/ 302 h 480"/>
              <a:gd name="T14" fmla="*/ 53 w 497"/>
              <a:gd name="T15" fmla="*/ 222 h 480"/>
              <a:gd name="T16" fmla="*/ 115 w 497"/>
              <a:gd name="T17" fmla="*/ 160 h 480"/>
              <a:gd name="T18" fmla="*/ 203 w 497"/>
              <a:gd name="T19" fmla="*/ 160 h 480"/>
              <a:gd name="T20" fmla="*/ 309 w 497"/>
              <a:gd name="T21" fmla="*/ 89 h 480"/>
              <a:gd name="T22" fmla="*/ 372 w 497"/>
              <a:gd name="T23" fmla="*/ 160 h 480"/>
              <a:gd name="T24" fmla="*/ 425 w 497"/>
              <a:gd name="T25" fmla="*/ 160 h 480"/>
              <a:gd name="T26" fmla="*/ 478 w 497"/>
              <a:gd name="T27" fmla="*/ 204 h 480"/>
              <a:gd name="T28" fmla="*/ 478 w 497"/>
              <a:gd name="T29" fmla="*/ 204 h 480"/>
              <a:gd name="T30" fmla="*/ 115 w 497"/>
              <a:gd name="T31" fmla="*/ 204 h 480"/>
              <a:gd name="T32" fmla="*/ 97 w 497"/>
              <a:gd name="T33" fmla="*/ 222 h 480"/>
              <a:gd name="T34" fmla="*/ 97 w 497"/>
              <a:gd name="T35" fmla="*/ 462 h 480"/>
              <a:gd name="T36" fmla="*/ 115 w 497"/>
              <a:gd name="T37" fmla="*/ 479 h 480"/>
              <a:gd name="T38" fmla="*/ 478 w 497"/>
              <a:gd name="T39" fmla="*/ 479 h 480"/>
              <a:gd name="T40" fmla="*/ 496 w 497"/>
              <a:gd name="T41" fmla="*/ 462 h 480"/>
              <a:gd name="T42" fmla="*/ 496 w 497"/>
              <a:gd name="T43" fmla="*/ 222 h 480"/>
              <a:gd name="T44" fmla="*/ 478 w 497"/>
              <a:gd name="T45" fmla="*/ 204 h 480"/>
              <a:gd name="T46" fmla="*/ 452 w 497"/>
              <a:gd name="T47" fmla="*/ 426 h 480"/>
              <a:gd name="T48" fmla="*/ 452 w 497"/>
              <a:gd name="T49" fmla="*/ 426 h 480"/>
              <a:gd name="T50" fmla="*/ 150 w 497"/>
              <a:gd name="T51" fmla="*/ 426 h 480"/>
              <a:gd name="T52" fmla="*/ 150 w 497"/>
              <a:gd name="T53" fmla="*/ 391 h 480"/>
              <a:gd name="T54" fmla="*/ 195 w 497"/>
              <a:gd name="T55" fmla="*/ 275 h 480"/>
              <a:gd name="T56" fmla="*/ 265 w 497"/>
              <a:gd name="T57" fmla="*/ 364 h 480"/>
              <a:gd name="T58" fmla="*/ 328 w 497"/>
              <a:gd name="T59" fmla="*/ 302 h 480"/>
              <a:gd name="T60" fmla="*/ 416 w 497"/>
              <a:gd name="T61" fmla="*/ 266 h 480"/>
              <a:gd name="T62" fmla="*/ 452 w 497"/>
              <a:gd name="T63" fmla="*/ 347 h 480"/>
              <a:gd name="T64" fmla="*/ 452 w 497"/>
              <a:gd name="T65" fmla="*/ 426 h 4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97" h="480" fill="norm" stroke="1" extrusionOk="0">
                <a:moveTo>
                  <a:pt x="425" y="160"/>
                </a:moveTo>
                <a:lnTo>
                  <a:pt x="425" y="160"/>
                </a:lnTo>
                <a:cubicBezTo>
                  <a:pt x="372" y="18"/>
                  <a:pt x="372" y="18"/>
                  <a:pt x="372" y="18"/>
                </a:cubicBezTo>
                <a:cubicBezTo>
                  <a:pt x="372" y="9"/>
                  <a:pt x="354" y="0"/>
                  <a:pt x="346" y="9"/>
                </a:cubicBezTo>
                <a:cubicBezTo>
                  <a:pt x="9" y="134"/>
                  <a:pt x="9" y="134"/>
                  <a:pt x="9" y="134"/>
                </a:cubicBezTo>
                <a:cubicBezTo>
                  <a:pt x="0" y="134"/>
                  <a:pt x="0" y="143"/>
                  <a:pt x="0" y="160"/>
                </a:cubicBezTo>
                <a:cubicBezTo>
                  <a:pt x="53" y="302"/>
                  <a:pt x="53" y="302"/>
                  <a:pt x="53" y="302"/>
                </a:cubicBezTo>
                <a:cubicBezTo>
                  <a:pt x="53" y="222"/>
                  <a:pt x="53" y="222"/>
                  <a:pt x="53" y="222"/>
                </a:cubicBezTo>
                <a:cubicBezTo>
                  <a:pt x="53" y="187"/>
                  <a:pt x="80" y="160"/>
                  <a:pt x="115" y="160"/>
                </a:cubicBezTo>
                <a:cubicBezTo>
                  <a:pt x="203" y="160"/>
                  <a:pt x="203" y="160"/>
                  <a:pt x="203" y="160"/>
                </a:cubicBezTo>
                <a:cubicBezTo>
                  <a:pt x="309" y="89"/>
                  <a:pt x="309" y="89"/>
                  <a:pt x="309" y="89"/>
                </a:cubicBezTo>
                <a:cubicBezTo>
                  <a:pt x="372" y="160"/>
                  <a:pt x="372" y="160"/>
                  <a:pt x="372" y="160"/>
                </a:cubicBezTo>
                <a:lnTo>
                  <a:pt x="425" y="160"/>
                </a:lnTo>
                <a:close/>
                <a:moveTo>
                  <a:pt x="478" y="204"/>
                </a:moveTo>
                <a:lnTo>
                  <a:pt x="478" y="204"/>
                </a:lnTo>
                <a:cubicBezTo>
                  <a:pt x="115" y="204"/>
                  <a:pt x="115" y="204"/>
                  <a:pt x="115" y="204"/>
                </a:cubicBezTo>
                <a:cubicBezTo>
                  <a:pt x="106" y="204"/>
                  <a:pt x="97" y="213"/>
                  <a:pt x="97" y="222"/>
                </a:cubicBezTo>
                <a:cubicBezTo>
                  <a:pt x="97" y="462"/>
                  <a:pt x="97" y="462"/>
                  <a:pt x="97" y="462"/>
                </a:cubicBezTo>
                <a:cubicBezTo>
                  <a:pt x="97" y="470"/>
                  <a:pt x="106" y="479"/>
                  <a:pt x="115" y="479"/>
                </a:cubicBezTo>
                <a:cubicBezTo>
                  <a:pt x="478" y="479"/>
                  <a:pt x="478" y="479"/>
                  <a:pt x="478" y="479"/>
                </a:cubicBezTo>
                <a:cubicBezTo>
                  <a:pt x="487" y="479"/>
                  <a:pt x="496" y="470"/>
                  <a:pt x="496" y="462"/>
                </a:cubicBezTo>
                <a:cubicBezTo>
                  <a:pt x="496" y="222"/>
                  <a:pt x="496" y="222"/>
                  <a:pt x="496" y="222"/>
                </a:cubicBezTo>
                <a:cubicBezTo>
                  <a:pt x="496" y="213"/>
                  <a:pt x="487" y="204"/>
                  <a:pt x="478" y="204"/>
                </a:cubicBezTo>
                <a:close/>
                <a:moveTo>
                  <a:pt x="452" y="426"/>
                </a:moveTo>
                <a:lnTo>
                  <a:pt x="452" y="426"/>
                </a:lnTo>
                <a:cubicBezTo>
                  <a:pt x="150" y="426"/>
                  <a:pt x="150" y="426"/>
                  <a:pt x="150" y="426"/>
                </a:cubicBezTo>
                <a:cubicBezTo>
                  <a:pt x="150" y="391"/>
                  <a:pt x="150" y="391"/>
                  <a:pt x="150" y="391"/>
                </a:cubicBezTo>
                <a:cubicBezTo>
                  <a:pt x="195" y="275"/>
                  <a:pt x="195" y="275"/>
                  <a:pt x="195" y="275"/>
                </a:cubicBezTo>
                <a:cubicBezTo>
                  <a:pt x="265" y="364"/>
                  <a:pt x="265" y="364"/>
                  <a:pt x="265" y="364"/>
                </a:cubicBezTo>
                <a:cubicBezTo>
                  <a:pt x="328" y="302"/>
                  <a:pt x="328" y="302"/>
                  <a:pt x="328" y="302"/>
                </a:cubicBezTo>
                <a:cubicBezTo>
                  <a:pt x="416" y="266"/>
                  <a:pt x="416" y="266"/>
                  <a:pt x="416" y="266"/>
                </a:cubicBezTo>
                <a:cubicBezTo>
                  <a:pt x="452" y="347"/>
                  <a:pt x="452" y="347"/>
                  <a:pt x="452" y="347"/>
                </a:cubicBezTo>
                <a:lnTo>
                  <a:pt x="452" y="426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lIns="68589" tIns="34295" rIns="68589" bIns="34295" anchor="ctr"/>
          <a:lstStyle/>
          <a:p>
            <a:pPr>
              <a:defRPr/>
            </a:pPr>
            <a:endParaRPr lang="en-US" sz="2700">
              <a:latin typeface="Noto Sans KR Black"/>
              <a:ea typeface="Noto Sans KR Light"/>
              <a:cs typeface="KoPubWorld돋움체 Light"/>
            </a:endParaRPr>
          </a:p>
        </p:txBody>
      </p:sp>
      <p:cxnSp>
        <p:nvCxnSpPr>
          <p:cNvPr id="614615153" name="직선 연결선 105"/>
          <p:cNvCxnSpPr/>
          <p:nvPr/>
        </p:nvCxnSpPr>
        <p:spPr bwMode="auto">
          <a:xfrm>
            <a:off x="6384207" y="2979711"/>
            <a:ext cx="25884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1118431" name="Group 62"/>
          <p:cNvSpPr/>
          <p:nvPr/>
        </p:nvSpPr>
        <p:spPr bwMode="auto">
          <a:xfrm flipH="0" flipV="0">
            <a:off x="6459242" y="3088576"/>
            <a:ext cx="2604133" cy="1692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39821" indent="-239821">
              <a:lnSpc>
                <a:spcPct val="150000"/>
              </a:lnSpc>
              <a:buFont typeface="Arial"/>
              <a:buChar char="•"/>
              <a:defRPr/>
            </a:pPr>
            <a:r>
              <a:rPr lang="ko-KR" sz="1400">
                <a:solidFill>
                  <a:schemeClr val="tx1">
                    <a:lumMod val="85000"/>
                    <a:lumOff val="15000"/>
                  </a:schemeClr>
                </a:solidFill>
                <a:latin typeface="G마켓 산스 TTF Light"/>
                <a:ea typeface="G마켓 산스 TTF Light"/>
                <a:cs typeface="G마켓 산스 TTF Light"/>
              </a:rPr>
              <a:t>프로젝트 구조</a:t>
            </a:r>
            <a:endParaRPr lang="ko-KR" sz="1400">
              <a:solidFill>
                <a:schemeClr val="tx1">
                  <a:lumMod val="85000"/>
                  <a:lumOff val="15000"/>
                </a:schemeClr>
              </a:solidFill>
              <a:latin typeface="G마켓 산스 TTF Light"/>
              <a:ea typeface="G마켓 산스 TTF Light"/>
              <a:cs typeface="G마켓 산스 TTF Light"/>
            </a:endParaRPr>
          </a:p>
          <a:p>
            <a:pPr marL="239820" indent="-239820">
              <a:lnSpc>
                <a:spcPct val="150000"/>
              </a:lnSpc>
              <a:buFont typeface="Arial"/>
              <a:buChar char="•"/>
              <a:defRPr/>
            </a:pPr>
            <a:r>
              <a:rPr lang="ko-KR" sz="1400">
                <a:solidFill>
                  <a:schemeClr val="tx1">
                    <a:lumMod val="85000"/>
                    <a:lumOff val="15000"/>
                  </a:schemeClr>
                </a:solidFill>
                <a:latin typeface="G마켓 산스 TTF Light"/>
                <a:ea typeface="G마켓 산스 TTF Light"/>
                <a:cs typeface="G마켓 산스 TTF Light"/>
              </a:rPr>
              <a:t>주요 기능</a:t>
            </a:r>
            <a:endParaRPr lang="ko-KR" sz="1400">
              <a:solidFill>
                <a:schemeClr val="tx1">
                  <a:lumMod val="85000"/>
                  <a:lumOff val="15000"/>
                </a:schemeClr>
              </a:solidFill>
              <a:latin typeface="G마켓 산스 TTF Light"/>
              <a:ea typeface="G마켓 산스 TTF Light"/>
              <a:cs typeface="G마켓 산스 TTF Light"/>
            </a:endParaRPr>
          </a:p>
          <a:p>
            <a:pPr marL="639870" lvl="1" indent="-239820">
              <a:lnSpc>
                <a:spcPct val="150000"/>
              </a:lnSpc>
              <a:buFont typeface="Arial"/>
              <a:buChar char="•"/>
              <a:defRPr/>
            </a:pPr>
            <a:r>
              <a:rPr lang="ko-KR" sz="1400">
                <a:solidFill>
                  <a:schemeClr val="tx1">
                    <a:lumMod val="85000"/>
                    <a:lumOff val="15000"/>
                  </a:schemeClr>
                </a:solidFill>
                <a:latin typeface="G마켓 산스 TTF Light"/>
                <a:ea typeface="G마켓 산스 TTF Light"/>
                <a:cs typeface="G마켓 산스 TTF Light"/>
              </a:rPr>
              <a:t>권한 관리</a:t>
            </a:r>
            <a:endParaRPr lang="ko-KR" sz="1400">
              <a:solidFill>
                <a:schemeClr val="tx1">
                  <a:lumMod val="85000"/>
                  <a:lumOff val="15000"/>
                </a:schemeClr>
              </a:solidFill>
              <a:latin typeface="G마켓 산스 TTF Light"/>
              <a:ea typeface="G마켓 산스 TTF Light"/>
              <a:cs typeface="G마켓 산스 TTF Light"/>
            </a:endParaRPr>
          </a:p>
          <a:p>
            <a:pPr marL="639870" lvl="1" indent="-239820">
              <a:lnSpc>
                <a:spcPct val="150000"/>
              </a:lnSpc>
              <a:buFont typeface="Arial"/>
              <a:buChar char="•"/>
              <a:defRPr/>
            </a:pPr>
            <a:r>
              <a:rPr lang="ko-KR" sz="1400">
                <a:solidFill>
                  <a:schemeClr val="tx1">
                    <a:lumMod val="85000"/>
                    <a:lumOff val="15000"/>
                  </a:schemeClr>
                </a:solidFill>
                <a:latin typeface="G마켓 산스 TTF Light"/>
                <a:ea typeface="G마켓 산스 TTF Light"/>
                <a:cs typeface="G마켓 산스 TTF Light"/>
              </a:rPr>
              <a:t>전자 결재</a:t>
            </a:r>
            <a:endParaRPr lang="ko-KR" sz="1400">
              <a:solidFill>
                <a:schemeClr val="tx1">
                  <a:lumMod val="85000"/>
                  <a:lumOff val="15000"/>
                </a:schemeClr>
              </a:solidFill>
              <a:latin typeface="G마켓 산스 TTF Light"/>
              <a:ea typeface="G마켓 산스 TTF Light"/>
              <a:cs typeface="G마켓 산스 TTF Light"/>
            </a:endParaRPr>
          </a:p>
          <a:p>
            <a:pPr marL="639870" lvl="1" indent="-239820">
              <a:lnSpc>
                <a:spcPct val="150000"/>
              </a:lnSpc>
              <a:buFont typeface="Arial"/>
              <a:buChar char="•"/>
              <a:defRPr/>
            </a:pPr>
            <a:r>
              <a:rPr lang="ko-KR" sz="1400">
                <a:solidFill>
                  <a:schemeClr val="tx1">
                    <a:lumMod val="85000"/>
                    <a:lumOff val="15000"/>
                  </a:schemeClr>
                </a:solidFill>
                <a:latin typeface="G마켓 산스 TTF Light"/>
                <a:ea typeface="G마켓 산스 TTF Light"/>
                <a:cs typeface="G마켓 산스 TTF Light"/>
              </a:rPr>
              <a:t>공통 기능</a:t>
            </a:r>
            <a:endParaRPr sz="1400">
              <a:solidFill>
                <a:schemeClr val="tx1">
                  <a:lumMod val="85000"/>
                  <a:lumOff val="15000"/>
                </a:schemeClr>
              </a:solidFill>
              <a:latin typeface="G마켓 산스 TTF Light"/>
              <a:cs typeface="G마켓 산스 TTF Light"/>
            </a:endParaRPr>
          </a:p>
        </p:txBody>
      </p:sp>
      <p:sp>
        <p:nvSpPr>
          <p:cNvPr id="854491852" name="Group 62"/>
          <p:cNvSpPr/>
          <p:nvPr/>
        </p:nvSpPr>
        <p:spPr bwMode="auto">
          <a:xfrm flipH="0" flipV="0">
            <a:off x="2863155" y="4546848"/>
            <a:ext cx="2955322" cy="7318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39821" indent="-239821">
              <a:lnSpc>
                <a:spcPct val="150000"/>
              </a:lnSpc>
              <a:buFont typeface="Arial"/>
              <a:buChar char="•"/>
              <a:defRPr/>
            </a:pPr>
            <a:r>
              <a:rPr lang="ko-KR" sz="1400" b="0" i="0" u="none" strike="noStrike" cap="none" spc="0">
                <a:solidFill>
                  <a:schemeClr val="tx1">
                    <a:lumMod val="85000"/>
                    <a:lumOff val="15000"/>
                  </a:schemeClr>
                </a:solidFill>
                <a:latin typeface="G마켓 산스 TTF Light"/>
                <a:ea typeface="G마켓 산스 TTF Light"/>
                <a:cs typeface="G마켓 산스 TTF Light"/>
              </a:rPr>
              <a:t>개발 환경</a:t>
            </a:r>
            <a:endParaRPr lang="ko-KR" sz="1400" b="0" i="0" u="none" strike="noStrike" cap="none" spc="0">
              <a:solidFill>
                <a:schemeClr val="tx1">
                  <a:lumMod val="85000"/>
                  <a:lumOff val="15000"/>
                </a:schemeClr>
              </a:solidFill>
              <a:latin typeface="G마켓 산스 TTF Light"/>
              <a:ea typeface="G마켓 산스 TTF Light"/>
              <a:cs typeface="G마켓 산스 TTF Light"/>
            </a:endParaRPr>
          </a:p>
          <a:p>
            <a:pPr marL="239820" indent="-239820">
              <a:lnSpc>
                <a:spcPct val="150000"/>
              </a:lnSpc>
              <a:buFont typeface="Arial"/>
              <a:buChar char="•"/>
              <a:defRPr/>
            </a:pPr>
            <a:r>
              <a:rPr lang="ko-KR" sz="1400" b="0" i="0" u="none" strike="noStrike" cap="none" spc="0">
                <a:solidFill>
                  <a:schemeClr val="tx1">
                    <a:lumMod val="85000"/>
                    <a:lumOff val="15000"/>
                  </a:schemeClr>
                </a:solidFill>
                <a:latin typeface="G마켓 산스 TTF Light"/>
                <a:ea typeface="G마켓 산스 TTF Light"/>
                <a:cs typeface="G마켓 산스 TTF Light"/>
              </a:rPr>
              <a:t>ERD</a:t>
            </a:r>
            <a:endParaRPr sz="1400">
              <a:solidFill>
                <a:schemeClr val="tx1">
                  <a:lumMod val="85000"/>
                  <a:lumOff val="15000"/>
                </a:schemeClr>
              </a:solidFill>
              <a:latin typeface="G마켓 산스 TTF Light"/>
              <a:cs typeface="G마켓 산스 TTF Light"/>
            </a:endParaRPr>
          </a:p>
        </p:txBody>
      </p:sp>
      <p:sp>
        <p:nvSpPr>
          <p:cNvPr id="204474284" name="Group 62"/>
          <p:cNvSpPr/>
          <p:nvPr/>
        </p:nvSpPr>
        <p:spPr bwMode="auto">
          <a:xfrm flipH="0" flipV="0">
            <a:off x="6459242" y="5935306"/>
            <a:ext cx="2551212" cy="4118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39821" indent="-239821">
              <a:lnSpc>
                <a:spcPct val="150000"/>
              </a:lnSpc>
              <a:buFont typeface="Arial"/>
              <a:buChar char="•"/>
              <a:defRPr/>
            </a:pPr>
            <a:r>
              <a:rPr lang="ko-KR" sz="1400">
                <a:solidFill>
                  <a:schemeClr val="tx1">
                    <a:lumMod val="85000"/>
                    <a:lumOff val="15000"/>
                  </a:schemeClr>
                </a:solidFill>
                <a:latin typeface="G마켓 산스 TTF Light"/>
                <a:ea typeface="G마켓 산스 TTF Light"/>
                <a:cs typeface="G마켓 산스 TTF Light"/>
              </a:rPr>
              <a:t>주요 화면</a:t>
            </a:r>
            <a:endParaRPr sz="1400">
              <a:solidFill>
                <a:schemeClr val="tx1">
                  <a:lumMod val="85000"/>
                  <a:lumOff val="15000"/>
                </a:schemeClr>
              </a:solidFill>
              <a:latin typeface="G마켓 산스 TTF Light"/>
              <a:cs typeface="G마켓 산스 TTF Light"/>
            </a:endParaRPr>
          </a:p>
        </p:txBody>
      </p:sp>
      <p:cxnSp>
        <p:nvCxnSpPr>
          <p:cNvPr id="28563231" name="직선 연결선 105"/>
          <p:cNvCxnSpPr/>
          <p:nvPr/>
        </p:nvCxnSpPr>
        <p:spPr bwMode="auto">
          <a:xfrm>
            <a:off x="6384206" y="5846401"/>
            <a:ext cx="25884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6553098" name="TextBox 103"/>
          <p:cNvSpPr txBox="1"/>
          <p:nvPr/>
        </p:nvSpPr>
        <p:spPr bwMode="auto">
          <a:xfrm>
            <a:off x="-34384" y="1503242"/>
            <a:ext cx="1210658" cy="427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6600">
                <a:solidFill>
                  <a:srgbClr val="012481"/>
                </a:solidFill>
                <a:latin typeface="Noto Sans KR Black"/>
                <a:ea typeface="Noto Sans KR Black"/>
                <a:cs typeface="KoPubWorld돋움체 Bold"/>
              </a:defRPr>
            </a:lvl1pPr>
          </a:lstStyle>
          <a:p>
            <a:pPr>
              <a:defRPr/>
            </a:pPr>
            <a:r>
              <a:rPr lang="ko-KR" sz="2200">
                <a:latin typeface="G마켓 산스 TTF Bold"/>
                <a:ea typeface="G마켓 산스 TTF Bold"/>
                <a:cs typeface="G마켓 산스 TTF Bold"/>
              </a:rPr>
              <a:t>01. 개요</a:t>
            </a:r>
            <a:endParaRPr sz="2200">
              <a:latin typeface="G마켓 산스 TTF Bold"/>
              <a:cs typeface="G마켓 산스 TTF Bold"/>
            </a:endParaRPr>
          </a:p>
        </p:txBody>
      </p:sp>
      <p:sp>
        <p:nvSpPr>
          <p:cNvPr id="1346750847" name="TextBox 103"/>
          <p:cNvSpPr txBox="1"/>
          <p:nvPr/>
        </p:nvSpPr>
        <p:spPr bwMode="auto">
          <a:xfrm>
            <a:off x="6384205" y="2552628"/>
            <a:ext cx="2228783" cy="427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6600">
                <a:solidFill>
                  <a:srgbClr val="012481"/>
                </a:solidFill>
                <a:latin typeface="Noto Sans KR Black"/>
                <a:ea typeface="Noto Sans KR Black"/>
                <a:cs typeface="KoPubWorld돋움체 Bold"/>
              </a:defRPr>
            </a:lvl1pPr>
          </a:lstStyle>
          <a:p>
            <a:pPr>
              <a:defRPr/>
            </a:pPr>
            <a:r>
              <a:rPr lang="ko-KR" sz="2200">
                <a:latin typeface="G마켓 산스 TTF Bold"/>
                <a:ea typeface="G마켓 산스 TTF Bold"/>
                <a:cs typeface="G마켓 산스 TTF Bold"/>
              </a:rPr>
              <a:t>03. 구조 및 기능</a:t>
            </a:r>
            <a:endParaRPr sz="2200">
              <a:latin typeface="G마켓 산스 TTF Bold"/>
              <a:cs typeface="G마켓 산스 TTF Bold"/>
            </a:endParaRPr>
          </a:p>
        </p:txBody>
      </p:sp>
      <p:sp>
        <p:nvSpPr>
          <p:cNvPr id="1090903190" name="TextBox 103"/>
          <p:cNvSpPr txBox="1"/>
          <p:nvPr/>
        </p:nvSpPr>
        <p:spPr bwMode="auto">
          <a:xfrm>
            <a:off x="-10146" y="3930921"/>
            <a:ext cx="2227109" cy="427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6600">
                <a:solidFill>
                  <a:srgbClr val="012481"/>
                </a:solidFill>
                <a:latin typeface="Noto Sans KR Black"/>
                <a:ea typeface="Noto Sans KR Black"/>
                <a:cs typeface="KoPubWorld돋움체 Bold"/>
              </a:defRPr>
            </a:lvl1pPr>
          </a:lstStyle>
          <a:p>
            <a:pPr>
              <a:defRPr/>
            </a:pPr>
            <a:r>
              <a:rPr lang="ko-KR" sz="2200">
                <a:latin typeface="G마켓 산스 TTF Bold"/>
                <a:ea typeface="G마켓 산스 TTF Bold"/>
                <a:cs typeface="G마켓 산스 TTF Bold"/>
              </a:rPr>
              <a:t>02. 환경 및 설계</a:t>
            </a:r>
            <a:endParaRPr sz="2200">
              <a:latin typeface="G마켓 산스 TTF Bold"/>
              <a:cs typeface="G마켓 산스 TTF Bold"/>
            </a:endParaRPr>
          </a:p>
        </p:txBody>
      </p:sp>
      <p:sp>
        <p:nvSpPr>
          <p:cNvPr id="1678616575" name="TextBox 103"/>
          <p:cNvSpPr txBox="1"/>
          <p:nvPr/>
        </p:nvSpPr>
        <p:spPr bwMode="auto">
          <a:xfrm>
            <a:off x="6384205" y="5419320"/>
            <a:ext cx="1885964" cy="427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6600">
                <a:solidFill>
                  <a:srgbClr val="012481"/>
                </a:solidFill>
                <a:latin typeface="Noto Sans KR Black"/>
                <a:ea typeface="Noto Sans KR Black"/>
                <a:cs typeface="KoPubWorld돋움체 Bold"/>
              </a:defRPr>
            </a:lvl1pPr>
          </a:lstStyle>
          <a:p>
            <a:pPr>
              <a:defRPr/>
            </a:pPr>
            <a:r>
              <a:rPr lang="ko-KR" sz="2200">
                <a:latin typeface="G마켓 산스 TTF Bold"/>
                <a:ea typeface="G마켓 산스 TTF Bold"/>
                <a:cs typeface="G마켓 산스 TTF Bold"/>
              </a:rPr>
              <a:t>04. 주요 화면</a:t>
            </a:r>
            <a:endParaRPr sz="2200">
              <a:latin typeface="G마켓 산스 TTF Bold"/>
              <a:cs typeface="G마켓 산스 TTF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/>
      </p:transition>
    </mc:Choice>
    <mc:Fallback>
      <p:transition spd="fast" advClick="1">
        <p:random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67479249" name="Object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73445" y="0"/>
            <a:ext cx="7118555" cy="6874587"/>
          </a:xfrm>
          <a:prstGeom prst="rect">
            <a:avLst/>
          </a:prstGeom>
        </p:spPr>
      </p:pic>
      <p:sp>
        <p:nvSpPr>
          <p:cNvPr id="1144111827" name="Group 13"/>
          <p:cNvSpPr txBox="1"/>
          <p:nvPr/>
        </p:nvSpPr>
        <p:spPr bwMode="auto">
          <a:xfrm flipH="0" flipV="0">
            <a:off x="452196" y="2462908"/>
            <a:ext cx="5220548" cy="17499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ko-KR" sz="6000">
                <a:solidFill>
                  <a:srgbClr val="012481"/>
                </a:solidFill>
                <a:latin typeface="G마켓 산스 TTF Bold"/>
                <a:ea typeface="G마켓 산스 TTF Bold"/>
                <a:cs typeface="G마켓 산스 TTF Bold"/>
              </a:rPr>
              <a:t>01. 개요</a:t>
            </a:r>
            <a:endParaRPr sz="6000">
              <a:solidFill>
                <a:srgbClr val="012481"/>
              </a:solidFill>
              <a:latin typeface="G마켓 산스 TTF Bold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endParaRPr sz="1200">
              <a:solidFill>
                <a:schemeClr val="bg1">
                  <a:lumMod val="65000"/>
                </a:schemeClr>
              </a:solidFill>
              <a:latin typeface="G마켓 산스 TTF Bold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3600">
                <a:solidFill>
                  <a:schemeClr val="bg1">
                    <a:lumMod val="65000"/>
                  </a:schemeClr>
                </a:solidFill>
                <a:latin typeface="G마켓 산스 TTF Bold"/>
                <a:ea typeface="G마켓 산스 TTF Bold"/>
                <a:cs typeface="G마켓 산스 TTF Bold"/>
              </a:rPr>
              <a:t>PROJECT</a:t>
            </a:r>
            <a:endParaRPr sz="7200" spc="-150">
              <a:ln w="47625">
                <a:noFill/>
              </a:ln>
              <a:solidFill>
                <a:schemeClr val="bg1">
                  <a:lumMod val="65000"/>
                </a:schemeClr>
              </a:solidFill>
              <a:latin typeface="G마켓 산스 TTF Bold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2800" spc="-150">
                <a:ln w="47625">
                  <a:noFill/>
                </a:ln>
                <a:solidFill>
                  <a:schemeClr val="bg1"/>
                </a:solidFill>
                <a:latin typeface="G마켓 산스 TTF Bold"/>
                <a:ea typeface="G마켓 산스 TTF Bold"/>
                <a:cs typeface="G마켓 산스 TTF Bold"/>
              </a:rPr>
              <a:t>INTR</a:t>
            </a:r>
            <a:endParaRPr sz="7200" spc="-150">
              <a:ln w="47625">
                <a:noFill/>
              </a:ln>
              <a:solidFill>
                <a:schemeClr val="bg1"/>
              </a:solidFill>
              <a:latin typeface="G마켓 산스 TTF Bold"/>
              <a:cs typeface="G마켓 산스 TTF Bold"/>
            </a:endParaRPr>
          </a:p>
        </p:txBody>
      </p:sp>
      <p:cxnSp>
        <p:nvCxnSpPr>
          <p:cNvPr id="553178121" name="직선 연결선 4"/>
          <p:cNvCxnSpPr/>
          <p:nvPr/>
        </p:nvCxnSpPr>
        <p:spPr bwMode="auto">
          <a:xfrm>
            <a:off x="589644" y="3240019"/>
            <a:ext cx="4339771" cy="0"/>
          </a:xfrm>
          <a:prstGeom prst="line">
            <a:avLst/>
          </a:prstGeom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0024628" name="직선 연결선 5"/>
          <p:cNvCxnSpPr/>
          <p:nvPr/>
        </p:nvCxnSpPr>
        <p:spPr bwMode="auto">
          <a:xfrm>
            <a:off x="576363" y="3267451"/>
            <a:ext cx="1701800" cy="0"/>
          </a:xfrm>
          <a:prstGeom prst="line">
            <a:avLst/>
          </a:prstGeom>
          <a:ln w="38100">
            <a:solidFill>
              <a:srgbClr val="01248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/>
      </p:transition>
    </mc:Choice>
    <mc:Fallback>
      <p:transition spd="fast" advClick="1">
        <p:random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35462" name="직사각형 5"/>
          <p:cNvSpPr/>
          <p:nvPr/>
        </p:nvSpPr>
        <p:spPr bwMode="auto">
          <a:xfrm>
            <a:off x="0" y="0"/>
            <a:ext cx="495704" cy="6857997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 Light"/>
              <a:ea typeface="Noto Sans KR Light"/>
            </a:endParaRPr>
          </a:p>
        </p:txBody>
      </p:sp>
      <p:sp>
        <p:nvSpPr>
          <p:cNvPr id="875230770" name="직사각형 2"/>
          <p:cNvSpPr/>
          <p:nvPr/>
        </p:nvSpPr>
        <p:spPr bwMode="auto">
          <a:xfrm>
            <a:off x="749808" y="339583"/>
            <a:ext cx="11046723" cy="681502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"/>
              <a:ea typeface="Noto Sans KR"/>
            </a:endParaRPr>
          </a:p>
        </p:txBody>
      </p:sp>
      <p:cxnSp>
        <p:nvCxnSpPr>
          <p:cNvPr id="1268319367" name="직선 연결선 3"/>
          <p:cNvCxnSpPr/>
          <p:nvPr/>
        </p:nvCxnSpPr>
        <p:spPr bwMode="auto">
          <a:xfrm>
            <a:off x="749808" y="339583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7917393" name="TextBox 73"/>
          <p:cNvSpPr txBox="1"/>
          <p:nvPr/>
        </p:nvSpPr>
        <p:spPr bwMode="auto">
          <a:xfrm>
            <a:off x="749808" y="339582"/>
            <a:ext cx="3257988" cy="7013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ko-KR" sz="4000">
                <a:solidFill>
                  <a:srgbClr val="012481"/>
                </a:solidFill>
                <a:latin typeface="G마켓 산스 TTF Bold"/>
                <a:ea typeface="G마켓 산스 TTF Bold"/>
                <a:cs typeface="G마켓 산스 TTF Bold"/>
              </a:rPr>
              <a:t>프로젝트 개요</a:t>
            </a:r>
            <a:endParaRPr sz="4000">
              <a:solidFill>
                <a:srgbClr val="012481"/>
              </a:solidFill>
              <a:latin typeface="G마켓 산스 TTF Bold"/>
              <a:cs typeface="G마켓 산스 TTF Bold"/>
            </a:endParaRPr>
          </a:p>
        </p:txBody>
      </p:sp>
      <p:graphicFrame>
        <p:nvGraphicFramePr>
          <p:cNvPr id="1414508424" name="표 16"/>
          <p:cNvGraphicFramePr>
            <a:graphicFrameLocks xmlns:a="http://schemas.openxmlformats.org/drawingml/2006/main"/>
          </p:cNvGraphicFramePr>
          <p:nvPr/>
        </p:nvGraphicFramePr>
        <p:xfrm rot="0">
          <a:off x="884874" y="2032246"/>
          <a:ext cx="3910249" cy="2339847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1731802"/>
                <a:gridCol w="8758779"/>
              </a:tblGrid>
              <a:tr h="3718898">
                <a:tc gridSpan="2"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본</a:t>
                      </a:r>
                      <a:r>
                        <a:rPr lang="ko-KR" sz="1200" b="0" i="0" u="none">
                          <a:solidFill>
                            <a:schemeClr val="tx1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프로젝트는 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사내 업무 및 조직 관리를 위한 웹 애플리케이션입니다.</a:t>
                      </a:r>
                      <a:endParaRPr sz="1200">
                        <a:latin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endParaRPr sz="1200">
                        <a:latin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사용자별 권한에 따라 접근 가능한 메뉴와 기능을 제공하며,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공지사항, 사원 및 조직 관리, 업무일지, 프로젝트, 회의, 전자결재 등</a:t>
                      </a:r>
                      <a:b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</a:b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실제 사내 업무에서 활용할 수 있는 다양한 기능을 하나의 시스템으로 구성했습니다.</a:t>
                      </a:r>
                      <a:endParaRPr sz="1200" b="0" i="0" u="none">
                        <a:solidFill>
                          <a:srgbClr val="000000"/>
                        </a:solidFill>
                        <a:latin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endParaRPr sz="1200">
                        <a:latin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또한 업무별 기능을 독립적으로 구성하면서도 공통 기능과 권한 체계를 연계하여</a:t>
                      </a:r>
                      <a:endParaRPr sz="1200" b="0" i="0" u="none">
                        <a:solidFill>
                          <a:srgbClr val="000000"/>
                        </a:solidFill>
                        <a:latin typeface="G마켓 산스 TTF Light"/>
                        <a:ea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사용자 권한에 따라 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특정</a:t>
                      </a:r>
                      <a:r>
                        <a:rPr lang="ko-KR"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메뉴의 접근을</a:t>
                      </a:r>
                      <a:r>
                        <a:rPr lang="ko-KR"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제어하여 업무를 진행할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수 있도록 구현했습니다.</a:t>
                      </a:r>
                      <a:endParaRPr sz="1200">
                        <a:latin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endParaRPr sz="1200">
                        <a:latin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endParaRPr sz="1200">
                        <a:latin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endParaRPr sz="1200">
                        <a:latin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※ 프로젝트</a:t>
                      </a:r>
                      <a:r>
                        <a:rPr lang="ko-KR"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구조 및 상세 기능에 대한 정보는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README.md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에서 확인할 수 있습니다.</a:t>
                      </a:r>
                      <a:endParaRPr sz="1200" b="1" i="0" u="none">
                        <a:solidFill>
                          <a:srgbClr val="000000"/>
                        </a:solidFill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</a:tr>
            </a:tbl>
          </a:graphicData>
        </a:graphic>
      </p:graphicFrame>
      <p:grpSp>
        <p:nvGrpSpPr>
          <p:cNvPr id="1612337284" name="그룹 22"/>
          <p:cNvGrpSpPr/>
          <p:nvPr/>
        </p:nvGrpSpPr>
        <p:grpSpPr bwMode="auto">
          <a:xfrm>
            <a:off x="884873" y="1536135"/>
            <a:ext cx="2705412" cy="320856"/>
            <a:chOff x="0" y="0"/>
            <a:chExt cx="2705412" cy="320856"/>
          </a:xfrm>
        </p:grpSpPr>
        <p:cxnSp>
          <p:nvCxnSpPr>
            <p:cNvPr id="1729559908" name="Straight Connector 24"/>
            <p:cNvCxnSpPr/>
            <p:nvPr/>
          </p:nvCxnSpPr>
          <p:spPr bwMode="auto">
            <a:xfrm>
              <a:off x="0" y="288414"/>
              <a:ext cx="2140150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961261" name="Group 65"/>
            <p:cNvSpPr txBox="1"/>
            <p:nvPr/>
          </p:nvSpPr>
          <p:spPr bwMode="auto">
            <a:xfrm>
              <a:off x="271749" y="9600"/>
              <a:ext cx="243366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ko-KR" sz="1200" spc="-149">
                  <a:solidFill>
                    <a:schemeClr val="tx1"/>
                  </a:solidFill>
                  <a:latin typeface="G마켓 산스 TTF Light"/>
                  <a:ea typeface="G마켓 산스 TTF Light"/>
                  <a:cs typeface="G마켓 산스 TTF Light"/>
                </a:rPr>
                <a:t>프로젝트 개요</a:t>
              </a:r>
              <a:endParaRPr sz="1200" spc="-149">
                <a:solidFill>
                  <a:schemeClr val="tx1"/>
                </a:solidFill>
                <a:latin typeface="G마켓 산스 TTF Light"/>
                <a:cs typeface="G마켓 산스 TTF Light"/>
              </a:endParaRPr>
            </a:p>
          </p:txBody>
        </p:sp>
        <p:grpSp>
          <p:nvGrpSpPr>
            <p:cNvPr id="1603457112" name="그룹 16"/>
            <p:cNvGrpSpPr/>
            <p:nvPr/>
          </p:nvGrpSpPr>
          <p:grpSpPr bwMode="auto">
            <a:xfrm>
              <a:off x="0" y="0"/>
              <a:ext cx="223231" cy="236938"/>
              <a:chOff x="0" y="0"/>
              <a:chExt cx="223231" cy="236938"/>
            </a:xfrm>
          </p:grpSpPr>
          <p:sp>
            <p:nvSpPr>
              <p:cNvPr id="1659664509" name="Rectangle 21"/>
              <p:cNvSpPr/>
              <p:nvPr/>
            </p:nvSpPr>
            <p:spPr bwMode="auto">
              <a:xfrm>
                <a:off x="0" y="2"/>
                <a:ext cx="121770" cy="236935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1696604368" name="Rectangle 22"/>
              <p:cNvSpPr/>
              <p:nvPr/>
            </p:nvSpPr>
            <p:spPr bwMode="auto">
              <a:xfrm>
                <a:off x="121768" y="0"/>
                <a:ext cx="52942" cy="236935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699540819" name="Rectangle 23"/>
              <p:cNvSpPr/>
              <p:nvPr/>
            </p:nvSpPr>
            <p:spPr bwMode="auto">
              <a:xfrm>
                <a:off x="170289" y="0"/>
                <a:ext cx="52942" cy="236934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</p:grpSp>
      </p:grpSp>
      <p:cxnSp>
        <p:nvCxnSpPr>
          <p:cNvPr id="1991802501" name="직선 연결선 4"/>
          <p:cNvCxnSpPr/>
          <p:nvPr/>
        </p:nvCxnSpPr>
        <p:spPr bwMode="auto">
          <a:xfrm flipH="0" flipV="0">
            <a:off x="749808" y="1050114"/>
            <a:ext cx="1104672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/>
      </p:transition>
    </mc:Choice>
    <mc:Fallback>
      <p:transition spd="fast" advClick="1">
        <p:random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9054986" name="직사각형 5"/>
          <p:cNvSpPr/>
          <p:nvPr/>
        </p:nvSpPr>
        <p:spPr bwMode="auto">
          <a:xfrm>
            <a:off x="0" y="0"/>
            <a:ext cx="495705" cy="6857998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 Light"/>
              <a:ea typeface="Noto Sans KR Light"/>
            </a:endParaRPr>
          </a:p>
        </p:txBody>
      </p:sp>
      <p:sp>
        <p:nvSpPr>
          <p:cNvPr id="237061973" name="직사각형 2"/>
          <p:cNvSpPr/>
          <p:nvPr/>
        </p:nvSpPr>
        <p:spPr bwMode="auto">
          <a:xfrm>
            <a:off x="749808" y="339584"/>
            <a:ext cx="11046723" cy="681503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"/>
              <a:ea typeface="Noto Sans KR"/>
            </a:endParaRPr>
          </a:p>
        </p:txBody>
      </p:sp>
      <p:cxnSp>
        <p:nvCxnSpPr>
          <p:cNvPr id="1893927265" name="직선 연결선 3"/>
          <p:cNvCxnSpPr/>
          <p:nvPr/>
        </p:nvCxnSpPr>
        <p:spPr bwMode="auto">
          <a:xfrm>
            <a:off x="749808" y="339584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8445084" name="TextBox 73"/>
          <p:cNvSpPr txBox="1"/>
          <p:nvPr/>
        </p:nvSpPr>
        <p:spPr bwMode="auto">
          <a:xfrm>
            <a:off x="749808" y="339582"/>
            <a:ext cx="2280606" cy="701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ko-KR" sz="4000">
                <a:solidFill>
                  <a:srgbClr val="012481"/>
                </a:solidFill>
                <a:latin typeface="G마켓 산스 TTF Bold"/>
                <a:ea typeface="G마켓 산스 TTF Bold"/>
                <a:cs typeface="G마켓 산스 TTF Bold"/>
              </a:rPr>
              <a:t>제작 동기</a:t>
            </a:r>
            <a:endParaRPr sz="4000">
              <a:solidFill>
                <a:srgbClr val="012481"/>
              </a:solidFill>
              <a:latin typeface="G마켓 산스 TTF Bold"/>
              <a:cs typeface="G마켓 산스 TTF Bold"/>
            </a:endParaRPr>
          </a:p>
        </p:txBody>
      </p:sp>
      <p:grpSp>
        <p:nvGrpSpPr>
          <p:cNvPr id="2103853842" name="그룹 22"/>
          <p:cNvGrpSpPr/>
          <p:nvPr/>
        </p:nvGrpSpPr>
        <p:grpSpPr bwMode="auto">
          <a:xfrm>
            <a:off x="884874" y="1536136"/>
            <a:ext cx="2686692" cy="320856"/>
            <a:chOff x="0" y="0"/>
            <a:chExt cx="2686692" cy="320856"/>
          </a:xfrm>
        </p:grpSpPr>
        <p:cxnSp>
          <p:nvCxnSpPr>
            <p:cNvPr id="15" name="Straight Connector 24"/>
            <p:cNvCxnSpPr/>
            <p:nvPr/>
          </p:nvCxnSpPr>
          <p:spPr bwMode="auto">
            <a:xfrm>
              <a:off x="0" y="288414"/>
              <a:ext cx="2140151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Group 65"/>
            <p:cNvSpPr txBox="1"/>
            <p:nvPr/>
          </p:nvSpPr>
          <p:spPr bwMode="auto">
            <a:xfrm>
              <a:off x="271749" y="9600"/>
              <a:ext cx="241494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ko-KR" sz="1200" spc="-150">
                  <a:solidFill>
                    <a:schemeClr val="tx1"/>
                  </a:solidFill>
                  <a:latin typeface="G마켓 산스 TTF Light"/>
                  <a:ea typeface="G마켓 산스 TTF Light"/>
                  <a:cs typeface="G마켓 산스 TTF Light"/>
                </a:rPr>
                <a:t>제작 동기</a:t>
              </a:r>
              <a:endParaRPr sz="1200" spc="-150">
                <a:solidFill>
                  <a:schemeClr val="tx1"/>
                </a:solidFill>
                <a:latin typeface="G마켓 산스 TTF Light"/>
                <a:cs typeface="G마켓 산스 TTF Light"/>
              </a:endParaRPr>
            </a:p>
          </p:txBody>
        </p:sp>
        <p:grpSp>
          <p:nvGrpSpPr>
            <p:cNvPr id="17" name="그룹 16"/>
            <p:cNvGrpSpPr/>
            <p:nvPr/>
          </p:nvGrpSpPr>
          <p:grpSpPr bwMode="auto">
            <a:xfrm>
              <a:off x="0" y="0"/>
              <a:ext cx="223231" cy="236938"/>
              <a:chOff x="0" y="0"/>
              <a:chExt cx="223231" cy="236938"/>
            </a:xfrm>
          </p:grpSpPr>
          <p:sp>
            <p:nvSpPr>
              <p:cNvPr id="18" name="Rectangle 21"/>
              <p:cNvSpPr/>
              <p:nvPr/>
            </p:nvSpPr>
            <p:spPr bwMode="auto">
              <a:xfrm>
                <a:off x="0" y="2"/>
                <a:ext cx="121770" cy="236936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19" name="Rectangle 22"/>
              <p:cNvSpPr/>
              <p:nvPr/>
            </p:nvSpPr>
            <p:spPr bwMode="auto">
              <a:xfrm>
                <a:off x="121768" y="0"/>
                <a:ext cx="52943" cy="236936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20" name="Rectangle 23"/>
              <p:cNvSpPr/>
              <p:nvPr/>
            </p:nvSpPr>
            <p:spPr bwMode="auto">
              <a:xfrm>
                <a:off x="170289" y="0"/>
                <a:ext cx="52943" cy="2369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</p:grpSp>
      </p:grpSp>
      <p:graphicFrame>
        <p:nvGraphicFramePr>
          <p:cNvPr id="266699194" name="표 16"/>
          <p:cNvGraphicFramePr>
            <a:graphicFrameLocks xmlns:a="http://schemas.openxmlformats.org/drawingml/2006/main"/>
          </p:cNvGraphicFramePr>
          <p:nvPr/>
        </p:nvGraphicFramePr>
        <p:xfrm rot="0">
          <a:off x="884875" y="2032247"/>
          <a:ext cx="3910250" cy="2339847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1731803"/>
                <a:gridCol w="8758780"/>
              </a:tblGrid>
              <a:tr h="3718898">
                <a:tc gridSpan="2"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본 프로젝트는 취업 전 학원에서 조별과제로 제작했던 프로젝트입니다.</a:t>
                      </a:r>
                      <a:endParaRPr sz="1200" b="0" i="0" u="none">
                        <a:solidFill>
                          <a:srgbClr val="000000"/>
                        </a:solidFill>
                        <a:latin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endParaRPr sz="1200">
                        <a:latin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실무 시작 이후 시간적인 여유가 없어 미처 개선하지 못했던 프로젝트를 다시 발전시키고자 시작했습니다.</a:t>
                      </a:r>
                      <a:endParaRPr sz="1200">
                        <a:latin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별도의 기한을 정하지 않고, 실무에서 경험했던 기능과 개발 방식을 적용하며 기존 기능을</a:t>
                      </a:r>
                      <a:r>
                        <a:rPr lang="ko-KR"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개선하기 위해 지속적으로 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개선해 왔습니다.</a:t>
                      </a:r>
                      <a:endParaRPr sz="1200">
                        <a:latin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endParaRPr sz="1200">
                        <a:latin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특히 실무에서 경험했던 업무 중 인상 깊었던 기능들을 직접 구현하며, </a:t>
                      </a:r>
                      <a:endParaRPr sz="1200" b="0" i="0" u="none">
                        <a:solidFill>
                          <a:srgbClr val="000000"/>
                        </a:solidFill>
                        <a:latin typeface="G마켓 산스 TTF Light"/>
                        <a:ea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기존 경험을 복습하고 부족했던 부분을 보완하는 데 중점을 두었습니다.</a:t>
                      </a:r>
                      <a:endParaRPr sz="1200" b="0" i="0" u="none">
                        <a:solidFill>
                          <a:srgbClr val="000000"/>
                        </a:solidFill>
                        <a:latin typeface="G마켓 산스 TTF Light"/>
                        <a:ea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endParaRPr sz="1200">
                        <a:latin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개선할 부분이 많은 프로젝트이지만, 제</a:t>
                      </a:r>
                      <a:r>
                        <a:rPr lang="ko-KR"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커리어의 </a:t>
                      </a:r>
                      <a:r>
                        <a:rPr sz="12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처음과</a:t>
                      </a:r>
                      <a:r>
                        <a:rPr lang="ko-KR" sz="12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현재를 함께한 </a:t>
                      </a:r>
                      <a:r>
                        <a:rPr sz="12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의미있는 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프로젝트입니다.</a:t>
                      </a:r>
                      <a:endParaRPr sz="1200" b="0" i="0" u="none">
                        <a:solidFill>
                          <a:srgbClr val="000000"/>
                        </a:solidFill>
                        <a:latin typeface="G마켓 산스 TTF Light"/>
                        <a:ea typeface="G마켓 산스 TTF Light"/>
                        <a:cs typeface="G마켓 산스 TTF Light"/>
                      </a:endParaRPr>
                    </a:p>
                  </a:txBody>
                  <a:tcPr anchor="ctr">
                    <a:lnL w="9524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4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4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4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</a:tr>
            </a:tbl>
          </a:graphicData>
        </a:graphic>
      </p:graphicFrame>
      <p:cxnSp>
        <p:nvCxnSpPr>
          <p:cNvPr id="753976944" name="직선 연결선 4"/>
          <p:cNvCxnSpPr/>
          <p:nvPr/>
        </p:nvCxnSpPr>
        <p:spPr bwMode="auto">
          <a:xfrm flipH="0" flipV="0">
            <a:off x="749808" y="1050114"/>
            <a:ext cx="1104672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/>
      </p:transition>
    </mc:Choice>
    <mc:Fallback>
      <p:transition spd="fast" advClick="1">
        <p:random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23259970" name="Object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73445" y="0"/>
            <a:ext cx="7118555" cy="6874587"/>
          </a:xfrm>
          <a:prstGeom prst="rect">
            <a:avLst/>
          </a:prstGeom>
        </p:spPr>
      </p:pic>
      <p:sp>
        <p:nvSpPr>
          <p:cNvPr id="1564375363" name="Group 13"/>
          <p:cNvSpPr txBox="1"/>
          <p:nvPr/>
        </p:nvSpPr>
        <p:spPr bwMode="auto">
          <a:xfrm flipH="0" flipV="0">
            <a:off x="452194" y="2462907"/>
            <a:ext cx="5967286" cy="17499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ko-KR" sz="6000">
                <a:solidFill>
                  <a:srgbClr val="012481"/>
                </a:solidFill>
                <a:latin typeface="G마켓 산스 TTF Bold"/>
                <a:ea typeface="G마켓 산스 TTF Bold"/>
                <a:cs typeface="G마켓 산스 TTF Bold"/>
              </a:rPr>
              <a:t>02. 환경 및 설계</a:t>
            </a:r>
            <a:endParaRPr sz="6000">
              <a:solidFill>
                <a:srgbClr val="012481"/>
              </a:solidFill>
              <a:latin typeface="G마켓 산스 TTF Bold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endParaRPr sz="1200">
              <a:solidFill>
                <a:schemeClr val="bg1">
                  <a:lumMod val="65000"/>
                </a:schemeClr>
              </a:solidFill>
              <a:latin typeface="G마켓 산스 TTF Bold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3600">
                <a:solidFill>
                  <a:schemeClr val="bg1">
                    <a:lumMod val="65000"/>
                  </a:schemeClr>
                </a:solidFill>
                <a:latin typeface="G마켓 산스 TTF Bold"/>
                <a:ea typeface="G마켓 산스 TTF Bold"/>
                <a:cs typeface="G마켓 산스 TTF Bold"/>
              </a:rPr>
              <a:t>PROJECT</a:t>
            </a:r>
            <a:endParaRPr sz="7200" spc="-150">
              <a:ln w="47625">
                <a:noFill/>
              </a:ln>
              <a:solidFill>
                <a:schemeClr val="bg1">
                  <a:lumMod val="65000"/>
                </a:schemeClr>
              </a:solidFill>
              <a:latin typeface="G마켓 산스 TTF Bold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2800" spc="-150">
                <a:ln w="47625">
                  <a:noFill/>
                </a:ln>
                <a:solidFill>
                  <a:schemeClr val="bg1"/>
                </a:solidFill>
                <a:latin typeface="G마켓 산스 TTF Bold"/>
                <a:ea typeface="G마켓 산스 TTF Bold"/>
                <a:cs typeface="G마켓 산스 TTF Bold"/>
              </a:rPr>
              <a:t>INTR</a:t>
            </a:r>
            <a:endParaRPr sz="7200" spc="-150">
              <a:ln w="47625">
                <a:noFill/>
              </a:ln>
              <a:solidFill>
                <a:schemeClr val="bg1"/>
              </a:solidFill>
              <a:latin typeface="G마켓 산스 TTF Bold"/>
              <a:cs typeface="G마켓 산스 TTF Bold"/>
            </a:endParaRPr>
          </a:p>
        </p:txBody>
      </p:sp>
      <p:cxnSp>
        <p:nvCxnSpPr>
          <p:cNvPr id="1233989414" name="직선 연결선 4"/>
          <p:cNvCxnSpPr/>
          <p:nvPr/>
        </p:nvCxnSpPr>
        <p:spPr bwMode="auto">
          <a:xfrm>
            <a:off x="589644" y="3240019"/>
            <a:ext cx="4339771" cy="0"/>
          </a:xfrm>
          <a:prstGeom prst="line">
            <a:avLst/>
          </a:prstGeom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8580584" name="직선 연결선 5"/>
          <p:cNvCxnSpPr/>
          <p:nvPr/>
        </p:nvCxnSpPr>
        <p:spPr bwMode="auto">
          <a:xfrm>
            <a:off x="576363" y="3267451"/>
            <a:ext cx="1701800" cy="0"/>
          </a:xfrm>
          <a:prstGeom prst="line">
            <a:avLst/>
          </a:prstGeom>
          <a:ln w="38100">
            <a:solidFill>
              <a:srgbClr val="01248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/>
      </p:transition>
    </mc:Choice>
    <mc:Fallback>
      <p:transition spd="fast" advClick="1">
        <p:random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86074" name="직사각형 5"/>
          <p:cNvSpPr/>
          <p:nvPr/>
        </p:nvSpPr>
        <p:spPr bwMode="auto">
          <a:xfrm>
            <a:off x="0" y="0"/>
            <a:ext cx="495705" cy="6857998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원신한 Bold"/>
              <a:ea typeface="원신한 Bold"/>
            </a:endParaRPr>
          </a:p>
        </p:txBody>
      </p:sp>
      <p:sp>
        <p:nvSpPr>
          <p:cNvPr id="593818612" name="직사각형 2"/>
          <p:cNvSpPr/>
          <p:nvPr/>
        </p:nvSpPr>
        <p:spPr bwMode="auto">
          <a:xfrm>
            <a:off x="749808" y="339584"/>
            <a:ext cx="11046723" cy="681503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원신한 Bold"/>
              <a:ea typeface="원신한 Bold"/>
            </a:endParaRPr>
          </a:p>
        </p:txBody>
      </p:sp>
      <p:cxnSp>
        <p:nvCxnSpPr>
          <p:cNvPr id="598467405" name="직선 연결선 3"/>
          <p:cNvCxnSpPr/>
          <p:nvPr/>
        </p:nvCxnSpPr>
        <p:spPr bwMode="auto">
          <a:xfrm>
            <a:off x="749808" y="339584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0265920" name="직선 연결선 4"/>
          <p:cNvCxnSpPr/>
          <p:nvPr/>
        </p:nvCxnSpPr>
        <p:spPr bwMode="auto">
          <a:xfrm flipH="0" flipV="0">
            <a:off x="749808" y="1050114"/>
            <a:ext cx="1104672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0973234" name="TextBox 73"/>
          <p:cNvSpPr txBox="1"/>
          <p:nvPr/>
        </p:nvSpPr>
        <p:spPr bwMode="auto">
          <a:xfrm>
            <a:off x="749808" y="339584"/>
            <a:ext cx="23903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ko-KR" sz="4000">
                <a:solidFill>
                  <a:srgbClr val="012481"/>
                </a:solidFill>
                <a:latin typeface="원신한 Bold"/>
                <a:ea typeface="원신한 Bold"/>
              </a:rPr>
              <a:t>개발 환경</a:t>
            </a:r>
            <a:endParaRPr lang="ko-KR" sz="4000">
              <a:solidFill>
                <a:srgbClr val="012481"/>
              </a:solidFill>
              <a:latin typeface="원신한 Bold"/>
              <a:ea typeface="원신한 Bold"/>
            </a:endParaRPr>
          </a:p>
        </p:txBody>
      </p:sp>
      <p:graphicFrame>
        <p:nvGraphicFramePr>
          <p:cNvPr id="999891129" name="표 16"/>
          <p:cNvGraphicFramePr>
            <a:graphicFrameLocks xmlns:a="http://schemas.openxmlformats.org/drawingml/2006/main"/>
          </p:cNvGraphicFramePr>
          <p:nvPr/>
        </p:nvGraphicFramePr>
        <p:xfrm rot="0">
          <a:off x="872476" y="2112291"/>
          <a:ext cx="10924053" cy="3564714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217394"/>
                <a:gridCol w="8706658"/>
              </a:tblGrid>
              <a:tr h="324065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sz="1000" b="1" spc="-148">
                          <a:solidFill>
                            <a:schemeClr val="bg1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구분</a:t>
                      </a:r>
                      <a:endParaRPr sz="1000" b="1" spc="-148">
                        <a:solidFill>
                          <a:schemeClr val="bg1"/>
                        </a:solidFill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28575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sz="1000" b="1" spc="-148">
                          <a:solidFill>
                            <a:schemeClr val="bg1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기술 / 도구</a:t>
                      </a:r>
                      <a:endParaRPr sz="1000" b="1" spc="-148">
                        <a:solidFill>
                          <a:schemeClr val="bg1"/>
                        </a:solidFill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28575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solidFill>
                      <a:srgbClr val="002060"/>
                    </a:solidFill>
                  </a:tcPr>
                </a:tc>
              </a:tr>
              <a:tr h="324065">
                <a:tc>
                  <a:txBody>
                    <a:bodyPr/>
                    <a:p>
                      <a:pPr>
                        <a:defRPr/>
                      </a:pPr>
                      <a:r>
                        <a:rPr lang="ko-KR" sz="1000">
                          <a:latin typeface="G마켓 산스 TTF Light"/>
                          <a:ea typeface="G마켓 산스 TTF Light"/>
                          <a:cs typeface="G마켓 산스 TTF Light"/>
                        </a:rPr>
                        <a:t>Language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Java 8, HTML5, CSS3, JavaScript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</a:tr>
              <a:tr h="324065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Framework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Spring MVC 3.1.1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</a:tr>
              <a:tr h="324065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View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JSP, JSTL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</a:tr>
              <a:tr h="324065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Data Access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MyBatis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</a:tr>
              <a:tr h="324065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Database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Oracle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</a:tr>
              <a:tr h="324065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Server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Apache Tomcat 9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</a:tr>
              <a:tr h="324065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Editor / Library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CKEditor 4, PDF.js, FullCalendar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</a:tr>
              <a:tr h="324065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Build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Maven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</a:tr>
              <a:tr h="324065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Version Control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Git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</a:tr>
              <a:tr h="324065">
                <a:tc>
                  <a:txBody>
                    <a:bodyPr/>
                    <a:p>
                      <a:pPr>
                        <a:defRPr/>
                      </a:pPr>
                      <a:r>
                        <a:rPr lang="ko-KR" sz="1000">
                          <a:latin typeface="G마켓 산스 TTF Light"/>
                          <a:ea typeface="G마켓 산스 TTF Light"/>
                          <a:cs typeface="G마켓 산스 TTF Light"/>
                        </a:rPr>
                        <a:t>Tool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Eclipse</a:t>
                      </a: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, </a:t>
                      </a: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DBeaver</a:t>
                      </a: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,</a:t>
                      </a: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Git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1075524139" name="그룹 22"/>
          <p:cNvGrpSpPr/>
          <p:nvPr/>
        </p:nvGrpSpPr>
        <p:grpSpPr bwMode="auto">
          <a:xfrm>
            <a:off x="884873" y="1536135"/>
            <a:ext cx="2703972" cy="320856"/>
            <a:chOff x="0" y="0"/>
            <a:chExt cx="2703972" cy="320856"/>
          </a:xfrm>
        </p:grpSpPr>
        <p:cxnSp>
          <p:nvCxnSpPr>
            <p:cNvPr id="1219559525" name="Straight Connector 24"/>
            <p:cNvCxnSpPr/>
            <p:nvPr/>
          </p:nvCxnSpPr>
          <p:spPr bwMode="auto">
            <a:xfrm>
              <a:off x="0" y="288414"/>
              <a:ext cx="2140150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0447259" name="Group 65"/>
            <p:cNvSpPr txBox="1"/>
            <p:nvPr/>
          </p:nvSpPr>
          <p:spPr bwMode="auto">
            <a:xfrm>
              <a:off x="271749" y="9600"/>
              <a:ext cx="243222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ko-KR" sz="1200" spc="-149">
                  <a:solidFill>
                    <a:schemeClr val="tx1"/>
                  </a:solidFill>
                  <a:latin typeface="G마켓 산스 TTF Light"/>
                  <a:ea typeface="G마켓 산스 TTF Light"/>
                  <a:cs typeface="G마켓 산스 TTF Light"/>
                </a:rPr>
                <a:t>개발 환경</a:t>
              </a:r>
              <a:endParaRPr sz="1200" spc="-149">
                <a:solidFill>
                  <a:schemeClr val="tx1"/>
                </a:solidFill>
                <a:latin typeface="G마켓 산스 TTF Light"/>
                <a:cs typeface="G마켓 산스 TTF Light"/>
              </a:endParaRPr>
            </a:p>
          </p:txBody>
        </p:sp>
        <p:grpSp>
          <p:nvGrpSpPr>
            <p:cNvPr id="259133879" name="그룹 16"/>
            <p:cNvGrpSpPr/>
            <p:nvPr/>
          </p:nvGrpSpPr>
          <p:grpSpPr bwMode="auto">
            <a:xfrm>
              <a:off x="0" y="0"/>
              <a:ext cx="223231" cy="236938"/>
              <a:chOff x="0" y="0"/>
              <a:chExt cx="223231" cy="236938"/>
            </a:xfrm>
          </p:grpSpPr>
          <p:sp>
            <p:nvSpPr>
              <p:cNvPr id="1867151440" name="Rectangle 21"/>
              <p:cNvSpPr/>
              <p:nvPr/>
            </p:nvSpPr>
            <p:spPr bwMode="auto">
              <a:xfrm>
                <a:off x="0" y="2"/>
                <a:ext cx="121770" cy="236935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1479816798" name="Rectangle 22"/>
              <p:cNvSpPr/>
              <p:nvPr/>
            </p:nvSpPr>
            <p:spPr bwMode="auto">
              <a:xfrm>
                <a:off x="121768" y="0"/>
                <a:ext cx="52942" cy="236935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952743280" name="Rectangle 23"/>
              <p:cNvSpPr/>
              <p:nvPr/>
            </p:nvSpPr>
            <p:spPr bwMode="auto">
              <a:xfrm>
                <a:off x="170289" y="0"/>
                <a:ext cx="52942" cy="236934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/>
      </p:transition>
    </mc:Choice>
    <mc:Fallback>
      <p:transition spd="fast" advClick="1">
        <p:random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91202" name="직사각형 5"/>
          <p:cNvSpPr/>
          <p:nvPr/>
        </p:nvSpPr>
        <p:spPr bwMode="auto">
          <a:xfrm>
            <a:off x="0" y="0"/>
            <a:ext cx="495705" cy="6857998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 Light"/>
              <a:ea typeface="Noto Sans KR Light"/>
            </a:endParaRPr>
          </a:p>
        </p:txBody>
      </p:sp>
      <p:sp>
        <p:nvSpPr>
          <p:cNvPr id="1189726483" name="직사각형 2"/>
          <p:cNvSpPr/>
          <p:nvPr/>
        </p:nvSpPr>
        <p:spPr bwMode="auto">
          <a:xfrm>
            <a:off x="749808" y="339584"/>
            <a:ext cx="11046723" cy="681503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"/>
              <a:ea typeface="Noto Sans KR"/>
            </a:endParaRPr>
          </a:p>
        </p:txBody>
      </p:sp>
      <p:cxnSp>
        <p:nvCxnSpPr>
          <p:cNvPr id="2102211565" name="직선 연결선 3"/>
          <p:cNvCxnSpPr/>
          <p:nvPr/>
        </p:nvCxnSpPr>
        <p:spPr bwMode="auto">
          <a:xfrm>
            <a:off x="749808" y="339584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7263599" name="TextBox 73"/>
          <p:cNvSpPr txBox="1"/>
          <p:nvPr/>
        </p:nvSpPr>
        <p:spPr bwMode="auto">
          <a:xfrm>
            <a:off x="749808" y="339582"/>
            <a:ext cx="1392135" cy="70139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ctr" anchorCtr="0" forceAA="0" upright="0" compatLnSpc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ko-KR" sz="4000">
                <a:solidFill>
                  <a:srgbClr val="012481"/>
                </a:solidFill>
                <a:latin typeface="G마켓 산스 TTF Bold"/>
                <a:ea typeface="G마켓 산스 TTF Bold"/>
                <a:cs typeface="G마켓 산스 TTF Bold"/>
              </a:rPr>
              <a:t>ERD</a:t>
            </a:r>
            <a:endParaRPr sz="4000">
              <a:solidFill>
                <a:srgbClr val="012481"/>
              </a:solidFill>
              <a:latin typeface="G마켓 산스 TTF Bold"/>
              <a:cs typeface="G마켓 산스 TTF Bold"/>
            </a:endParaRPr>
          </a:p>
        </p:txBody>
      </p:sp>
      <p:cxnSp>
        <p:nvCxnSpPr>
          <p:cNvPr id="1171324900" name="직선 연결선 4"/>
          <p:cNvCxnSpPr/>
          <p:nvPr/>
        </p:nvCxnSpPr>
        <p:spPr bwMode="auto">
          <a:xfrm flipH="0" flipV="0">
            <a:off x="749808" y="1050114"/>
            <a:ext cx="1104672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63109226" name="그룹 22"/>
          <p:cNvGrpSpPr/>
          <p:nvPr/>
        </p:nvGrpSpPr>
        <p:grpSpPr bwMode="auto">
          <a:xfrm>
            <a:off x="884872" y="1536134"/>
            <a:ext cx="2753291" cy="320855"/>
            <a:chOff x="0" y="0"/>
            <a:chExt cx="2753291" cy="320855"/>
          </a:xfrm>
        </p:grpSpPr>
        <p:cxnSp>
          <p:nvCxnSpPr>
            <p:cNvPr id="1249002657" name="Straight Connector 24"/>
            <p:cNvCxnSpPr/>
            <p:nvPr/>
          </p:nvCxnSpPr>
          <p:spPr bwMode="auto">
            <a:xfrm>
              <a:off x="0" y="288414"/>
              <a:ext cx="2140150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3673242" name="Group 65"/>
            <p:cNvSpPr txBox="1"/>
            <p:nvPr/>
          </p:nvSpPr>
          <p:spPr bwMode="auto">
            <a:xfrm>
              <a:off x="271748" y="9599"/>
              <a:ext cx="248154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ko-KR" sz="1200" spc="-149">
                  <a:solidFill>
                    <a:schemeClr val="tx1"/>
                  </a:solidFill>
                  <a:latin typeface="G마켓 산스 TTF Light"/>
                  <a:ea typeface="G마켓 산스 TTF Light"/>
                  <a:cs typeface="G마켓 산스 TTF Light"/>
                </a:rPr>
                <a:t>사용자 - 메뉴 - 권한</a:t>
              </a:r>
              <a:endParaRPr sz="1200" spc="-149">
                <a:solidFill>
                  <a:schemeClr val="tx1"/>
                </a:solidFill>
                <a:latin typeface="G마켓 산스 TTF Light"/>
                <a:cs typeface="G마켓 산스 TTF Light"/>
              </a:endParaRPr>
            </a:p>
          </p:txBody>
        </p:sp>
        <p:grpSp>
          <p:nvGrpSpPr>
            <p:cNvPr id="1171832399" name="그룹 16"/>
            <p:cNvGrpSpPr/>
            <p:nvPr/>
          </p:nvGrpSpPr>
          <p:grpSpPr bwMode="auto">
            <a:xfrm>
              <a:off x="0" y="0"/>
              <a:ext cx="223230" cy="236936"/>
              <a:chOff x="0" y="0"/>
              <a:chExt cx="223230" cy="236936"/>
            </a:xfrm>
          </p:grpSpPr>
          <p:sp>
            <p:nvSpPr>
              <p:cNvPr id="1607325564" name="Rectangle 21"/>
              <p:cNvSpPr/>
              <p:nvPr/>
            </p:nvSpPr>
            <p:spPr bwMode="auto">
              <a:xfrm>
                <a:off x="0" y="1"/>
                <a:ext cx="121770" cy="236935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811352023" name="Rectangle 22"/>
              <p:cNvSpPr/>
              <p:nvPr/>
            </p:nvSpPr>
            <p:spPr bwMode="auto">
              <a:xfrm>
                <a:off x="121767" y="0"/>
                <a:ext cx="52942" cy="236935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1970628900" name="Rectangle 23"/>
              <p:cNvSpPr/>
              <p:nvPr/>
            </p:nvSpPr>
            <p:spPr bwMode="auto">
              <a:xfrm>
                <a:off x="170289" y="0"/>
                <a:ext cx="52942" cy="236934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</p:grpSp>
      </p:grpSp>
      <p:pic>
        <p:nvPicPr>
          <p:cNvPr id="132244221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84872" y="1949953"/>
            <a:ext cx="10037079" cy="3986988"/>
          </a:xfrm>
          <a:prstGeom prst="rect">
            <a:avLst/>
          </a:prstGeom>
        </p:spPr>
      </p:pic>
      <p:sp>
        <p:nvSpPr>
          <p:cNvPr id="214121965" name=""/>
          <p:cNvSpPr/>
          <p:nvPr/>
        </p:nvSpPr>
        <p:spPr bwMode="auto">
          <a:xfrm flipH="0" flipV="0">
            <a:off x="876252" y="6057142"/>
            <a:ext cx="5584445" cy="30515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400" b="1" i="0" u="none">
                <a:solidFill>
                  <a:srgbClr val="000000"/>
                </a:solidFill>
                <a:latin typeface="Gmarket Sans TTF Medium"/>
                <a:ea typeface="Gmarket Sans TTF Medium"/>
                <a:cs typeface="Gmarket Sans TTF Medium"/>
              </a:rPr>
              <a:t>※ 전체 ERD는 첨부된 이미지를 참고해 주시기 바랍니다.</a:t>
            </a:r>
            <a:endParaRPr sz="2000" b="1">
              <a:latin typeface="Gmarket Sans TTF Medium"/>
              <a:cs typeface="Gmarket Sans TTF Medium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/>
      </p:transition>
    </mc:Choice>
    <mc:Fallback>
      <p:transition spd="fast" advClick="1">
        <p:random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90802" name="직사각형 5"/>
          <p:cNvSpPr/>
          <p:nvPr/>
        </p:nvSpPr>
        <p:spPr bwMode="auto">
          <a:xfrm>
            <a:off x="0" y="0"/>
            <a:ext cx="495704" cy="6857997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 Light"/>
              <a:ea typeface="Noto Sans KR Light"/>
            </a:endParaRPr>
          </a:p>
        </p:txBody>
      </p:sp>
      <p:sp>
        <p:nvSpPr>
          <p:cNvPr id="1922453549" name="직사각형 2"/>
          <p:cNvSpPr/>
          <p:nvPr/>
        </p:nvSpPr>
        <p:spPr bwMode="auto">
          <a:xfrm>
            <a:off x="749808" y="339583"/>
            <a:ext cx="11046723" cy="681502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"/>
              <a:ea typeface="Noto Sans KR"/>
            </a:endParaRPr>
          </a:p>
        </p:txBody>
      </p:sp>
      <p:cxnSp>
        <p:nvCxnSpPr>
          <p:cNvPr id="918669738" name="직선 연결선 3"/>
          <p:cNvCxnSpPr/>
          <p:nvPr/>
        </p:nvCxnSpPr>
        <p:spPr bwMode="auto">
          <a:xfrm>
            <a:off x="749808" y="339583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918547" name="TextBox 73"/>
          <p:cNvSpPr txBox="1"/>
          <p:nvPr/>
        </p:nvSpPr>
        <p:spPr bwMode="auto">
          <a:xfrm>
            <a:off x="749808" y="339582"/>
            <a:ext cx="1392135" cy="701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ko-KR" sz="4000">
                <a:solidFill>
                  <a:srgbClr val="012481"/>
                </a:solidFill>
                <a:latin typeface="G마켓 산스 TTF Bold"/>
                <a:ea typeface="G마켓 산스 TTF Bold"/>
                <a:cs typeface="G마켓 산스 TTF Bold"/>
              </a:rPr>
              <a:t>ERD</a:t>
            </a:r>
            <a:endParaRPr sz="4000">
              <a:solidFill>
                <a:srgbClr val="012481"/>
              </a:solidFill>
              <a:latin typeface="G마켓 산스 TTF Bold"/>
              <a:cs typeface="G마켓 산스 TTF Bold"/>
            </a:endParaRPr>
          </a:p>
        </p:txBody>
      </p:sp>
      <p:cxnSp>
        <p:nvCxnSpPr>
          <p:cNvPr id="1549358734" name="직선 연결선 4"/>
          <p:cNvCxnSpPr/>
          <p:nvPr/>
        </p:nvCxnSpPr>
        <p:spPr bwMode="auto">
          <a:xfrm flipH="0" flipV="0">
            <a:off x="749808" y="1050113"/>
            <a:ext cx="1104672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06315815" name="그룹 22"/>
          <p:cNvGrpSpPr/>
          <p:nvPr/>
        </p:nvGrpSpPr>
        <p:grpSpPr bwMode="auto">
          <a:xfrm>
            <a:off x="884871" y="1536134"/>
            <a:ext cx="2759771" cy="320855"/>
            <a:chOff x="0" y="0"/>
            <a:chExt cx="2759771" cy="320855"/>
          </a:xfrm>
        </p:grpSpPr>
        <p:cxnSp>
          <p:nvCxnSpPr>
            <p:cNvPr id="1955681840" name="Straight Connector 24"/>
            <p:cNvCxnSpPr/>
            <p:nvPr/>
          </p:nvCxnSpPr>
          <p:spPr bwMode="auto">
            <a:xfrm>
              <a:off x="0" y="288414"/>
              <a:ext cx="2140149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8072242" name="Group 65"/>
            <p:cNvSpPr txBox="1"/>
            <p:nvPr/>
          </p:nvSpPr>
          <p:spPr bwMode="auto">
            <a:xfrm>
              <a:off x="271748" y="9599"/>
              <a:ext cx="248802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sz="1200" spc="-148">
                  <a:solidFill>
                    <a:schemeClr val="tx1"/>
                  </a:solidFill>
                  <a:latin typeface="G마켓 산스 TTF Light"/>
                  <a:cs typeface="G마켓 산스 TTF Light"/>
                </a:rPr>
                <a:t>결</a:t>
              </a:r>
              <a:r>
                <a:rPr lang="ko-KR" sz="1200" spc="-148">
                  <a:solidFill>
                    <a:schemeClr val="tx1"/>
                  </a:solidFill>
                  <a:latin typeface="G마켓 산스 TTF Light"/>
                  <a:cs typeface="G마켓 산스 TTF Light"/>
                </a:rPr>
                <a:t>재</a:t>
              </a:r>
              <a:endParaRPr sz="1200" spc="-148">
                <a:solidFill>
                  <a:schemeClr val="tx1"/>
                </a:solidFill>
                <a:latin typeface="G마켓 산스 TTF Light"/>
                <a:cs typeface="G마켓 산스 TTF Light"/>
              </a:endParaRPr>
            </a:p>
          </p:txBody>
        </p:sp>
        <p:grpSp>
          <p:nvGrpSpPr>
            <p:cNvPr id="1646208173" name="그룹 16"/>
            <p:cNvGrpSpPr/>
            <p:nvPr/>
          </p:nvGrpSpPr>
          <p:grpSpPr bwMode="auto">
            <a:xfrm>
              <a:off x="0" y="0"/>
              <a:ext cx="223230" cy="236936"/>
              <a:chOff x="0" y="0"/>
              <a:chExt cx="223230" cy="236936"/>
            </a:xfrm>
          </p:grpSpPr>
          <p:sp>
            <p:nvSpPr>
              <p:cNvPr id="524522349" name="Rectangle 21"/>
              <p:cNvSpPr/>
              <p:nvPr/>
            </p:nvSpPr>
            <p:spPr bwMode="auto">
              <a:xfrm>
                <a:off x="0" y="1"/>
                <a:ext cx="121770" cy="236934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1292331484" name="Rectangle 22"/>
              <p:cNvSpPr/>
              <p:nvPr/>
            </p:nvSpPr>
            <p:spPr bwMode="auto">
              <a:xfrm>
                <a:off x="121767" y="0"/>
                <a:ext cx="52941" cy="236934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883057057" name="Rectangle 23"/>
              <p:cNvSpPr/>
              <p:nvPr/>
            </p:nvSpPr>
            <p:spPr bwMode="auto">
              <a:xfrm>
                <a:off x="170289" y="0"/>
                <a:ext cx="52941" cy="236934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</p:grpSp>
      </p:grpSp>
      <p:pic>
        <p:nvPicPr>
          <p:cNvPr id="135451489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85501" y="1954618"/>
            <a:ext cx="5915703" cy="4010065"/>
          </a:xfrm>
          <a:prstGeom prst="rect">
            <a:avLst/>
          </a:prstGeom>
        </p:spPr>
      </p:pic>
      <p:pic>
        <p:nvPicPr>
          <p:cNvPr id="196987894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853397" y="1945371"/>
            <a:ext cx="4943133" cy="4019312"/>
          </a:xfrm>
          <a:prstGeom prst="rect">
            <a:avLst/>
          </a:prstGeom>
        </p:spPr>
      </p:pic>
      <p:sp>
        <p:nvSpPr>
          <p:cNvPr id="794959031" name=""/>
          <p:cNvSpPr/>
          <p:nvPr/>
        </p:nvSpPr>
        <p:spPr bwMode="auto">
          <a:xfrm flipH="0" flipV="0">
            <a:off x="876253" y="6057142"/>
            <a:ext cx="5584085" cy="30515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400" b="1" i="0" u="none">
                <a:solidFill>
                  <a:srgbClr val="000000"/>
                </a:solidFill>
                <a:latin typeface="Gmarket Sans TTF Medium"/>
                <a:ea typeface="Gmarket Sans TTF Medium"/>
                <a:cs typeface="Gmarket Sans TTF Medium"/>
              </a:rPr>
              <a:t>※ 전체 ERD는 첨부된 이미지를 참고해 주시기 바랍니다.</a:t>
            </a:r>
            <a:endParaRPr sz="2000" b="1">
              <a:latin typeface="Gmarket Sans TTF Medium"/>
              <a:cs typeface="Gmarket Sans TTF Medium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/>
      </p:transition>
    </mc:Choice>
    <mc:Fallback>
      <p:transition spd="fast" advClick="1">
        <p:random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72042673" name="Object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73445" y="0"/>
            <a:ext cx="7118555" cy="6874587"/>
          </a:xfrm>
          <a:prstGeom prst="rect">
            <a:avLst/>
          </a:prstGeom>
        </p:spPr>
      </p:pic>
      <p:sp>
        <p:nvSpPr>
          <p:cNvPr id="109737850" name="Group 13"/>
          <p:cNvSpPr txBox="1"/>
          <p:nvPr/>
        </p:nvSpPr>
        <p:spPr bwMode="auto">
          <a:xfrm>
            <a:off x="452196" y="2462908"/>
            <a:ext cx="5253668" cy="17499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ko-KR" sz="6000">
                <a:solidFill>
                  <a:srgbClr val="012481"/>
                </a:solidFill>
                <a:latin typeface="G마켓 산스 TTF Bold"/>
                <a:ea typeface="G마켓 산스 TTF Bold"/>
                <a:cs typeface="G마켓 산스 TTF Bold"/>
              </a:rPr>
              <a:t>구조 및 기능</a:t>
            </a:r>
            <a:endParaRPr sz="6000">
              <a:solidFill>
                <a:srgbClr val="012481"/>
              </a:solidFill>
              <a:latin typeface="G마켓 산스 TTF Bold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endParaRPr sz="1200">
              <a:solidFill>
                <a:schemeClr val="bg1">
                  <a:lumMod val="65000"/>
                </a:schemeClr>
              </a:solidFill>
              <a:latin typeface="G마켓 산스 TTF Bold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3600">
                <a:solidFill>
                  <a:schemeClr val="bg1">
                    <a:lumMod val="65000"/>
                  </a:schemeClr>
                </a:solidFill>
                <a:latin typeface="G마켓 산스 TTF Bold"/>
                <a:ea typeface="G마켓 산스 TTF Bold"/>
                <a:cs typeface="G마켓 산스 TTF Bold"/>
              </a:rPr>
              <a:t>PROJECT</a:t>
            </a:r>
            <a:endParaRPr sz="7200" spc="-150">
              <a:ln w="47625">
                <a:noFill/>
              </a:ln>
              <a:solidFill>
                <a:schemeClr val="bg1">
                  <a:lumMod val="65000"/>
                </a:schemeClr>
              </a:solidFill>
              <a:latin typeface="G마켓 산스 TTF Bold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2800" spc="-150">
                <a:ln w="47625">
                  <a:noFill/>
                </a:ln>
                <a:solidFill>
                  <a:schemeClr val="bg1"/>
                </a:solidFill>
                <a:latin typeface="G마켓 산스 TTF Bold"/>
                <a:ea typeface="G마켓 산스 TTF Bold"/>
                <a:cs typeface="G마켓 산스 TTF Bold"/>
              </a:rPr>
              <a:t>INTR</a:t>
            </a:r>
            <a:endParaRPr sz="7200" spc="-150">
              <a:ln w="47625">
                <a:noFill/>
              </a:ln>
              <a:solidFill>
                <a:schemeClr val="bg1"/>
              </a:solidFill>
              <a:latin typeface="G마켓 산스 TTF Bold"/>
              <a:cs typeface="G마켓 산스 TTF Bold"/>
            </a:endParaRPr>
          </a:p>
        </p:txBody>
      </p:sp>
      <p:cxnSp>
        <p:nvCxnSpPr>
          <p:cNvPr id="1157659674" name="직선 연결선 4"/>
          <p:cNvCxnSpPr/>
          <p:nvPr/>
        </p:nvCxnSpPr>
        <p:spPr bwMode="auto">
          <a:xfrm>
            <a:off x="589644" y="3240019"/>
            <a:ext cx="4339771" cy="0"/>
          </a:xfrm>
          <a:prstGeom prst="line">
            <a:avLst/>
          </a:prstGeom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1506349" name="직선 연결선 5"/>
          <p:cNvCxnSpPr/>
          <p:nvPr/>
        </p:nvCxnSpPr>
        <p:spPr bwMode="auto">
          <a:xfrm>
            <a:off x="576363" y="3267451"/>
            <a:ext cx="1701800" cy="0"/>
          </a:xfrm>
          <a:prstGeom prst="line">
            <a:avLst/>
          </a:prstGeom>
          <a:ln w="38100">
            <a:solidFill>
              <a:srgbClr val="01248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/>
      </p:transition>
    </mc:Choice>
    <mc:Fallback>
      <p:transition spd="fast" advClick="1">
        <p:random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6905523" name="직사각형 5"/>
          <p:cNvSpPr/>
          <p:nvPr/>
        </p:nvSpPr>
        <p:spPr bwMode="auto">
          <a:xfrm>
            <a:off x="0" y="0"/>
            <a:ext cx="495705" cy="6857998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 Light"/>
              <a:ea typeface="Noto Sans KR Light"/>
            </a:endParaRPr>
          </a:p>
        </p:txBody>
      </p:sp>
      <p:sp>
        <p:nvSpPr>
          <p:cNvPr id="1208707629" name="직사각형 2"/>
          <p:cNvSpPr/>
          <p:nvPr/>
        </p:nvSpPr>
        <p:spPr bwMode="auto">
          <a:xfrm>
            <a:off x="749808" y="339584"/>
            <a:ext cx="11046723" cy="681503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"/>
              <a:ea typeface="Noto Sans KR"/>
            </a:endParaRPr>
          </a:p>
        </p:txBody>
      </p:sp>
      <p:cxnSp>
        <p:nvCxnSpPr>
          <p:cNvPr id="385046325" name="직선 연결선 3"/>
          <p:cNvCxnSpPr/>
          <p:nvPr/>
        </p:nvCxnSpPr>
        <p:spPr bwMode="auto">
          <a:xfrm>
            <a:off x="749808" y="339584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6578054" name="직선 연결선 4"/>
          <p:cNvCxnSpPr/>
          <p:nvPr/>
        </p:nvCxnSpPr>
        <p:spPr bwMode="auto">
          <a:xfrm>
            <a:off x="749808" y="1050115"/>
            <a:ext cx="1111844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84376" name="TextBox 73"/>
          <p:cNvSpPr txBox="1"/>
          <p:nvPr/>
        </p:nvSpPr>
        <p:spPr bwMode="auto">
          <a:xfrm>
            <a:off x="749808" y="339583"/>
            <a:ext cx="3257989" cy="701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en-US" sz="4000">
                <a:solidFill>
                  <a:srgbClr val="012481"/>
                </a:solidFill>
                <a:latin typeface="G마켓 산스 TTF Bold"/>
                <a:ea typeface="G마켓 산스 TTF Bold"/>
                <a:cs typeface="G마켓 산스 TTF Bold"/>
              </a:rPr>
              <a:t>프로젝트</a:t>
            </a:r>
            <a:r>
              <a:rPr lang="ko-KR" sz="4000">
                <a:solidFill>
                  <a:srgbClr val="012481"/>
                </a:solidFill>
                <a:latin typeface="G마켓 산스 TTF Bold"/>
                <a:ea typeface="G마켓 산스 TTF Bold"/>
                <a:cs typeface="G마켓 산스 TTF Bold"/>
              </a:rPr>
              <a:t> 구조</a:t>
            </a:r>
            <a:endParaRPr sz="4000">
              <a:solidFill>
                <a:srgbClr val="012481"/>
              </a:solidFill>
              <a:latin typeface="G마켓 산스 TTF Bold"/>
              <a:cs typeface="G마켓 산스 TTF Bold"/>
            </a:endParaRPr>
          </a:p>
        </p:txBody>
      </p:sp>
      <p:graphicFrame>
        <p:nvGraphicFramePr>
          <p:cNvPr id="3424367" name="표 16"/>
          <p:cNvGraphicFramePr>
            <a:graphicFrameLocks xmlns:a="http://schemas.openxmlformats.org/drawingml/2006/main"/>
          </p:cNvGraphicFramePr>
          <p:nvPr/>
        </p:nvGraphicFramePr>
        <p:xfrm rot="0">
          <a:off x="858124" y="2018914"/>
          <a:ext cx="4719887" cy="2352294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3664884"/>
              </a:tblGrid>
              <a:tr h="253440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sz="1000" b="1" spc="-149">
                          <a:solidFill>
                            <a:schemeClr val="bg1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설명</a:t>
                      </a:r>
                      <a:endParaRPr sz="1000" b="1" spc="-149">
                        <a:solidFill>
                          <a:schemeClr val="bg1"/>
                        </a:solidFill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4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4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28575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4" algn="ctr">
                      <a:solidFill>
                        <a:schemeClr val="bg1">
                          <a:lumMod val="85000"/>
                        </a:schemeClr>
                      </a:solidFill>
                    </a:lnB>
                    <a:solidFill>
                      <a:srgbClr val="002060"/>
                    </a:solidFill>
                  </a:tcPr>
                </a:tc>
              </a:tr>
              <a:tr h="1315703">
                <a:tc>
                  <a:txBody>
                    <a:bodyPr/>
                    <a:p>
                      <a:pPr>
                        <a:defRPr/>
                      </a:pP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MVC 기반 계층형 구조 사용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endParaRPr sz="1000">
                        <a:latin typeface="G마켓 산스 TTF Light"/>
                        <a:cs typeface="G마켓 산스 TTF Light"/>
                      </a:endParaRPr>
                    </a:p>
                    <a:p>
                      <a:pPr marL="217793" indent="-217793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Controller, Service, DAO </a:t>
                      </a:r>
                      <a:r>
                        <a:rPr lang="ko-KR"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계층별 역할 분리</a:t>
                      </a:r>
                      <a:endParaRPr sz="1000" b="1">
                        <a:latin typeface="G마켓 산스 TTF Light"/>
                        <a:cs typeface="G마켓 산스 TTF Light"/>
                      </a:endParaRPr>
                    </a:p>
                    <a:p>
                      <a:pPr marL="217793" indent="-217793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lang="ko-KR" sz="1000" b="0">
                          <a:latin typeface="G마켓 산스 TTF Light"/>
                          <a:ea typeface="G마켓 산스 TTF Light"/>
                          <a:cs typeface="G마켓 산스 TTF Light"/>
                        </a:rPr>
                        <a:t>Controller : </a:t>
                      </a:r>
                      <a:r>
                        <a:rPr lang="ko-KR" sz="1000" b="1">
                          <a:latin typeface="G마켓 산스 TTF Light"/>
                          <a:ea typeface="G마켓 산스 TTF Light"/>
                          <a:cs typeface="G마켓 산스 TTF Light"/>
                        </a:rPr>
                        <a:t>요청, 응답 및 화면 이동</a:t>
                      </a:r>
                      <a:r>
                        <a:rPr lang="ko-KR" sz="1000" b="0">
                          <a:latin typeface="G마켓 산스 TTF Light"/>
                          <a:ea typeface="G마켓 산스 TTF Light"/>
                          <a:cs typeface="G마켓 산스 TTF Light"/>
                        </a:rPr>
                        <a:t> 처리</a:t>
                      </a:r>
                      <a:endParaRPr sz="1000" b="0">
                        <a:latin typeface="G마켓 산스 TTF Light"/>
                        <a:cs typeface="G마켓 산스 TTF Light"/>
                      </a:endParaRPr>
                    </a:p>
                    <a:p>
                      <a:pPr marL="217793" indent="-217793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Service : </a:t>
                      </a:r>
                      <a:r>
                        <a:rPr lang="ko-KR"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공통 기능 및 비즈니스 로직</a:t>
                      </a: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처리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  <a:p>
                      <a:pPr marL="217793" indent="-217793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DAO : </a:t>
                      </a:r>
                      <a:r>
                        <a:rPr lang="ko-KR"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DB 처리</a:t>
                      </a:r>
                      <a:endParaRPr sz="1000" b="1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4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4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4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4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826626908" name="그룹 22"/>
          <p:cNvGrpSpPr/>
          <p:nvPr/>
        </p:nvGrpSpPr>
        <p:grpSpPr bwMode="auto">
          <a:xfrm>
            <a:off x="884872" y="1536134"/>
            <a:ext cx="2737811" cy="320855"/>
            <a:chOff x="0" y="0"/>
            <a:chExt cx="2737811" cy="320855"/>
          </a:xfrm>
        </p:grpSpPr>
        <p:cxnSp>
          <p:nvCxnSpPr>
            <p:cNvPr id="133656985" name="Straight Connector 24"/>
            <p:cNvCxnSpPr/>
            <p:nvPr/>
          </p:nvCxnSpPr>
          <p:spPr bwMode="auto">
            <a:xfrm>
              <a:off x="0" y="288414"/>
              <a:ext cx="2140149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19816746" name="Group 65"/>
            <p:cNvSpPr txBox="1"/>
            <p:nvPr/>
          </p:nvSpPr>
          <p:spPr bwMode="auto">
            <a:xfrm>
              <a:off x="271748" y="9599"/>
              <a:ext cx="246606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ko-KR" sz="1200" spc="-148">
                  <a:solidFill>
                    <a:schemeClr val="tx1"/>
                  </a:solidFill>
                  <a:latin typeface="G마켓 산스 TTF Light"/>
                  <a:ea typeface="G마켓 산스 TTF Light"/>
                  <a:cs typeface="G마켓 산스 TTF Light"/>
                </a:rPr>
                <a:t>프로젝트 구조</a:t>
              </a:r>
              <a:endParaRPr sz="1200" spc="-148">
                <a:solidFill>
                  <a:schemeClr val="tx1"/>
                </a:solidFill>
                <a:latin typeface="G마켓 산스 TTF Light"/>
                <a:cs typeface="G마켓 산스 TTF Light"/>
              </a:endParaRPr>
            </a:p>
          </p:txBody>
        </p:sp>
        <p:grpSp>
          <p:nvGrpSpPr>
            <p:cNvPr id="461801869" name="그룹 16"/>
            <p:cNvGrpSpPr/>
            <p:nvPr/>
          </p:nvGrpSpPr>
          <p:grpSpPr bwMode="auto">
            <a:xfrm>
              <a:off x="0" y="0"/>
              <a:ext cx="223230" cy="236936"/>
              <a:chOff x="0" y="0"/>
              <a:chExt cx="223230" cy="236936"/>
            </a:xfrm>
          </p:grpSpPr>
          <p:sp>
            <p:nvSpPr>
              <p:cNvPr id="2076821231" name="Rectangle 21"/>
              <p:cNvSpPr/>
              <p:nvPr/>
            </p:nvSpPr>
            <p:spPr bwMode="auto">
              <a:xfrm>
                <a:off x="0" y="1"/>
                <a:ext cx="121770" cy="236934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2104685080" name="Rectangle 22"/>
              <p:cNvSpPr/>
              <p:nvPr/>
            </p:nvSpPr>
            <p:spPr bwMode="auto">
              <a:xfrm>
                <a:off x="121767" y="0"/>
                <a:ext cx="52941" cy="236934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676317966" name="Rectangle 23"/>
              <p:cNvSpPr/>
              <p:nvPr/>
            </p:nvSpPr>
            <p:spPr bwMode="auto">
              <a:xfrm>
                <a:off x="170289" y="0"/>
                <a:ext cx="52941" cy="236934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/>
      </p:transition>
    </mc:Choice>
    <mc:Fallback>
      <p:transition spd="fast" advClick="1">
        <p:random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2853838" name="직사각형 5"/>
          <p:cNvSpPr/>
          <p:nvPr/>
        </p:nvSpPr>
        <p:spPr bwMode="auto">
          <a:xfrm>
            <a:off x="0" y="0"/>
            <a:ext cx="495704" cy="6857997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 Light"/>
              <a:ea typeface="Noto Sans KR Light"/>
            </a:endParaRPr>
          </a:p>
        </p:txBody>
      </p:sp>
      <p:sp>
        <p:nvSpPr>
          <p:cNvPr id="1976236590" name="직사각형 2"/>
          <p:cNvSpPr/>
          <p:nvPr/>
        </p:nvSpPr>
        <p:spPr bwMode="auto">
          <a:xfrm>
            <a:off x="749808" y="339583"/>
            <a:ext cx="11046723" cy="681502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"/>
              <a:ea typeface="Noto Sans KR"/>
            </a:endParaRPr>
          </a:p>
        </p:txBody>
      </p:sp>
      <p:cxnSp>
        <p:nvCxnSpPr>
          <p:cNvPr id="2055877060" name="직선 연결선 3"/>
          <p:cNvCxnSpPr/>
          <p:nvPr/>
        </p:nvCxnSpPr>
        <p:spPr bwMode="auto">
          <a:xfrm>
            <a:off x="749808" y="339583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8638875" name="직선 연결선 4"/>
          <p:cNvCxnSpPr/>
          <p:nvPr/>
        </p:nvCxnSpPr>
        <p:spPr bwMode="auto">
          <a:xfrm>
            <a:off x="749808" y="1050114"/>
            <a:ext cx="1111844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347287" name="TextBox 73"/>
          <p:cNvSpPr txBox="1"/>
          <p:nvPr/>
        </p:nvSpPr>
        <p:spPr bwMode="auto">
          <a:xfrm>
            <a:off x="749808" y="339583"/>
            <a:ext cx="2280605" cy="7013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en-US" sz="4000">
                <a:solidFill>
                  <a:srgbClr val="012481"/>
                </a:solidFill>
                <a:latin typeface="G마켓 산스 TTF Bold"/>
                <a:ea typeface="G마켓 산스 TTF Bold"/>
                <a:cs typeface="G마켓 산스 TTF Bold"/>
              </a:rPr>
              <a:t>주요</a:t>
            </a:r>
            <a:r>
              <a:rPr lang="ko-KR" sz="4000">
                <a:solidFill>
                  <a:srgbClr val="012481"/>
                </a:solidFill>
                <a:latin typeface="G마켓 산스 TTF Bold"/>
                <a:ea typeface="G마켓 산스 TTF Bold"/>
                <a:cs typeface="G마켓 산스 TTF Bold"/>
              </a:rPr>
              <a:t> 기능</a:t>
            </a:r>
            <a:endParaRPr sz="4000">
              <a:solidFill>
                <a:srgbClr val="012481"/>
              </a:solidFill>
              <a:latin typeface="G마켓 산스 TTF Bold"/>
              <a:cs typeface="G마켓 산스 TTF Bold"/>
            </a:endParaRPr>
          </a:p>
        </p:txBody>
      </p:sp>
      <p:graphicFrame>
        <p:nvGraphicFramePr>
          <p:cNvPr id="1385287390" name="표 16"/>
          <p:cNvGraphicFramePr>
            <a:graphicFrameLocks xmlns:a="http://schemas.openxmlformats.org/drawingml/2006/main"/>
          </p:cNvGraphicFramePr>
          <p:nvPr/>
        </p:nvGraphicFramePr>
        <p:xfrm rot="0">
          <a:off x="858123" y="2018914"/>
          <a:ext cx="4719886" cy="2352294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3664884"/>
              </a:tblGrid>
              <a:tr h="253440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sz="1000" b="1" spc="-149">
                          <a:solidFill>
                            <a:schemeClr val="bg1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설명</a:t>
                      </a:r>
                      <a:endParaRPr sz="1000" b="1" spc="-149">
                        <a:solidFill>
                          <a:schemeClr val="bg1"/>
                        </a:solidFill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4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4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28575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4" algn="ctr">
                      <a:solidFill>
                        <a:schemeClr val="bg1">
                          <a:lumMod val="85000"/>
                        </a:schemeClr>
                      </a:solidFill>
                    </a:lnB>
                    <a:solidFill>
                      <a:srgbClr val="002060"/>
                    </a:solidFill>
                  </a:tcPr>
                </a:tc>
              </a:tr>
              <a:tr h="1315703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권한에 따라 사용자에게 제공되는 메뉴와 기능을 동적으로 구성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endParaRPr sz="1000">
                        <a:latin typeface="G마켓 산스 TTF Light"/>
                        <a:cs typeface="G마켓 산스 TTF Light"/>
                      </a:endParaRPr>
                    </a:p>
                    <a:p>
                      <a:pPr marL="217792" indent="-217792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사용자별 </a:t>
                      </a:r>
                      <a:r>
                        <a:rPr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권한 부여</a:t>
                      </a:r>
                      <a:r>
                        <a:rPr lang="ko-KR"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및</a:t>
                      </a:r>
                      <a:r>
                        <a:rPr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권한별 메뉴 연동</a:t>
                      </a:r>
                      <a:r>
                        <a:rPr lang="ko-KR"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</a:t>
                      </a:r>
                      <a:r>
                        <a:rPr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관리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  <a:p>
                      <a:pPr marL="217792" indent="-217792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로그인 사용자의 권한에 따른</a:t>
                      </a: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</a:t>
                      </a:r>
                      <a:r>
                        <a:rPr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메뉴</a:t>
                      </a:r>
                      <a:r>
                        <a:rPr lang="ko-KR"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동적</a:t>
                      </a:r>
                      <a:r>
                        <a:rPr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구성</a:t>
                      </a:r>
                      <a:endParaRPr sz="1000" b="1">
                        <a:latin typeface="G마켓 산스 TTF Light"/>
                        <a:cs typeface="G마켓 산스 TTF Light"/>
                      </a:endParaRPr>
                    </a:p>
                    <a:p>
                      <a:pPr marL="217792" indent="-217792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권한이 없는 메뉴에 대한 </a:t>
                      </a:r>
                      <a:r>
                        <a:rPr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접근 제한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  <a:p>
                      <a:pPr marL="217792" indent="-217792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사용자 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·</a:t>
                      </a: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권한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·</a:t>
                      </a: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메뉴 간</a:t>
                      </a: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관계</a:t>
                      </a: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</a:t>
                      </a:r>
                      <a:r>
                        <a:rPr lang="ko-KR" sz="1000" b="1">
                          <a:latin typeface="G마켓 산스 TTF Light"/>
                          <a:ea typeface="G마켓 산스 TTF Light"/>
                          <a:cs typeface="G마켓 산스 TTF Light"/>
                        </a:rPr>
                        <a:t>테이블 구조화</a:t>
                      </a:r>
                      <a:endParaRPr sz="1000" b="1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4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4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4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4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54275402" name="그룹 22"/>
          <p:cNvGrpSpPr/>
          <p:nvPr/>
        </p:nvGrpSpPr>
        <p:grpSpPr bwMode="auto">
          <a:xfrm>
            <a:off x="884871" y="1536134"/>
            <a:ext cx="2719451" cy="320855"/>
            <a:chOff x="0" y="0"/>
            <a:chExt cx="2719451" cy="320855"/>
          </a:xfrm>
        </p:grpSpPr>
        <p:cxnSp>
          <p:nvCxnSpPr>
            <p:cNvPr id="512928558" name="Straight Connector 24"/>
            <p:cNvCxnSpPr/>
            <p:nvPr/>
          </p:nvCxnSpPr>
          <p:spPr bwMode="auto">
            <a:xfrm>
              <a:off x="0" y="288414"/>
              <a:ext cx="2140149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98733050" name="Group 65"/>
            <p:cNvSpPr txBox="1"/>
            <p:nvPr/>
          </p:nvSpPr>
          <p:spPr bwMode="auto">
            <a:xfrm>
              <a:off x="271748" y="9599"/>
              <a:ext cx="2447703" cy="3112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ko-KR" sz="1200" spc="-148">
                  <a:solidFill>
                    <a:schemeClr val="tx1"/>
                  </a:solidFill>
                  <a:latin typeface="G마켓 산스 TTF Light"/>
                  <a:ea typeface="G마켓 산스 TTF Light"/>
                  <a:cs typeface="G마켓 산스 TTF Light"/>
                </a:rPr>
                <a:t>권한 관리</a:t>
              </a:r>
              <a:endParaRPr sz="1200" spc="-148">
                <a:solidFill>
                  <a:schemeClr val="tx1"/>
                </a:solidFill>
                <a:latin typeface="G마켓 산스 TTF Light"/>
                <a:cs typeface="G마켓 산스 TTF Light"/>
              </a:endParaRPr>
            </a:p>
          </p:txBody>
        </p:sp>
        <p:grpSp>
          <p:nvGrpSpPr>
            <p:cNvPr id="1048657675" name="그룹 16"/>
            <p:cNvGrpSpPr/>
            <p:nvPr/>
          </p:nvGrpSpPr>
          <p:grpSpPr bwMode="auto">
            <a:xfrm>
              <a:off x="0" y="0"/>
              <a:ext cx="223230" cy="236936"/>
              <a:chOff x="0" y="0"/>
              <a:chExt cx="223230" cy="236936"/>
            </a:xfrm>
          </p:grpSpPr>
          <p:sp>
            <p:nvSpPr>
              <p:cNvPr id="1289240754" name="Rectangle 21"/>
              <p:cNvSpPr/>
              <p:nvPr/>
            </p:nvSpPr>
            <p:spPr bwMode="auto">
              <a:xfrm>
                <a:off x="0" y="1"/>
                <a:ext cx="121770" cy="236934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430782046" name="Rectangle 22"/>
              <p:cNvSpPr/>
              <p:nvPr/>
            </p:nvSpPr>
            <p:spPr bwMode="auto">
              <a:xfrm>
                <a:off x="121767" y="0"/>
                <a:ext cx="52941" cy="236934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1325613714" name="Rectangle 23"/>
              <p:cNvSpPr/>
              <p:nvPr/>
            </p:nvSpPr>
            <p:spPr bwMode="auto">
              <a:xfrm>
                <a:off x="170289" y="0"/>
                <a:ext cx="52941" cy="236934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/>
      </p:transition>
    </mc:Choice>
    <mc:Fallback>
      <p:transition spd="fast" advClick="1">
        <p:random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03344" name="직사각형 5"/>
          <p:cNvSpPr/>
          <p:nvPr/>
        </p:nvSpPr>
        <p:spPr bwMode="auto">
          <a:xfrm>
            <a:off x="0" y="0"/>
            <a:ext cx="495704" cy="6857997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 Light"/>
              <a:ea typeface="Noto Sans KR Light"/>
            </a:endParaRPr>
          </a:p>
        </p:txBody>
      </p:sp>
      <p:sp>
        <p:nvSpPr>
          <p:cNvPr id="1404220860" name="직사각형 2"/>
          <p:cNvSpPr/>
          <p:nvPr/>
        </p:nvSpPr>
        <p:spPr bwMode="auto">
          <a:xfrm>
            <a:off x="749808" y="339583"/>
            <a:ext cx="11046723" cy="681502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"/>
              <a:ea typeface="Noto Sans KR"/>
            </a:endParaRPr>
          </a:p>
        </p:txBody>
      </p:sp>
      <p:cxnSp>
        <p:nvCxnSpPr>
          <p:cNvPr id="1386867336" name="직선 연결선 3"/>
          <p:cNvCxnSpPr/>
          <p:nvPr/>
        </p:nvCxnSpPr>
        <p:spPr bwMode="auto">
          <a:xfrm>
            <a:off x="749808" y="339583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5506699" name="직선 연결선 4"/>
          <p:cNvCxnSpPr/>
          <p:nvPr/>
        </p:nvCxnSpPr>
        <p:spPr bwMode="auto">
          <a:xfrm>
            <a:off x="749808" y="1050114"/>
            <a:ext cx="1111844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7885307" name="TextBox 73"/>
          <p:cNvSpPr txBox="1"/>
          <p:nvPr/>
        </p:nvSpPr>
        <p:spPr bwMode="auto">
          <a:xfrm>
            <a:off x="749808" y="339583"/>
            <a:ext cx="2280606" cy="701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en-US" sz="4000">
                <a:solidFill>
                  <a:srgbClr val="012481"/>
                </a:solidFill>
                <a:latin typeface="G마켓 산스 TTF Bold"/>
                <a:ea typeface="G마켓 산스 TTF Bold"/>
                <a:cs typeface="G마켓 산스 TTF Bold"/>
              </a:rPr>
              <a:t>주요</a:t>
            </a:r>
            <a:r>
              <a:rPr lang="ko-KR" sz="4000">
                <a:solidFill>
                  <a:srgbClr val="012481"/>
                </a:solidFill>
                <a:latin typeface="G마켓 산스 TTF Bold"/>
                <a:ea typeface="G마켓 산스 TTF Bold"/>
                <a:cs typeface="G마켓 산스 TTF Bold"/>
              </a:rPr>
              <a:t> 기능</a:t>
            </a:r>
            <a:endParaRPr sz="4000">
              <a:solidFill>
                <a:srgbClr val="012481"/>
              </a:solidFill>
              <a:latin typeface="G마켓 산스 TTF Bold"/>
              <a:cs typeface="G마켓 산스 TTF Bold"/>
            </a:endParaRPr>
          </a:p>
        </p:txBody>
      </p:sp>
      <p:graphicFrame>
        <p:nvGraphicFramePr>
          <p:cNvPr id="1194379492" name="표 16"/>
          <p:cNvGraphicFramePr>
            <a:graphicFrameLocks xmlns:a="http://schemas.openxmlformats.org/drawingml/2006/main"/>
          </p:cNvGraphicFramePr>
          <p:nvPr/>
        </p:nvGraphicFramePr>
        <p:xfrm rot="0">
          <a:off x="858123" y="2018914"/>
          <a:ext cx="4719886" cy="2352294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3664884"/>
              </a:tblGrid>
              <a:tr h="253440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sz="1000" b="1" spc="-149">
                          <a:solidFill>
                            <a:schemeClr val="bg1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설명</a:t>
                      </a:r>
                      <a:endParaRPr sz="1000" b="1" spc="-149">
                        <a:solidFill>
                          <a:schemeClr val="bg1"/>
                        </a:solidFill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4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4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28575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4" algn="ctr">
                      <a:solidFill>
                        <a:schemeClr val="bg1">
                          <a:lumMod val="85000"/>
                        </a:schemeClr>
                      </a:solidFill>
                    </a:lnB>
                    <a:solidFill>
                      <a:srgbClr val="002060"/>
                    </a:solidFill>
                  </a:tcPr>
                </a:tc>
              </a:tr>
              <a:tr h="1315703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결재 유형에 따라 화면</a:t>
                      </a: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과 입력</a:t>
                      </a: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항목</a:t>
                      </a: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을 동적으로 구성</a:t>
                      </a:r>
                      <a:endParaRPr sz="1000" b="0" i="0" u="none">
                        <a:solidFill>
                          <a:srgbClr val="000000"/>
                        </a:solidFill>
                        <a:latin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endParaRPr sz="1000">
                        <a:latin typeface="G마켓 산스 TTF Light"/>
                        <a:cs typeface="G마켓 산스 TTF Light"/>
                      </a:endParaRPr>
                    </a:p>
                    <a:p>
                      <a:pPr marL="217793" indent="-217793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결재 유형별 </a:t>
                      </a:r>
                      <a:r>
                        <a:rPr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기안문 템플릿 관리</a:t>
                      </a:r>
                      <a:endParaRPr sz="1000" b="0">
                        <a:latin typeface="G마켓 산스 TTF Light"/>
                        <a:cs typeface="G마켓 산스 TTF Light"/>
                      </a:endParaRPr>
                    </a:p>
                    <a:p>
                      <a:pPr marL="217793" indent="-217793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결재 유형에 따라 </a:t>
                      </a:r>
                      <a:r>
                        <a:rPr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입력 항목 및 기안 화면 동적 구성</a:t>
                      </a:r>
                      <a:endParaRPr sz="1000" b="0">
                        <a:latin typeface="G마켓 산스 TTF Light"/>
                        <a:cs typeface="G마켓 산스 TTF Light"/>
                      </a:endParaRPr>
                    </a:p>
                    <a:p>
                      <a:pPr marL="217793" indent="-217793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결재 유형에 맞는 </a:t>
                      </a:r>
                      <a:r>
                        <a:rPr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에디터 템플릿 자동 적용</a:t>
                      </a:r>
                      <a:endParaRPr sz="1000" b="1">
                        <a:latin typeface="G마켓 산스 TTF Light"/>
                        <a:cs typeface="G마켓 산스 TTF Light"/>
                      </a:endParaRPr>
                    </a:p>
                    <a:p>
                      <a:pPr marL="217793" indent="-217793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lang="ko-KR" sz="1000" b="0">
                          <a:latin typeface="G마켓 산스 TTF Light"/>
                          <a:ea typeface="G마켓 산스 TTF Light"/>
                          <a:cs typeface="G마켓 산스 TTF Light"/>
                        </a:rPr>
                        <a:t>사용자별 </a:t>
                      </a:r>
                      <a:r>
                        <a:rPr lang="ko-KR" sz="1000" b="1">
                          <a:latin typeface="G마켓 산스 TTF Light"/>
                          <a:ea typeface="G마켓 산스 TTF Light"/>
                          <a:cs typeface="G마켓 산스 TTF Light"/>
                        </a:rPr>
                        <a:t>결재선 선택 및 관리</a:t>
                      </a:r>
                      <a:endParaRPr sz="1000" b="0">
                        <a:latin typeface="G마켓 산스 TTF Light"/>
                        <a:cs typeface="G마켓 산스 TTF Light"/>
                      </a:endParaRPr>
                    </a:p>
                    <a:p>
                      <a:pPr marL="217793" indent="-217793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결재 진행 상태 및 결재 이력 관리</a:t>
                      </a:r>
                      <a:endParaRPr sz="1000" b="1">
                        <a:latin typeface="G마켓 산스 TTF Light"/>
                        <a:cs typeface="G마켓 산스 TTF Light"/>
                      </a:endParaRPr>
                    </a:p>
                    <a:p>
                      <a:pPr marL="217793" indent="-217793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휴가, 가지급, 반출입, 정산내역 등 </a:t>
                      </a:r>
                      <a:r>
                        <a:rPr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업무별 결재 유형 구현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4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4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4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4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1850114497" name="그룹 22"/>
          <p:cNvGrpSpPr/>
          <p:nvPr/>
        </p:nvGrpSpPr>
        <p:grpSpPr bwMode="auto">
          <a:xfrm>
            <a:off x="884871" y="1536134"/>
            <a:ext cx="2733491" cy="320855"/>
            <a:chOff x="0" y="0"/>
            <a:chExt cx="2733491" cy="320855"/>
          </a:xfrm>
        </p:grpSpPr>
        <p:cxnSp>
          <p:nvCxnSpPr>
            <p:cNvPr id="1568466042" name="Straight Connector 24"/>
            <p:cNvCxnSpPr/>
            <p:nvPr/>
          </p:nvCxnSpPr>
          <p:spPr bwMode="auto">
            <a:xfrm>
              <a:off x="0" y="288414"/>
              <a:ext cx="2140149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4854471" name="Group 65"/>
            <p:cNvSpPr txBox="1"/>
            <p:nvPr/>
          </p:nvSpPr>
          <p:spPr bwMode="auto">
            <a:xfrm>
              <a:off x="271748" y="9599"/>
              <a:ext cx="246174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ko-KR" sz="1200" spc="-148">
                  <a:solidFill>
                    <a:schemeClr val="tx1"/>
                  </a:solidFill>
                  <a:latin typeface="G마켓 산스 TTF Light"/>
                  <a:ea typeface="G마켓 산스 TTF Light"/>
                  <a:cs typeface="G마켓 산스 TTF Light"/>
                </a:rPr>
                <a:t>전자 결재</a:t>
              </a:r>
              <a:endParaRPr sz="1200" spc="-148">
                <a:solidFill>
                  <a:schemeClr val="tx1"/>
                </a:solidFill>
                <a:latin typeface="G마켓 산스 TTF Light"/>
                <a:cs typeface="G마켓 산스 TTF Light"/>
              </a:endParaRPr>
            </a:p>
          </p:txBody>
        </p:sp>
        <p:grpSp>
          <p:nvGrpSpPr>
            <p:cNvPr id="382467541" name="그룹 16"/>
            <p:cNvGrpSpPr/>
            <p:nvPr/>
          </p:nvGrpSpPr>
          <p:grpSpPr bwMode="auto">
            <a:xfrm>
              <a:off x="0" y="0"/>
              <a:ext cx="223230" cy="236936"/>
              <a:chOff x="0" y="0"/>
              <a:chExt cx="223230" cy="236936"/>
            </a:xfrm>
          </p:grpSpPr>
          <p:sp>
            <p:nvSpPr>
              <p:cNvPr id="2004971139" name="Rectangle 21"/>
              <p:cNvSpPr/>
              <p:nvPr/>
            </p:nvSpPr>
            <p:spPr bwMode="auto">
              <a:xfrm>
                <a:off x="0" y="1"/>
                <a:ext cx="121770" cy="236934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1105014385" name="Rectangle 22"/>
              <p:cNvSpPr/>
              <p:nvPr/>
            </p:nvSpPr>
            <p:spPr bwMode="auto">
              <a:xfrm>
                <a:off x="121767" y="0"/>
                <a:ext cx="52941" cy="236934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803608091" name="Rectangle 23"/>
              <p:cNvSpPr/>
              <p:nvPr/>
            </p:nvSpPr>
            <p:spPr bwMode="auto">
              <a:xfrm>
                <a:off x="170289" y="0"/>
                <a:ext cx="52941" cy="236934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/>
      </p:transition>
    </mc:Choice>
    <mc:Fallback>
      <p:transition spd="fast" advClick="1">
        <p:random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245317" name="직사각형 5"/>
          <p:cNvSpPr/>
          <p:nvPr/>
        </p:nvSpPr>
        <p:spPr bwMode="auto">
          <a:xfrm>
            <a:off x="0" y="0"/>
            <a:ext cx="495704" cy="6857997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 Light"/>
              <a:ea typeface="Noto Sans KR Light"/>
            </a:endParaRPr>
          </a:p>
        </p:txBody>
      </p:sp>
      <p:sp>
        <p:nvSpPr>
          <p:cNvPr id="20826649" name="직사각형 2"/>
          <p:cNvSpPr/>
          <p:nvPr/>
        </p:nvSpPr>
        <p:spPr bwMode="auto">
          <a:xfrm>
            <a:off x="749808" y="339583"/>
            <a:ext cx="11046723" cy="681502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"/>
              <a:ea typeface="Noto Sans KR"/>
            </a:endParaRPr>
          </a:p>
        </p:txBody>
      </p:sp>
      <p:cxnSp>
        <p:nvCxnSpPr>
          <p:cNvPr id="392594047" name="직선 연결선 3"/>
          <p:cNvCxnSpPr/>
          <p:nvPr/>
        </p:nvCxnSpPr>
        <p:spPr bwMode="auto">
          <a:xfrm>
            <a:off x="749808" y="339583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4230550" name="직선 연결선 4"/>
          <p:cNvCxnSpPr/>
          <p:nvPr/>
        </p:nvCxnSpPr>
        <p:spPr bwMode="auto">
          <a:xfrm>
            <a:off x="749808" y="1050114"/>
            <a:ext cx="1111844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5012274" name="TextBox 73"/>
          <p:cNvSpPr txBox="1"/>
          <p:nvPr/>
        </p:nvSpPr>
        <p:spPr bwMode="auto">
          <a:xfrm>
            <a:off x="749808" y="339583"/>
            <a:ext cx="2280605" cy="7013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en-US" sz="4000">
                <a:solidFill>
                  <a:srgbClr val="012481"/>
                </a:solidFill>
                <a:latin typeface="G마켓 산스 TTF Bold"/>
                <a:ea typeface="G마켓 산스 TTF Bold"/>
                <a:cs typeface="G마켓 산스 TTF Bold"/>
              </a:rPr>
              <a:t>주요</a:t>
            </a:r>
            <a:r>
              <a:rPr lang="ko-KR" sz="4000">
                <a:solidFill>
                  <a:srgbClr val="012481"/>
                </a:solidFill>
                <a:latin typeface="G마켓 산스 TTF Bold"/>
                <a:ea typeface="G마켓 산스 TTF Bold"/>
                <a:cs typeface="G마켓 산스 TTF Bold"/>
              </a:rPr>
              <a:t> 기능</a:t>
            </a:r>
            <a:endParaRPr sz="4000">
              <a:solidFill>
                <a:srgbClr val="012481"/>
              </a:solidFill>
              <a:latin typeface="G마켓 산스 TTF Bold"/>
              <a:cs typeface="G마켓 산스 TTF Bold"/>
            </a:endParaRPr>
          </a:p>
        </p:txBody>
      </p:sp>
      <p:graphicFrame>
        <p:nvGraphicFramePr>
          <p:cNvPr id="165594950" name="표 16"/>
          <p:cNvGraphicFramePr>
            <a:graphicFrameLocks xmlns:a="http://schemas.openxmlformats.org/drawingml/2006/main"/>
          </p:cNvGraphicFramePr>
          <p:nvPr/>
        </p:nvGraphicFramePr>
        <p:xfrm rot="0">
          <a:off x="858123" y="2018914"/>
          <a:ext cx="4719886" cy="2352294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3664884"/>
              </a:tblGrid>
              <a:tr h="253440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sz="1000" b="1" spc="-149">
                          <a:solidFill>
                            <a:schemeClr val="bg1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설명</a:t>
                      </a:r>
                      <a:endParaRPr sz="1000" b="1" spc="-149">
                        <a:solidFill>
                          <a:schemeClr val="bg1"/>
                        </a:solidFill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4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4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28575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4" algn="ctr">
                      <a:solidFill>
                        <a:schemeClr val="bg1">
                          <a:lumMod val="85000"/>
                        </a:schemeClr>
                      </a:solidFill>
                    </a:lnB>
                    <a:solidFill>
                      <a:srgbClr val="002060"/>
                    </a:solidFill>
                  </a:tcPr>
                </a:tc>
              </a:tr>
              <a:tr h="1315703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isRequired</a:t>
                      </a: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속성을 기준으로 필수 입력 항목을 자동 검증</a:t>
                      </a:r>
                      <a:endParaRPr sz="1000" b="0" i="0" u="none">
                        <a:solidFill>
                          <a:srgbClr val="000000"/>
                        </a:solidFill>
                        <a:latin typeface="G마켓 산스 TTF Light"/>
                        <a:ea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endParaRPr sz="1000">
                        <a:latin typeface="G마켓 산스 TTF Light"/>
                        <a:cs typeface="G마켓 산스 TTF Light"/>
                      </a:endParaRPr>
                    </a:p>
                    <a:p>
                      <a:pPr marL="195764" indent="-195764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입력 요소</a:t>
                      </a: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(</a:t>
                      </a:r>
                      <a:r>
                        <a:rPr lang="ko-KR" sz="1000" b="0" i="0" u="none" strike="noStrike" cap="none" spc="0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i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nput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,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textarea</a:t>
                      </a: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)</a:t>
                      </a: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에 대한 </a:t>
                      </a:r>
                      <a:r>
                        <a:rPr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필수값 검증 공통화 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  <a:p>
                      <a:pPr marL="195764" indent="-195764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title</a:t>
                      </a: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속성을 활용하여 </a:t>
                      </a:r>
                      <a:r>
                        <a:rPr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항목별 안내 메시지 동적 처리</a:t>
                      </a: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  <a:p>
                      <a:pPr marL="195764" indent="-195764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검증 실패 시 </a:t>
                      </a:r>
                      <a:r>
                        <a:rPr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해당 입력 항목으로 자동 포커스 이동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  <a:p>
                      <a:pPr marL="195764" indent="-195764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각 업무 화면에서 </a:t>
                      </a:r>
                      <a:r>
                        <a:rPr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동일한 검증 함수 재사용</a:t>
                      </a:r>
                      <a:endParaRPr sz="1000" b="1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4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4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4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4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2105531162" name="그룹 22"/>
          <p:cNvGrpSpPr/>
          <p:nvPr/>
        </p:nvGrpSpPr>
        <p:grpSpPr bwMode="auto">
          <a:xfrm>
            <a:off x="884871" y="1536134"/>
            <a:ext cx="2765171" cy="320855"/>
            <a:chOff x="0" y="0"/>
            <a:chExt cx="2765171" cy="320855"/>
          </a:xfrm>
        </p:grpSpPr>
        <p:cxnSp>
          <p:nvCxnSpPr>
            <p:cNvPr id="308002381" name="Straight Connector 24"/>
            <p:cNvCxnSpPr/>
            <p:nvPr/>
          </p:nvCxnSpPr>
          <p:spPr bwMode="auto">
            <a:xfrm>
              <a:off x="0" y="288414"/>
              <a:ext cx="2140149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84260932" name="Group 65"/>
            <p:cNvSpPr txBox="1"/>
            <p:nvPr/>
          </p:nvSpPr>
          <p:spPr bwMode="auto">
            <a:xfrm>
              <a:off x="271748" y="9599"/>
              <a:ext cx="249342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ko-KR" sz="1200" spc="-148">
                  <a:solidFill>
                    <a:schemeClr val="tx1"/>
                  </a:solidFill>
                  <a:latin typeface="G마켓 산스 TTF Light"/>
                  <a:ea typeface="G마켓 산스 TTF Light"/>
                  <a:cs typeface="G마켓 산스 TTF Light"/>
                </a:rPr>
                <a:t>공통 기능 (유효성 검증)</a:t>
              </a:r>
              <a:endParaRPr sz="1200" spc="-148">
                <a:solidFill>
                  <a:schemeClr val="tx1"/>
                </a:solidFill>
                <a:latin typeface="G마켓 산스 TTF Light"/>
                <a:cs typeface="G마켓 산스 TTF Light"/>
              </a:endParaRPr>
            </a:p>
          </p:txBody>
        </p:sp>
        <p:grpSp>
          <p:nvGrpSpPr>
            <p:cNvPr id="1221683513" name="그룹 16"/>
            <p:cNvGrpSpPr/>
            <p:nvPr/>
          </p:nvGrpSpPr>
          <p:grpSpPr bwMode="auto">
            <a:xfrm>
              <a:off x="0" y="0"/>
              <a:ext cx="223230" cy="236936"/>
              <a:chOff x="0" y="0"/>
              <a:chExt cx="223230" cy="236936"/>
            </a:xfrm>
          </p:grpSpPr>
          <p:sp>
            <p:nvSpPr>
              <p:cNvPr id="1995331146" name="Rectangle 21"/>
              <p:cNvSpPr/>
              <p:nvPr/>
            </p:nvSpPr>
            <p:spPr bwMode="auto">
              <a:xfrm>
                <a:off x="0" y="1"/>
                <a:ext cx="121770" cy="236934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423928806" name="Rectangle 22"/>
              <p:cNvSpPr/>
              <p:nvPr/>
            </p:nvSpPr>
            <p:spPr bwMode="auto">
              <a:xfrm>
                <a:off x="121767" y="0"/>
                <a:ext cx="52941" cy="236934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199167830" name="Rectangle 23"/>
              <p:cNvSpPr/>
              <p:nvPr/>
            </p:nvSpPr>
            <p:spPr bwMode="auto">
              <a:xfrm>
                <a:off x="170289" y="0"/>
                <a:ext cx="52941" cy="236934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/>
      </p:transition>
    </mc:Choice>
    <mc:Fallback>
      <p:transition spd="fast" advClick="1">
        <p:random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464221" name="직사각형 5"/>
          <p:cNvSpPr/>
          <p:nvPr/>
        </p:nvSpPr>
        <p:spPr bwMode="auto">
          <a:xfrm>
            <a:off x="0" y="0"/>
            <a:ext cx="495704" cy="6857997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 Light"/>
              <a:ea typeface="Noto Sans KR Light"/>
            </a:endParaRPr>
          </a:p>
        </p:txBody>
      </p:sp>
      <p:sp>
        <p:nvSpPr>
          <p:cNvPr id="794279486" name="직사각형 2"/>
          <p:cNvSpPr/>
          <p:nvPr/>
        </p:nvSpPr>
        <p:spPr bwMode="auto">
          <a:xfrm>
            <a:off x="749808" y="339583"/>
            <a:ext cx="11046723" cy="681502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"/>
              <a:ea typeface="Noto Sans KR"/>
            </a:endParaRPr>
          </a:p>
        </p:txBody>
      </p:sp>
      <p:cxnSp>
        <p:nvCxnSpPr>
          <p:cNvPr id="721803854" name="직선 연결선 3"/>
          <p:cNvCxnSpPr/>
          <p:nvPr/>
        </p:nvCxnSpPr>
        <p:spPr bwMode="auto">
          <a:xfrm>
            <a:off x="749808" y="339583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7594490" name="직선 연결선 4"/>
          <p:cNvCxnSpPr/>
          <p:nvPr/>
        </p:nvCxnSpPr>
        <p:spPr bwMode="auto">
          <a:xfrm>
            <a:off x="749808" y="1050114"/>
            <a:ext cx="1111844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3922160" name="TextBox 73"/>
          <p:cNvSpPr txBox="1"/>
          <p:nvPr/>
        </p:nvSpPr>
        <p:spPr bwMode="auto">
          <a:xfrm>
            <a:off x="749808" y="339583"/>
            <a:ext cx="2280605" cy="7013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en-US" sz="4000">
                <a:solidFill>
                  <a:srgbClr val="012481"/>
                </a:solidFill>
                <a:latin typeface="G마켓 산스 TTF Bold"/>
                <a:ea typeface="G마켓 산스 TTF Bold"/>
                <a:cs typeface="G마켓 산스 TTF Bold"/>
              </a:rPr>
              <a:t>주요</a:t>
            </a:r>
            <a:r>
              <a:rPr lang="ko-KR" sz="4000">
                <a:solidFill>
                  <a:srgbClr val="012481"/>
                </a:solidFill>
                <a:latin typeface="G마켓 산스 TTF Bold"/>
                <a:ea typeface="G마켓 산스 TTF Bold"/>
                <a:cs typeface="G마켓 산스 TTF Bold"/>
              </a:rPr>
              <a:t> 기능</a:t>
            </a:r>
            <a:endParaRPr sz="4000">
              <a:solidFill>
                <a:srgbClr val="012481"/>
              </a:solidFill>
              <a:latin typeface="G마켓 산스 TTF Bold"/>
              <a:cs typeface="G마켓 산스 TTF Bold"/>
            </a:endParaRPr>
          </a:p>
        </p:txBody>
      </p:sp>
      <p:graphicFrame>
        <p:nvGraphicFramePr>
          <p:cNvPr id="44760961" name="표 16"/>
          <p:cNvGraphicFramePr>
            <a:graphicFrameLocks xmlns:a="http://schemas.openxmlformats.org/drawingml/2006/main"/>
          </p:cNvGraphicFramePr>
          <p:nvPr/>
        </p:nvGraphicFramePr>
        <p:xfrm rot="0">
          <a:off x="858123" y="2018914"/>
          <a:ext cx="4719886" cy="2352294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3664884"/>
              </a:tblGrid>
              <a:tr h="253440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sz="1000" b="1" spc="-149">
                          <a:solidFill>
                            <a:schemeClr val="bg1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설명</a:t>
                      </a:r>
                      <a:endParaRPr sz="1000" b="1" spc="-149">
                        <a:solidFill>
                          <a:schemeClr val="bg1"/>
                        </a:solidFill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4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4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28575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4" algn="ctr">
                      <a:solidFill>
                        <a:schemeClr val="bg1">
                          <a:lumMod val="85000"/>
                        </a:schemeClr>
                      </a:solidFill>
                    </a:lnB>
                    <a:solidFill>
                      <a:srgbClr val="002060"/>
                    </a:solidFill>
                  </a:tcPr>
                </a:tc>
              </a:tr>
              <a:tr h="1315703">
                <a:tc>
                  <a:txBody>
                    <a:bodyPr/>
                    <a:p>
                      <a:pPr>
                        <a:defRPr/>
                      </a:pP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AJAX 기반 공통 모달 처리</a:t>
                      </a:r>
                      <a:endParaRPr sz="1000" b="0" i="0" u="none">
                        <a:solidFill>
                          <a:srgbClr val="000000"/>
                        </a:solidFill>
                        <a:latin typeface="G마켓 산스 TTF Light"/>
                        <a:ea typeface="G마켓 산스 TTF Light"/>
                        <a:cs typeface="G마켓 산스 TTF Light"/>
                      </a:endParaRPr>
                    </a:p>
                    <a:p>
                      <a:pPr>
                        <a:defRPr/>
                      </a:pPr>
                      <a:endParaRPr sz="1000">
                        <a:latin typeface="G마켓 산스 TTF Light"/>
                        <a:cs typeface="G마켓 산스 TTF Light"/>
                      </a:endParaRPr>
                    </a:p>
                    <a:p>
                      <a:pPr marL="195763" indent="-195763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AJAX 기반의 </a:t>
                      </a:r>
                      <a:r>
                        <a:rPr lang="ko-KR"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공통 팝업 호출 구조</a:t>
                      </a: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구현</a:t>
                      </a:r>
                      <a:r>
                        <a:rPr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  <a:p>
                      <a:pPr marL="195763" indent="-195763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팝업</a:t>
                      </a: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URL 크기, 영역 등의 </a:t>
                      </a:r>
                      <a:r>
                        <a:rPr lang="ko-KR"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설정 값 객체 관리</a:t>
                      </a: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</a:t>
                      </a:r>
                      <a:endParaRPr sz="1000">
                        <a:latin typeface="G마켓 산스 TTF Light"/>
                        <a:cs typeface="G마켓 산스 TTF Light"/>
                      </a:endParaRPr>
                    </a:p>
                    <a:p>
                      <a:pPr marL="195763" indent="-195763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응답 결과(Html)를 팝업 영역 내 </a:t>
                      </a:r>
                      <a:r>
                        <a:rPr lang="ko-KR"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동적 출력 </a:t>
                      </a: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처리</a:t>
                      </a:r>
                      <a:endParaRPr lang="ko-KR" sz="1000" b="0" i="0" u="none">
                        <a:solidFill>
                          <a:srgbClr val="000000"/>
                        </a:solidFill>
                        <a:latin typeface="G마켓 산스 TTF Light"/>
                        <a:ea typeface="G마켓 산스 TTF Light"/>
                        <a:cs typeface="G마켓 산스 TTF Light"/>
                      </a:endParaRPr>
                    </a:p>
                    <a:p>
                      <a:pPr marL="195763" indent="-195763">
                        <a:lnSpc>
                          <a:spcPct val="150000"/>
                        </a:lnSpc>
                        <a:buFont typeface="Arial"/>
                        <a:buChar char="•"/>
                        <a:defRPr/>
                      </a:pPr>
                      <a:r>
                        <a:rPr lang="ko-KR" sz="1000" b="1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Overlay 처리</a:t>
                      </a: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TTF Light"/>
                          <a:ea typeface="G마켓 산스 TTF Light"/>
                          <a:cs typeface="G마켓 산스 TTF Light"/>
                        </a:rPr>
                        <a:t> 및 화면 스크롤 제어</a:t>
                      </a:r>
                      <a:endParaRPr sz="1000" b="0">
                        <a:latin typeface="G마켓 산스 TTF Light"/>
                        <a:cs typeface="G마켓 산스 TTF Light"/>
                      </a:endParaRPr>
                    </a:p>
                  </a:txBody>
                  <a:tcPr anchor="ctr">
                    <a:lnL w="9524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4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4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4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185043195" name="그룹 22"/>
          <p:cNvGrpSpPr/>
          <p:nvPr/>
        </p:nvGrpSpPr>
        <p:grpSpPr bwMode="auto">
          <a:xfrm>
            <a:off x="884871" y="1536134"/>
            <a:ext cx="2792531" cy="320855"/>
            <a:chOff x="0" y="0"/>
            <a:chExt cx="2792531" cy="320855"/>
          </a:xfrm>
        </p:grpSpPr>
        <p:cxnSp>
          <p:nvCxnSpPr>
            <p:cNvPr id="464152943" name="Straight Connector 24"/>
            <p:cNvCxnSpPr/>
            <p:nvPr/>
          </p:nvCxnSpPr>
          <p:spPr bwMode="auto">
            <a:xfrm>
              <a:off x="0" y="288414"/>
              <a:ext cx="2140149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10440090" name="Group 65"/>
            <p:cNvSpPr txBox="1"/>
            <p:nvPr/>
          </p:nvSpPr>
          <p:spPr bwMode="auto">
            <a:xfrm>
              <a:off x="271748" y="9599"/>
              <a:ext cx="252078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ko-KR" sz="1200" spc="-148">
                  <a:solidFill>
                    <a:schemeClr val="tx1"/>
                  </a:solidFill>
                  <a:latin typeface="G마켓 산스 TTF Light"/>
                  <a:ea typeface="G마켓 산스 TTF Light"/>
                  <a:cs typeface="G마켓 산스 TTF Light"/>
                </a:rPr>
                <a:t>공통 기능 (모달)</a:t>
              </a:r>
              <a:endParaRPr sz="1200" spc="-148">
                <a:solidFill>
                  <a:schemeClr val="tx1"/>
                </a:solidFill>
                <a:latin typeface="G마켓 산스 TTF Light"/>
                <a:cs typeface="G마켓 산스 TTF Light"/>
              </a:endParaRPr>
            </a:p>
          </p:txBody>
        </p:sp>
        <p:grpSp>
          <p:nvGrpSpPr>
            <p:cNvPr id="1106769980" name="그룹 16"/>
            <p:cNvGrpSpPr/>
            <p:nvPr/>
          </p:nvGrpSpPr>
          <p:grpSpPr bwMode="auto">
            <a:xfrm>
              <a:off x="0" y="0"/>
              <a:ext cx="223230" cy="236936"/>
              <a:chOff x="0" y="0"/>
              <a:chExt cx="223230" cy="236936"/>
            </a:xfrm>
          </p:grpSpPr>
          <p:sp>
            <p:nvSpPr>
              <p:cNvPr id="909247969" name="Rectangle 21"/>
              <p:cNvSpPr/>
              <p:nvPr/>
            </p:nvSpPr>
            <p:spPr bwMode="auto">
              <a:xfrm>
                <a:off x="0" y="1"/>
                <a:ext cx="121770" cy="236934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899378167" name="Rectangle 22"/>
              <p:cNvSpPr/>
              <p:nvPr/>
            </p:nvSpPr>
            <p:spPr bwMode="auto">
              <a:xfrm>
                <a:off x="121767" y="0"/>
                <a:ext cx="52941" cy="236934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565551502" name="Rectangle 23"/>
              <p:cNvSpPr/>
              <p:nvPr/>
            </p:nvSpPr>
            <p:spPr bwMode="auto">
              <a:xfrm>
                <a:off x="170289" y="0"/>
                <a:ext cx="52941" cy="236934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/>
      </p:transition>
    </mc:Choice>
    <mc:Fallback>
      <p:transition spd="fast" advClick="1">
        <p:random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56539802" name="Object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73445" y="0"/>
            <a:ext cx="7118555" cy="6874587"/>
          </a:xfrm>
          <a:prstGeom prst="rect">
            <a:avLst/>
          </a:prstGeom>
        </p:spPr>
      </p:pic>
      <p:sp>
        <p:nvSpPr>
          <p:cNvPr id="1070339546" name="Group 13"/>
          <p:cNvSpPr txBox="1"/>
          <p:nvPr/>
        </p:nvSpPr>
        <p:spPr bwMode="auto">
          <a:xfrm>
            <a:off x="452196" y="2462908"/>
            <a:ext cx="5269147" cy="17499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sz="6000">
                <a:solidFill>
                  <a:srgbClr val="012481"/>
                </a:solidFill>
                <a:latin typeface="G마켓 산스 TTF Bold"/>
                <a:cs typeface="G마켓 산스 TTF Bold"/>
              </a:rPr>
              <a:t>주요</a:t>
            </a:r>
            <a:r>
              <a:rPr lang="ko-KR" sz="6000">
                <a:solidFill>
                  <a:srgbClr val="012481"/>
                </a:solidFill>
                <a:latin typeface="G마켓 산스 TTF Bold"/>
                <a:cs typeface="G마켓 산스 TTF Bold"/>
              </a:rPr>
              <a:t> 화면</a:t>
            </a:r>
            <a:endParaRPr sz="6000">
              <a:solidFill>
                <a:srgbClr val="012481"/>
              </a:solidFill>
              <a:latin typeface="G마켓 산스 TTF Bold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endParaRPr sz="1200">
              <a:solidFill>
                <a:schemeClr val="bg1">
                  <a:lumMod val="65000"/>
                </a:schemeClr>
              </a:solidFill>
              <a:latin typeface="G마켓 산스 TTF Bold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3600">
                <a:solidFill>
                  <a:schemeClr val="bg1">
                    <a:lumMod val="65000"/>
                  </a:schemeClr>
                </a:solidFill>
                <a:latin typeface="G마켓 산스 TTF Bold"/>
                <a:ea typeface="G마켓 산스 TTF Bold"/>
                <a:cs typeface="G마켓 산스 TTF Bold"/>
              </a:rPr>
              <a:t>PROJECT</a:t>
            </a:r>
            <a:endParaRPr sz="7200" spc="-149">
              <a:ln w="47625">
                <a:noFill/>
              </a:ln>
              <a:solidFill>
                <a:schemeClr val="bg1">
                  <a:lumMod val="65000"/>
                </a:schemeClr>
              </a:solidFill>
              <a:latin typeface="G마켓 산스 TTF Bold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2800" spc="-149">
                <a:ln w="47625">
                  <a:noFill/>
                </a:ln>
                <a:solidFill>
                  <a:schemeClr val="bg1"/>
                </a:solidFill>
                <a:latin typeface="G마켓 산스 TTF Bold"/>
                <a:ea typeface="G마켓 산스 TTF Bold"/>
                <a:cs typeface="G마켓 산스 TTF Bold"/>
              </a:rPr>
              <a:t>INTR</a:t>
            </a:r>
            <a:endParaRPr sz="7200" spc="-149">
              <a:ln w="47625">
                <a:noFill/>
              </a:ln>
              <a:solidFill>
                <a:schemeClr val="bg1"/>
              </a:solidFill>
              <a:latin typeface="G마켓 산스 TTF Bold"/>
              <a:cs typeface="G마켓 산스 TTF Bold"/>
            </a:endParaRPr>
          </a:p>
        </p:txBody>
      </p:sp>
      <p:cxnSp>
        <p:nvCxnSpPr>
          <p:cNvPr id="547343394" name="직선 연결선 4"/>
          <p:cNvCxnSpPr/>
          <p:nvPr/>
        </p:nvCxnSpPr>
        <p:spPr bwMode="auto">
          <a:xfrm>
            <a:off x="589644" y="3240018"/>
            <a:ext cx="4339770" cy="0"/>
          </a:xfrm>
          <a:prstGeom prst="line">
            <a:avLst/>
          </a:prstGeom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3036953" name="직선 연결선 5"/>
          <p:cNvCxnSpPr/>
          <p:nvPr/>
        </p:nvCxnSpPr>
        <p:spPr bwMode="auto">
          <a:xfrm>
            <a:off x="576362" y="3267450"/>
            <a:ext cx="1701799" cy="0"/>
          </a:xfrm>
          <a:prstGeom prst="line">
            <a:avLst/>
          </a:prstGeom>
          <a:ln w="38100">
            <a:solidFill>
              <a:srgbClr val="01248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/>
      </p:transition>
    </mc:Choice>
    <mc:Fallback>
      <p:transition spd="fast" advClick="1">
        <p:random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0206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20941994" name="Object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73445" y="0"/>
            <a:ext cx="7118555" cy="6874587"/>
          </a:xfrm>
          <a:prstGeom prst="rect">
            <a:avLst/>
          </a:prstGeom>
        </p:spPr>
      </p:pic>
      <p:sp>
        <p:nvSpPr>
          <p:cNvPr id="2085412756" name="Group 12"/>
          <p:cNvSpPr txBox="1"/>
          <p:nvPr/>
        </p:nvSpPr>
        <p:spPr bwMode="auto">
          <a:xfrm>
            <a:off x="581970" y="2484917"/>
            <a:ext cx="3305010" cy="823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4800" spc="-150">
                <a:ln w="47625">
                  <a:noFill/>
                </a:ln>
                <a:solidFill>
                  <a:schemeClr val="bg2">
                    <a:lumMod val="90000"/>
                  </a:schemeClr>
                </a:solidFill>
                <a:latin typeface="G마켓 산스 TTF Bold"/>
                <a:ea typeface="G마켓 산스 TTF Bold"/>
                <a:cs typeface="G마켓 산스 TTF Bold"/>
              </a:rPr>
              <a:t>THANKS</a:t>
            </a:r>
            <a:endParaRPr>
              <a:latin typeface="G마켓 산스 TTF Bold"/>
              <a:cs typeface="G마켓 산스 TTF Bold"/>
            </a:endParaRPr>
          </a:p>
        </p:txBody>
      </p:sp>
      <p:sp>
        <p:nvSpPr>
          <p:cNvPr id="1271723534" name="Group 13"/>
          <p:cNvSpPr txBox="1"/>
          <p:nvPr/>
        </p:nvSpPr>
        <p:spPr bwMode="auto">
          <a:xfrm>
            <a:off x="628207" y="3315915"/>
            <a:ext cx="5207229" cy="6770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sz="4800" spc="-150">
                <a:ln w="47625">
                  <a:noFill/>
                </a:ln>
                <a:solidFill>
                  <a:schemeClr val="bg1"/>
                </a:solidFill>
                <a:latin typeface="G마켓 산스 TTF Bold"/>
                <a:ea typeface="G마켓 산스 TTF Bold"/>
                <a:cs typeface="G마켓 산스 TTF Bold"/>
              </a:rPr>
              <a:t>WATCHING</a:t>
            </a:r>
            <a:endParaRPr sz="1600">
              <a:latin typeface="G마켓 산스 TTF Bold"/>
              <a:cs typeface="G마켓 산스 TTF Bold"/>
            </a:endParaRPr>
          </a:p>
        </p:txBody>
      </p:sp>
      <p:sp>
        <p:nvSpPr>
          <p:cNvPr id="1441803672" name="더하기 기호 81"/>
          <p:cNvSpPr/>
          <p:nvPr/>
        </p:nvSpPr>
        <p:spPr bwMode="auto">
          <a:xfrm>
            <a:off x="3679328" y="2468923"/>
            <a:ext cx="373303" cy="391174"/>
          </a:xfrm>
          <a:prstGeom prst="mathPlus">
            <a:avLst>
              <a:gd name="adj1" fmla="val 2352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solidFill>
                <a:srgbClr val="FFFF00"/>
              </a:solidFill>
              <a:latin typeface="원신한 Bold"/>
              <a:ea typeface="원신한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/>
      </p:transition>
    </mc:Choice>
    <mc:Fallback>
      <p:transition spd="fast" advClick="1">
        <p:random/>
      </p:transition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 테마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Group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created xsi:type="dcterms:W3CDTF">2021-08-06T06:35:00Z</dcterms:created>
  <dcterms:modified xsi:type="dcterms:W3CDTF">2026-08-26T13:12:28Z</dcterms:modified>
</cp:coreProperties>
</file>